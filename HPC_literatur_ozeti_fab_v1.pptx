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TÜRKÇE ====================
AÇILIŞ (~30 sn)
• Ben bu sunumda parça sahibi değilim; bu parçaların FEA'sinden sorumlu analist olarak konuşuyorum. Parça sahibi arkadaşlar kendi bölümlerinde detaya girecek. Benim iki sayfamın amacı: "hangi statik parça, neden kritik?" sorusuna ekipçe ortak bir dil kurmak.
• Kaynak: F110 sınıfı bir HPC için tamamen kamuya açık kaynaklardan (USAF AIB kaza raporları, NTSB raporları, FAA AD'leri, ENSIP / JSSG / MIL-STD-3024, Part 33 ve CS-E) hazırlanmış beş literatür çalışması ve bunların çapraz doğrulaması.
• ÖNEMLİ ÇERÇEVE: Bu, bizim motor hakkında bir bulgu DEĞİL. FMECA'ya, kritik parça listesine ve requirement konsolidasyonuna girdi. Ekip yeni kurulduğu ve önceki ekibin çalışmalarına hepimiz aynı ölçüde hâkim olmadığımız için PDR öncesi ortak bir başlangıç noktası öneriyorum.
SOL ÜST – HASAR ZİNCİRİ
• Raporların ortak ana mesajı: HPC statik parçaları nadiren kendi başlarına katastrofik kırılıyor; asıl yaptıkları şey komşu rotor kademesini kırmak.
• "1/rev forcing" = çevresel olarak tek bir noktada akış bozulması. Her blade her turda bir kez bu bozulmadan geçiyor → düşük engine order uyarım → on milyonlarca çevrimde HCF. Osan olayında stage-5 blade'leri yaklaşık 32–35 milyon çevrimde kırılmış.
• Zincirin sonu platforma bağlı: çift motorlu sivil uçakta "tek motorla geri dönüş", tek motorlu fighter'da uçak kaybı.
SOL ALT – TABLO
• Tier'lar bu literatür çalışmasının kamuya açık kanıta dayalı yargısıdır; resmi bir sınıflandırma değildir. Resmi sınıf bizim FMECA'dan çıkacak.
• Tier 1 = Catastrophic sonuç + (güçlü servis kanıtı VEYA zayıf tespit edilebilirlik). Tier 2 = hasar genelde kademeli / tespit edilebilir ama yangın veya ciddi durability riski var. Tier 3 = geri kalan.
• "2→1": rub system normalde Tier 2, ama titanium rotor–stator tutuşması olası ise Tier 1'e çıkıyor. Cut-out / boss / flange'ler case'in sınıfını miras alıyor.
• Son satır: plug'ın kendisi Tier 3, ama inspection access (borescope erişim düzeni) bütün Tier-1 hataların tespit edilebilirliğini belirlediği için kesişen bir tasarım çıktısı.
GÜNDEM MADDELERİ – AÇILIM
1) Kritiklik = sonuç. FAA 33.70 açıkça "rotor and major static structural parts" diyor; AC 33.70-1 yüksek basınçlı casing'leri tipik örnek olarak sayıyor. DoD CSI el kitabında belirleyici olan olasılık değil, sonuç. Yani "statik = düşük risk" varsayımı regülasyonda da sahada da karşılık bulmuyor.
2) Mekanizma. CFM56-7B 2019: VSV No.33'te retention nut ve washer yok, vane ~31° off-schedule → stage-2 disk post'larında çatlak, 8 blade release, titanium fire, case çevresinin ~%60'ında burn-through. Dikkat: NTSB izlerden parçaların bir zaman takılı olduğunu görüyor; overhaul'da unutulma veya eksik tork "muhtemel" deniyor – "hiç takılmamış" demeyelim. P&amp;W verisi: ~20 yılda 6 turned-vane olayı, 3'ü bakım kaynaklı.
3) Üç fighter kaybı. Osan 2012 (F110-GE-100): stage-5 sector'lar yer değiştirmiş, biri 180° ters, blade yoluna ~0.1 in çıkıntı; T.O.'da sadece bir "note" vardı ve borescope port'u o sector'ü göremiyordu. Holloman 2024 (F100-PW-220): stage-5 VSV ~25° açık; kök neden belirlenemedi; stage 5'te borescope port'u yok. JASDF F-2A 2025: VSV lever-arm pin'i connecting link'ten çıkmış; ~3.6 yıl önce yanlış takılmış. Üçünde de parça SAĞLAM ama YANLIŞ. FEA açısından sonuç: parçanın kendi stress margin'i bu hatayı yakalamaz; load case komşu rotorun üzerinde.
4) Tek motor etkisi. Sivilde thrust kaybı tek başına "Minor engine effect" (33.75 / CS-E 510). ENSIP'te sustained flight'ı engelleyen güç kaybı safety-critical. Belgelenmiş örnek: F100 motorunda kritik parça sayısı çift motorlu F-15'te 45, tek motorlu F-16'da 70. NOT: Bizim platform kurulum varsayımını (tek / çift motor) FMECA için netleştirmemiz gerekiyor; bu sayfanın severity mantığı tek motor senaryosuna göre.
5) Case'in üç görevi: pressure vessel, containment, son titanium-fire bariyeri. F-15E 2012'de case ~360° yanmış (başlatan neden belirlenememiş – stall demeyelim). Ti fire bir case'i 10–15 sn'de delebiliyor. ENSIP dersi: faktör 2 ile tasarlanan case'ler burn-through'ya rağmen rupture olmamış; 1.5 ile tasarlananlar katastrofik kırılmış.
6) Çatlak başlangıcı. Bulunan bütün sivil casing-crack AD'lerinde başlangıç boss, port veya flange bolt hole / spotface – düz shell değil (JT9D, PW4000 T3 boss, PW2037 ve V2500 M-flange, CF6-80E1 aft mount flange split line yanı). FEA'ye yansıması: mesh'ten önce feature listesi; split-line ve mount flange'lere ayrı submodel.
RİSKLER – AÇILIM
R1) Off-nominal geometri (turned vane, missing nut, reversed sector, worn-bushing tilt, rigging extremes) design load case olarak tanımlanmazsa bunu engine test'te veya sahada öğreniriz. CS-E 650 "incorrectly scheduled compressor variables", MIL-STD-3024 de flutter sınırlarında mis-rigging'i zaten istiyor.
R2) Montaj hatası + inspection blind spot. ENSIP hedefi: her rotor VE stator stage'i borescope ile incelenebilir olmalı. PDR'da port eklemek ucuz; sonrasında çok pahalı.
R3) VSV bore / bushing korozyon ve aşınması common-mode: CFM56-3'te çift motorda birden loss of thrust control; CF34-8'de FADEC idle-lock; CF34-3B'de 2 can kayıplı çift motor stall. Bizim için karşılığı: kıyı üssü, uzun süreli depolama. Polymer bushing'ler ~316 °C ile sınırlı.
R4) Requirement basis. ENSIP bir handbook – ancak spec'e tailor edilince bağlayıcı. 2.0×MOP (ENSIP) ile sivil 33.64 faktörleri farklı rejimler; ENSIP içinde de 3.1.22 ile Tablo XXI küçük bir tutarsızlık taşıyor. Güncel JSSG-2007 Rev D kısıtlı dağıtımda.
R5) Bilgi sürekliliği. Önceki ekibin yük, ömür ve sınıflandırma varsayımlarını devralmadan yeniden sınıflama yaparsak tutarsızlık ve tekrar iş riski var. Eski ekipten gelen arkadaşların bilgisi burada çok değerli.
GEÇİŞ: "Peki bu, PDR'da analiz ve test planımız için ne anlama geliyor?" → sonraki sayfa.
==================== ENGLISH ====================
OPENING (~30 s)
• I am not a part owner here; I speak as the FEA analyst responsible for the analysis of these parts. The part owners will go into detail in their own sections. My two pages aim to give the team a common language on "which static part is critical, and why".
• Source: five literature studies on an F110-class HPC built purely from public sources (USAF AIB accident reports, NTSB reports, FAA ADs, ENSIP / JSSG / MIL-STD-3024, Part 33 and CS-E), plus a cross-verification of those studies.
• KEY FRAMING: this is NOT a finding about our engine. It is an input to the FMECA, the critical-parts list and the requirement consolidation. Because the team is newly formed and not all of us are equally familiar with the previous team's work, I propose it as a shared starting point before PDR.
TOP LEFT – FAILURE CHAIN
• The common message of the reports: HPC static parts rarely fail catastrophically on their own; what they do is break the adjacent rotor stage.
• "1/rev forcing" = a flow disturbance at one circumferential location. Every blade passes it once per revolution → low-engine-order excitation → HCF within tens of millions of cycles. At Osan the stage-5 blades failed at roughly 32–35 million cycles.
• The end of the chain depends on the installation: a civil twin returns on the other engine; a single-engine fighter is lost.
BOTTOM LEFT – TABLE
• The tiers are this literature study's judgement from public evidence, not a formal classification. The formal class will come from our own FMECA.
• Tier 1 = Catastrophic outcome plus (strong service evidence OR poor detectability). Tier 2 = failure usually progressive / detectable but with fire or major durability hazard. Tier 3 = the remainder.
• "2→1": the rub system is normally Tier 2 but escalates to Tier 1 where titanium rotor–stator ignition is credible. Cut-outs / bosses / flanges inherit the case classification.
• Last row: the plug itself is Tier 3, but the inspection-access layout decides whether every Tier-1 fault is detectable, so it is a cross-cutting design deliverable.
AGENDA BULLETS – ELABORATION
1) Criticality = consequence. FAA 33.70 explicitly says "rotor and major static structural parts"; AC 33.70-1 names high-pressure casings as typical examples. In the DoD CSI handbook consequence, not probability, decides. So "static = low risk" is supported neither by regulation nor by service history.
2) Mechanism. CFM56-7B 2019: retention nut and washer missing on VSV No. 33, vane ~31° off schedule → stage-2 disk-post cracking, 8 blades released, titanium fire, burn-through of ~60% of the case circumference. Caution: NTSB witness marks show the hardware had once been present; omission or under-torque at overhaul was considered "likely" – let's not say "never installed". P&amp;W data: 6 turned-vane events in ~20 years, 3 maintenance-induced.
3) Three fighter losses. Osan 2012 (F110-GE-100): stage-5 sectors swapped, one reversed 180°, protruding ~0.1 in into the blade path; the T.O. carried only a "note" and the borescope port could not see that sector. Holloman 2024 (F100-PW-220): stage-5 VSV ~25° open; root cause undetermined; no borescope port on stage 5. JASDF F-2A 2025: VSV lever-arm pin out of the connecting link; mis-fitted ~3.6 years earlier. In all three the part was INTACT but WRONG. FEA consequence: the part's own stress margin does not catch this; the load case sits on the neighbouring rotor.
4) Single-engine effect. In civil rules thrust loss alone is a "Minor engine effect" (33.75 / CS-E 510). In ENSIP, power loss preventing sustained flight is safety-critical. Documented example: the F100 has 45 critical parts in the twin-engine F-15 and 70 in the single-engine F-16. NOTE: we need to confirm our platform installation assumption (single / twin) for the FMECA; the severity logic on this page assumes the single-engine scenario.
5) Three jobs of the case: pressure vessel, containment, last titanium-fire barrier. On the F-15E 2012 the case burned through nearly 360° (initiating cause undetermined – let's not say stall). A Ti fire can penetrate a case in 10–15 s. ENSIP lesson: cases designed to a factor of 2 tolerated burn-through without rupture; those designed to 1.5 failed catastrophically.
6) Crack origins. Every civil casing-crack AD found starts at a boss, port or flange bolt hole / spotface – never the smooth shell (JT9D, PW4000 T3 boss, PW2037 and V2500 M-flange, CF6-80E1 aft mount flange next to the split line). For FEA: list the features before meshing; dedicated submodels for split-line and mount flanges.
RISKS – ELABORATION
R1) If off-nominal geometry (turned vane, missing nut, reversed sector, worn-bushing tilt, rigging extremes) is not defined as a design load case, we will learn it in engine test or in service. CS-E 650 "incorrectly scheduled compressor variables" and MIL-STD-3024 mis-rigging within flutter boundaries already ask for it.
R2) Assembly error + inspection blind spots. ENSIP goal: every rotor AND stator stage borescope-inspectable. Adding a port at PDR is cheap; later it is very expensive.
R3) VSV bore / bushing corrosion and wear is common-mode: dual-engine loss of thrust control on CFM56-3; FADEC idle-lock on CF34-8; a fatal dual-engine stall on CF34-3B. Our equivalents: coastal basing and long storage. Polymer bushings are limited to ~316 °C.
R4) Requirement basis. ENSIP is a handbook – binding only once tailored into the spec. 2.0×MOP (ENSIP) and the civil 33.64 factors are different regimes; ENSIP itself has a small inconsistency between 3.1.22 and Table XXI. The current JSSG-2007 Rev D is restricted distribution.
R5) Knowledge continuity. If we re-classify without inheriting the previous team's load, life and classification assumptions, we risk inconsistency and rework. The knowledge of colleagues from the former team is very valuable here.
TRANSITION: "So what does this mean for our analysis and test plan at PDR?" → next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TÜRKÇE ====================
AÇILIŞ (~20 sn)
• İlk sayfa "neden kritik" idi; bu sayfa "PDR'da ne yapmalıyız". Sol taraf FEA tarafının üstleneceği iş paketleri ve karşılığında gereken test / korelasyon; sağ taraf yönetimden ve ekipten beklediğim kararlar ve açık konular.
SOL ÜST – KANIT ZİNCİRİ
• Hem ENSIP hem FAA pratiği kademeli bir kanıt zinciri öneriyor: analiz → coupon / element → component rig → module / engine test → teardown → model korelasyonu.
• Fikir: fizik kaynaklı belirsizliği (case yük transferi, VSV sürtünme / aşınma, stator modal davranış, rub) engine test'ten ÖNCE rig'de kapatmak. Çünkü engine test'te statik parçalar için enstrümantasyon zayıf, neden–sonuç ayrımı belirsiz.
• "Teardown &amp; korelasyon" kutusu: motorun testi tamamlaması yeterlilik değildir; önceden tanımlı kabul limitleri (çatlak, aşınma, rub izi, kalıcı distorsiyon, backlash) ve model korelasyonu gerekir.
SOL ALT – TABLO (satır satır; "FEA / ANALİZ" sütunu bizim iş yükümüz)
• HPC case: en az üç ayrı argüman – (1) basınç + dış yük dayanımı, (2) çevrimsel ömür + damage tolerance, (3) containment / fire / clearance. Tek bir iyi statik analiz üçünü kapatmaz. MOP tanımı control-failure ve düşük irtifa / yüksek Mach köşesini içermeli. ENSIP her üretim case'ine 1.33–1.50×MOP proof test öneriyor – bu bir program maliyet kalemi.
• VSV retention &amp; linkage: buradaki kritik FEA çıktısı lever arm'daki stress değil, DOWNSTREAM ROTORUN forced response'u. Bu, bizim alt bölümün dışındaki rotor / aeromekanik ekiple arayüz demek – sahibini PDR'da netleştirmeliyiz. Lever arm'da buckling ve fatigue zıt yönde kalınlık istiyor; tek kalınlık ikisini birden sağlamıyor (patent literatürü).
• Fixed stator sector: iki ayrı soru – (a) sector doğru yerde ve yönde kalıyor mu, (b) uyarıma dayanıyor mu. Damping bir TASARIM özelliğidir: ENSIP, kalifikasyon sonrası yapılan imalat değişikliğinin damping'i düşürüp sahada stator rezonans kırılmasına yol açtığını kaydediyor → change control.
• VSV actuation &amp; FADEC: ağırlıklı olarak kontrol ekibinin konusu; ama yapısal girdiler bizden: end-of-life sürtünmeyle actuator force margin ve kontrolün case basınç limitini koruması. Tek motorlu kurulumda arıza modu "idle-lock" olmamalı (CF34-8 dersi).
• Vane airfoils: ENSIP HCF kriterleri – stage başına P &lt; 1e-7 / EFH, RMS titreşim gerilmesi ≤ min endurance'ın %40'ı, 1e9 çevrim. Campbell diyagramı olası etkileşimi gösterir, yorulma yeterliliğini tek başına kanıtlamaz.
• Rub system: F135 2014 dersi – manevra altında seal rub, beklenen ~1,000 °F yerine ~1,900 °F → titanium rotor çatlağı. 516C: 3.5 rad/s 15 sn (1 g ile) ve 1.4 rad/s 1e7 çevrim gyroscopic yük.
ÖNERİLER &amp; KARAR TALEPLERİ – AÇILIM
1) FMECA'da platform severity. Sınıflandırma aile bazında değil, parça / feature bazında; controls &amp; accessories dahil. Her büyük test fazından sonra listeyi güncelleyelim.
2) Off-nominal case listesi bir REQUIREMENT olsun ve analiz → rig → engine test boyunca taşınsın. Bir sahibi olmalı – önerim parça sahipleri + FEA birlikte.
3) Pressure-vessel kriteri. FEA iki rejimi de koşabilir; ama margin felsefesi duvar kalınlığını ve ağırlığı değiştirir → PDR seviyesinde, airworthiness otoritesiyle birlikte verilecek karar.
4) Error-proofing &amp; inspectability: non-reversible / position-coded sector, pozitif retention doğrulama (seating gauge, thread-protrusion, ikinci kişi tork kontrolü), kayıtlı vane pozisyonları, her stage'e borescope erişimi. Bunlar bakım düzeltmesi değil, tasarım gereksinimi.
5) Ti-fire kararı: zone bazında case malzemesi (Ti combustion olası bölgede steel / nickel), komşu rotor ve statorda birlikte titanium olmaması, fault deflection'ı karşılayan abradable derinliği. Geç verilirse malzeme / ağırlık / tedarik etkisi büyür.
6) Enstrümantasyon: case strain gauge + thermocouple, clearance probe, dynamic wall pressure, vane strain gauge, stage bazında VSV açı ölçümü, surge event kaydı. FE model korelasyonumuz buna bağlı; enstrümantasyon slotları erken kilitleniyor.
• FEA'nin ihtiyaç listesi: mission / load spectrum, thermal map, MOP tanımı, min-property malzeme verisi ve önceki ekibin analiz raporları.
AÇIK KONULAR – AÇILIM
• Kaynaklar kamuya açık; F110'un BOM'u, malzemeleri ve limitleri public değil. Dersler MEKANİZMA seviyesinde taşınır; başka motorun sayısal limitleri bize taşınamaz.
• Güncel JSSG-2007 Rev D ve MIL-STD-3024 Chg 2 kısıtlı dağıtımda; CS-E Amdt 8 tam metin teyidi açık. Soru: şirkette bu dokümanlara kimin erişimi var?
• Doğrulama denetiminde, kaynak raporlardan birindeki bazı "evrensel" sayılar birincil kaynakta bulunamadı (evrensel 1.5× proof / 2.0–2.5× FAA burst, her parçaya 2–4 tasarım ömrü test, ±0.5° VSV toleransı, 450 °C Ti tutuşma eşiği). Bu sayıları başka yerde görürsek kaynağını soralım. Not: ENSIP'in 2.0×MOP'u gerçek ve doğrulanmış – reddedilen, bunun "FAA faktörü" diye sunulmasıydı.
• Önceki ekibin varsayımları ile bu çerçeveyi eşleştirmek için kısa bir çalışma öneriyorum.
KAPANIŞ
• Detay raporlar ve matris çalışma kitabı (32 parça / feature, 33 yöntem paketi, 16 açık aksiyon) paylaşıma hazır. İsteyen parça sahibiyle parça bazında ayrıca oturabilirim. Referanslar bir sonraki sayfada; köşeli parantezli numaralar tıklanabilir.
==================== ENGLISH ====================
OPENING (~20 s)
• Page one was "why critical"; this page is "what should we do at PDR". Left: the work packages the FEA side will carry and the test / correlation they need in return. Right: the decisions I am asking from management and the team, and the open items.
TOP LEFT – EVIDENCE CHAIN
• Both ENSIP and FAA practice recommend a progressive evidence chain: analysis → coupon / element → component rig → module / engine test → teardown → model correlation.
• The idea: retire physics-specific uncertainty (case load transfer, VSV friction / wear, stator modal behaviour, rub) on rigs BEFORE the engine test, because on an engine test static parts are poorly instrumented and attribution is ambiguous.
• "Teardown &amp; correlation" box: an engine that completes the run is not qualification; we need pre-defined acceptance limits (cracks, wear, rub marks, permanent distortion, backlash) and model correlation.
BOTTOM LEFT – TABLE (row by row; the "FEA / ANALYSIS" column is our workload)
• HPC case: at least three separate arguments – (1) pressure + external-load strength, (2) cyclic life + damage tolerance, (3) containment / fire / clearance. One good static analysis does not close all three. The MOP definition must include control-failure and the low-altitude / high-Mach corner. ENSIP recommends a 1.33–1.50×MOP proof test on every production case – a programme cost item.
• VSV retention &amp; linkage: the critical FEA output here is not the stress in the lever arm, it is the forced response of the DOWNSTREAM ROTOR. That is an interface with the rotor / aeromechanics team outside our subsection – we should settle its ownership at PDR. In the lever arm, buckling and fatigue pull the thickness in opposite directions; no single thickness satisfies both (patent literature).
• Fixed stator sector: two separate questions – (a) does the sector stay in the right place and orientation, (b) does it survive the excitation. Damping is a DESIGN attribute: ENSIP records that a post-qualification manufacturing change reduced damping and led to stator resonant failures in service → change control.
• VSV actuation &amp; FADEC: mostly the controls team's topic, but the structural inputs are ours: actuator force margin against end-of-life friction, and the control protecting the case pressure limit. In a single-engine installation the fault mode must not be an "idle-lock" (CF34-8 lesson).
• Vane airfoils: ENSIP HCF criteria – P &lt; 1e-7 / EFH per stage, RMS vibratory stress ≤ 40% of minimum endurance, 1e9 cycles. A Campbell diagram shows possible interactions; it does not prove fatigue adequacy by itself.
• Rub system: F135 2014 lesson – seal rub under manoeuvre, ~1,900 °F instead of the ~1,000 °F expected → titanium rotor crack. 516C: 3.5 rad/s for 15 s (with 1 g) and 1.4 rad/s for 1e7 cycles gyroscopic loading.
RECOMMENDATIONS &amp; DECISION REQUESTS – ELABORATION
1) Platform severity in the FMECA. Classify per part / feature, not per family; include controls and accessories. Re-run the list after every major test phase.
2) Make the off-nominal case list a REQUIREMENT and carry it through analysis → rig → engine test. It needs an owner – I suggest part owners + FEA jointly.
3) Pressure-vessel criterion. FEA can run both regimes, but the margin philosophy changes wall thickness and weight → a PDR-level decision to be taken together with the airworthiness authority.
4) Error-proofing &amp; inspectability: non-reversible / position-coded sectors, positive retention verification (seating gauge, thread protrusion, second-person torque check), recorded vane positions, borescope access to every stage. These are design requirements, not maintenance fixes.
5) Ti-fire decision: case material by zone (steel / nickel where Ti combustion is credible), no titanium on adjacent rotor and stator, abradable depth covering fault deflections. The later it is taken, the larger the material / weight / supply-chain impact.
6) Instrumentation: case strain gauges + thermocouples, clearance probes, dynamic wall pressure, vane strain gauges, per-stage VSV angle measurement, surge-event recording. Our FE model correlation depends on it, and instrumentation slots get locked early.
• FEA's needs list: mission / load spectrum, thermal maps, MOP definition, minimum-property material data and the previous team's analysis reports.
OPEN ITEMS – ELABORATION
• Sources are public; the F110 BOM, materials and limits are not. Lessons transfer at MECHANISM level; another engine's numerical limits cannot be transplanted to ours.
• The current JSSG-2007 Rev D and MIL-STD-3024 Chg 2 are restricted distribution; full-text confirmation of CS-E Amdt 8 is open. Question: who in the company has access to these documents?
• In the verification audit, some "universal" numbers in one of the source reports could not be found in primary sources (universal 1.5× proof / 2.0–2.5× FAA burst, 2–4 design lives of test for every part, ±0.5° VSV tolerance, 450 °C Ti ignition threshold). If we see them elsewhere, let's ask for the source. Note: the ENSIP 2.0×MOP is real and verified – what was rejected was presenting it as an "FAA factor".
• I propose a short exercise to map the previous team's assumptions onto this framework.
CLOSING
• The detailed reports and the matrix workbook (32 parts / features, 33 method packages, 16 open actions) are ready to share. I am happy to sit down part-by-part with any part owner. References are on the next page; the bracketed numbers are clickable.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TÜRKÇE ====================
• Bu sayfa sunum sırasında anlatılmak için değil, başvuru için. Slaytlardaki köşeli parantezli numaralar [n] bu listedeki kaynaklara karşılık geliyor; hem slayttaki etiketler hem buradaki başlıklar tıklanabilir (slideshow modunda veya Ctrl+tık).
• Kaynak hiyerarşisi: A = standart ve regülasyon (birincil), B = kaza / servis olayları (çoğu birincil: USAF AIB, NTSB, FAA AD), C = teknik literatür ve doküman durumu.
• Bilinmesi gereken kısıtlar:
  – USAF AIB raporları üçüncü taraf bir sitede (Air &amp; Space Forces) barındırılan birincil raporlar.
  – [21] PW1500G/PW1900G bir NPRM, yani öneri aşamasında; nihai AD değil.
  – [15] Japonya Savunma Bakanlığı özeti motor modelini adıyla anmıyor; F-2A'nın motoru F110-IHI-129.
  – [2] JSSG-2007A tarihsel sürüm; güncel Rev D kısıtlı dağıtımda [27]. [11] CS-E bağlantısı Amdt 4 Easy Access; güncel sürüm Amdt 8 [28] – resmi işte güncel metin teyit edilmeli.
  – everyspec bağlantıları kamuya açık kopyalar; resmi uyum çalışmasında şirketin kontrollü doküman kopyaları kullanılmalı.
• Alt kutudaki beş çalışma iç literatür raporlarımız; tam kaynakçaları (60+ kaynak) bu raporların içinde. Talep edene iletebilirim.
==================== ENGLISH ====================
• This page is for reference, not for presenting. The bracketed numbers [n] on the slides map to this list; both the tags on the slides and the titles here are clickable (in slideshow mode or Ctrl+click).
• Source hierarchy: A = standards and regulation (primary), B = accident / service events (mostly primary: USAF AIB, NTSB, FAA AD), C = technical literature and document status.
• Caveats worth knowing:
  – The USAF AIB reports are primary reports hosted on a third-party site (Air &amp; Space Forces).
  – [21] PW1500G/PW1900G is an NPRM, i.e. still a proposal, not a final AD.
  – [15] The Japan MoD summary does not name the engine model; the F-2A's engine is the F110-IHI-129.
  – [2] JSSG-2007A is a historical edition; the current Rev D is restricted distribution [27]. The [11] CS-E link is the Amdt 4 Easy Access edition; the current edition is Amdt 8 [28] – confirm the current text for formal work.
  – The everyspec links are public copies; for formal compliance work use the company's controlled document copies.
• The five studies in the bottom box are our internal literature reports; their full bibliographies (60+ sources) are inside them. I can forward them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airandspaceforces.com/app/uploads/2025/02/1.-30Apr2024-AETC-F-16-Holloman-AIB-Report-final.pdf" TargetMode="External"/><Relationship Id="rId2" Type="http://schemas.openxmlformats.org/officeDocument/2006/relationships/hyperlink" Target="https://www.mod.go.jp/asdf/news/20260424.pdf" TargetMode="External"/><Relationship Id="rId3" Type="http://schemas.openxmlformats.org/officeDocument/2006/relationships/hyperlink" Target="https://data.ntsb.gov/carol-repgen/api/Aviation/ReportMain/GenerateNewestReport/99006/pdf" TargetMode="External"/><Relationship Id="rId4" Type="http://schemas.openxmlformats.org/officeDocument/2006/relationships/hyperlink" Target="https://www.govinfo.gov/content/pkg/FR-2026-09-17/html/2026-19094.htm" TargetMode="External"/><Relationship Id="rId5" Type="http://schemas.openxmlformats.org/officeDocument/2006/relationships/hyperlink" Target="https://www.ecfr.gov/current/title-14/section-33.70" TargetMode="External"/><Relationship Id="rId6" Type="http://schemas.openxmlformats.org/officeDocument/2006/relationships/hyperlink" Target="https://data.ntsb.gov/Docket/Document/docBLOB?ID=40482474&amp;FileExtension=.PDF&amp;FileName=Powerplants%20Group%20Chairman%27s%20Factual%20Report-Master.PDF" TargetMode="External"/><Relationship Id="rId7" Type="http://schemas.openxmlformats.org/officeDocument/2006/relationships/hyperlink" Target="https://www.airandspaceforces.com/PDF/AircraftAccidentReports/Documents/2012/050312_F-15E_SWA_full.pdf" TargetMode="External"/><Relationship Id="rId8" Type="http://schemas.openxmlformats.org/officeDocument/2006/relationships/hyperlink" Target="https://www.airandspaceforces.com/PDF/AircraftAccidentReports/Documents/2012/032112_F-16CM_Osan.pdf" TargetMode="External"/><Relationship Id="rId9" Type="http://schemas.openxmlformats.org/officeDocument/2006/relationships/hyperlink" Target="https://www.federalregister.gov/documents/2017/07/14/2017-14545/airworthiness-directives-cfm-international-sa-turbofan-engines" TargetMode="External"/><Relationship Id="rId10" Type="http://schemas.openxmlformats.org/officeDocument/2006/relationships/hyperlink" Target="https://www.govinfo.gov/content/pkg/FR-2022-04-14/html/2022-08037.htm" TargetMode="External"/><Relationship Id="rId11" Type="http://schemas.openxmlformats.org/officeDocument/2006/relationships/hyperlink" Target="https://data.ntsb.gov/carol-repgen/api/Aviation/ReportMain/GenerateNewestReport/193769/pdf" TargetMode="External"/><Relationship Id="rId12" Type="http://schemas.openxmlformats.org/officeDocument/2006/relationships/hyperlink" Target="https://everyspec.com/MIL-HDBK/MIL-HDBK-1500-1799/MIL-HDBK-1783B_CHG-2_26101/" TargetMode="External"/><Relationship Id="rId13" Type="http://schemas.openxmlformats.org/officeDocument/2006/relationships/hyperlink" Target="https://archive.org/stream/DTIC_ADA423347/DTIC_ADA423347_djvu.txt" TargetMode="External"/><Relationship Id="rId14" Type="http://schemas.openxmlformats.org/officeDocument/2006/relationships/hyperlink" Target="https://www.govinfo.gov/content/pkg/GOVPUB-TD4-PURL-LPS106290/pdf/GOVPUB-TD4-PURL-LPS106290.pdf" TargetMode="External"/><Relationship Id="rId15" Type="http://schemas.openxmlformats.org/officeDocument/2006/relationships/hyperlink" Target="https://news.usni.org/wp-content/uploads/2015/06/F35-AIB-Final-Report-17-Mar-15.pdf" TargetMode="External"/><Relationship Id="rId16" Type="http://schemas.openxmlformats.org/officeDocument/2006/relationships/hyperlink" Target="https://govinfo.gov/content/pkg/FR-2005-11-09/html/05-22207.htm" TargetMode="External"/><Relationship Id="rId17" Type="http://schemas.openxmlformats.org/officeDocument/2006/relationships/hyperlink" Target="https://data.ntsb.gov/carol-repgen/api/Aviation/ReportMain/GenerateFactualReport/82022/pdf" TargetMode="External"/><Relationship Id="rId18" Type="http://schemas.openxmlformats.org/officeDocument/2006/relationships/hyperlink" Target="https://everyspec.com/MIL-HDBK/MIL-HDBK-1500-1799/MIL-HDBK-1783B_CHG-2_26101/" TargetMode="External"/><Relationship Id="rId19" Type="http://schemas.openxmlformats.org/officeDocument/2006/relationships/hyperlink" Target="https://www.airandspaceforces.com/PDF/AircraftAccidentReports/Documents/2012/032112_F-16CM_Osan.pdf" TargetMode="External"/><Relationship Id="rId20" Type="http://schemas.openxmlformats.org/officeDocument/2006/relationships/hyperlink" Target="https://www.airandspaceforces.com/app/uploads/2025/02/1.-30Apr2024-AETC-F-16-Holloman-AIB-Report-final.pdf" TargetMode="External"/><Relationship Id="rId21" Type="http://schemas.openxmlformats.org/officeDocument/2006/relationships/hyperlink" Target="https://everyspec.com/MIL-HDBK/MIL-HDBK-1500-1799/MIL-HDBK-1783B_CHG-2_26101/" TargetMode="External"/><Relationship Id="rId22" Type="http://schemas.openxmlformats.org/officeDocument/2006/relationships/hyperlink" Target="http://everyspec.com/USN/NAVAIR/JALC_AVIATION_CSI_MGMT_HDBK_16MAR2011_42734/" TargetMode="External"/><Relationship Id="rId23" Type="http://schemas.openxmlformats.org/officeDocument/2006/relationships/hyperlink" Target="https://www.ecfr.gov/current/title-14/section-33.70" TargetMode="External"/><Relationship Id="rId24" Type="http://schemas.openxmlformats.org/officeDocument/2006/relationships/hyperlink" Target="https://www.airandspaceforces.com/PDF/AircraftAccidentReports/Documents/2012/032112_F-16CM_Osan.pdf" TargetMode="External"/><Relationship Id="rId25" Type="http://schemas.openxmlformats.org/officeDocument/2006/relationships/hyperlink" Target="https://www.airandspaceforces.com/app/uploads/2025/02/1.-30Apr2024-AETC-F-16-Holloman-AIB-Report-final.pdf" TargetMode="External"/><Relationship Id="rId26" Type="http://schemas.openxmlformats.org/officeDocument/2006/relationships/hyperlink" Target="https://data.ntsb.gov/carol-repgen/api/Aviation/ReportMain/GenerateNewestReport/99006/pdf" TargetMode="External"/><Relationship Id="rId27" Type="http://schemas.openxmlformats.org/officeDocument/2006/relationships/hyperlink" Target="https://www.airandspaceforces.com/PDF/AircraftAccidentReports/Documents/2012/032112_F-16CM_Osan.pdf" TargetMode="External"/><Relationship Id="rId28" Type="http://schemas.openxmlformats.org/officeDocument/2006/relationships/hyperlink" Target="https://www.airandspaceforces.com/app/uploads/2025/02/1.-30Apr2024-AETC-F-16-Holloman-AIB-Report-final.pdf" TargetMode="External"/><Relationship Id="rId29" Type="http://schemas.openxmlformats.org/officeDocument/2006/relationships/hyperlink" Target="https://www.mod.go.jp/asdf/news/20260424.pdf" TargetMode="External"/><Relationship Id="rId30" Type="http://schemas.openxmlformats.org/officeDocument/2006/relationships/hyperlink" Target="https://everyspec.com/MIL-HDBK/MIL-HDBK-1500-1799/MIL-HDBK-1783B_CHG-2_26101/" TargetMode="External"/><Relationship Id="rId31" Type="http://schemas.openxmlformats.org/officeDocument/2006/relationships/hyperlink" Target="https://www.ecfr.gov/current/title-14/section-33.75" TargetMode="External"/><Relationship Id="rId32" Type="http://schemas.openxmlformats.org/officeDocument/2006/relationships/hyperlink" Target="https://data.ntsb.gov/Docket/Document/docBLOB?ID=40482474&amp;FileExtension=.PDF&amp;FileName=Powerplants%20Group%20Chairman%27s%20Factual%20Report-Master.PDF" TargetMode="External"/><Relationship Id="rId33" Type="http://schemas.openxmlformats.org/officeDocument/2006/relationships/hyperlink" Target="https://www.airandspaceforces.com/PDF/AircraftAccidentReports/Documents/2012/050312_F-15E_SWA_full.pdf" TargetMode="External"/><Relationship Id="rId34" Type="http://schemas.openxmlformats.org/officeDocument/2006/relationships/hyperlink" Target="https://govinfo.gov/content/pkg/FR-2005-11-09/html/05-22207.htm" TargetMode="External"/><Relationship Id="rId35" Type="http://schemas.openxmlformats.org/officeDocument/2006/relationships/hyperlink" Target="https://data.ntsb.gov/carol-repgen/api/Aviation/ReportMain/GenerateFactualReport/82022/pdf" TargetMode="External"/><Relationship Id="rId36" Type="http://schemas.openxmlformats.org/officeDocument/2006/relationships/hyperlink" Target="http://everyspec.com/MIL-STD/MIL-STD-3000-9999/MIL-STD-3024_6876/" TargetMode="External"/><Relationship Id="rId37" Type="http://schemas.openxmlformats.org/officeDocument/2006/relationships/hyperlink" Target="https://www.easa.europa.eu/sites/default/files/dfu/Easy%20Access%20Rules%20CS-E%20(Amendment%204).pdf" TargetMode="External"/><Relationship Id="rId38" Type="http://schemas.openxmlformats.org/officeDocument/2006/relationships/hyperlink" Target="https://www.airandspaceforces.com/PDF/AircraftAccidentReports/Documents/2012/032112_F-16CM_Osan.pdf" TargetMode="External"/><Relationship Id="rId39" Type="http://schemas.openxmlformats.org/officeDocument/2006/relationships/hyperlink" Target="https://www.airandspaceforces.com/app/uploads/2025/02/1.-30Apr2024-AETC-F-16-Holloman-AIB-Report-final.pdf" TargetMode="External"/><Relationship Id="rId40" Type="http://schemas.openxmlformats.org/officeDocument/2006/relationships/hyperlink" Target="https://www.federalregister.gov/documents/2017/07/14/2017-14545/airworthiness-directives-cfm-international-sa-turbofan-engines" TargetMode="External"/><Relationship Id="rId41" Type="http://schemas.openxmlformats.org/officeDocument/2006/relationships/hyperlink" Target="https://www.govinfo.gov/content/pkg/FR-2022-04-14/html/2022-08037.htm" TargetMode="External"/><Relationship Id="rId42" Type="http://schemas.openxmlformats.org/officeDocument/2006/relationships/hyperlink" Target="https://data.ntsb.gov/carol-repgen/api/Aviation/ReportMain/GenerateNewestReport/193769/pdf" TargetMode="External"/><Relationship Id="rId43" Type="http://schemas.openxmlformats.org/officeDocument/2006/relationships/hyperlink" Target="https://everyspec.com/MIL-HDBK/MIL-HDBK-1500-1799/MIL-HDBK-1783B_CHG-2_26101/" TargetMode="External"/><Relationship Id="rId44" Type="http://schemas.openxmlformats.org/officeDocument/2006/relationships/hyperlink" Target="https://www.ecfr.gov/current/title-14/section-33.64" TargetMode="External"/><Relationship Id="rId45" Type="http://schemas.openxmlformats.org/officeDocument/2006/relationships/hyperlink" Target="https://quicksearch.dla.mil/qsDocDetails.aspx?ident_number=204837" TargetMode="External"/><Relationship Id="rId46" Type="http://schemas.openxmlformats.org/officeDocument/2006/relationships/slideLayout" Target="../slideLayouts/slideLayout1.xml"/><Relationship Id="rId4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everyspec.com/MIL-HDBK/MIL-HDBK-1500-1799/MIL-HDBK-1783B_CHG-2_26101/" TargetMode="External"/><Relationship Id="rId2" Type="http://schemas.openxmlformats.org/officeDocument/2006/relationships/hyperlink" Target="https://www.ecfr.gov/current/title-14/section-33.64" TargetMode="External"/><Relationship Id="rId3" Type="http://schemas.openxmlformats.org/officeDocument/2006/relationships/hyperlink" Target="http://everyspec.com/MIL-STD/MIL-STD-3000-9999/MIL-STD-3024_6876/" TargetMode="External"/><Relationship Id="rId4" Type="http://schemas.openxmlformats.org/officeDocument/2006/relationships/hyperlink" Target="https://www.ecfr.gov/current/title-14/section-33.83" TargetMode="External"/><Relationship Id="rId5" Type="http://schemas.openxmlformats.org/officeDocument/2006/relationships/hyperlink" Target="https://everyspec.com/MIL-HDBK/MIL-HDBK-1500-1799/MIL-HDBK-1783B_CHG-2_26101/" TargetMode="External"/><Relationship Id="rId6" Type="http://schemas.openxmlformats.org/officeDocument/2006/relationships/hyperlink" Target="https://www.airandspaceforces.com/PDF/AircraftAccidentReports/Documents/2012/032112_F-16CM_Osan.pdf" TargetMode="External"/><Relationship Id="rId7" Type="http://schemas.openxmlformats.org/officeDocument/2006/relationships/hyperlink" Target="https://everyspec.com/USAF/USAF-General/JSSG-2007A_12946/" TargetMode="External"/><Relationship Id="rId8" Type="http://schemas.openxmlformats.org/officeDocument/2006/relationships/hyperlink" Target="https://everyspec.com/MIL-HDBK/MIL-HDBK-0500-0599/" TargetMode="External"/><Relationship Id="rId9" Type="http://schemas.openxmlformats.org/officeDocument/2006/relationships/hyperlink" Target="https://everyspec.com/MIL-HDBK/MIL-HDBK-1500-1799/MIL-HDBK-1783B_CHG-2_26101/" TargetMode="External"/><Relationship Id="rId10" Type="http://schemas.openxmlformats.org/officeDocument/2006/relationships/hyperlink" Target="https://everyspec.com/MIL-HDBK/MIL-HDBK-0500-0599/" TargetMode="External"/><Relationship Id="rId11" Type="http://schemas.openxmlformats.org/officeDocument/2006/relationships/hyperlink" Target="https://news.usni.org/wp-content/uploads/2015/06/F35-AIB-Final-Report-17-Mar-15.pdf" TargetMode="External"/><Relationship Id="rId12" Type="http://schemas.openxmlformats.org/officeDocument/2006/relationships/hyperlink" Target="https://everyspec.com/MIL-HDBK/MIL-HDBK-1500-1799/MIL-HDBK-1783B_CHG-2_26101/" TargetMode="External"/><Relationship Id="rId13" Type="http://schemas.openxmlformats.org/officeDocument/2006/relationships/hyperlink" Target="http://everyspec.com/MIL-STD/MIL-STD-3000-9999/MIL-STD-3024_6876/" TargetMode="External"/><Relationship Id="rId14" Type="http://schemas.openxmlformats.org/officeDocument/2006/relationships/hyperlink" Target="https://www.ecfr.gov/current/title-14/section-33.83" TargetMode="External"/><Relationship Id="rId15" Type="http://schemas.openxmlformats.org/officeDocument/2006/relationships/hyperlink" Target="https://www.easa.europa.eu/sites/default/files/dfu/Easy%20Access%20Rules%20CS-E%20(Amendment%204).pdf" TargetMode="External"/><Relationship Id="rId16" Type="http://schemas.openxmlformats.org/officeDocument/2006/relationships/hyperlink" Target="https://everyspec.com/MIL-HDBK/MIL-HDBK-1500-1799/MIL-HDBK-1783B_CHG-2_26101/" TargetMode="External"/><Relationship Id="rId17" Type="http://schemas.openxmlformats.org/officeDocument/2006/relationships/hyperlink" Target="https://www.ecfr.gov/current/title-14/section-33.64" TargetMode="External"/><Relationship Id="rId18" Type="http://schemas.openxmlformats.org/officeDocument/2006/relationships/hyperlink" Target="https://www.airandspaceforces.com/PDF/AircraftAccidentReports/Documents/2012/032112_F-16CM_Osan.pdf" TargetMode="External"/><Relationship Id="rId19" Type="http://schemas.openxmlformats.org/officeDocument/2006/relationships/hyperlink" Target="https://www.airandspaceforces.com/app/uploads/2025/02/1.-30Apr2024-AETC-F-16-Holloman-AIB-Report-final.pdf" TargetMode="External"/><Relationship Id="rId20" Type="http://schemas.openxmlformats.org/officeDocument/2006/relationships/hyperlink" Target="https://www.easa.europa.eu/sites/default/files/dfu/Easy%20Access%20Rules%20CS-E%20(Amendment%204).pdf" TargetMode="External"/><Relationship Id="rId21" Type="http://schemas.openxmlformats.org/officeDocument/2006/relationships/hyperlink" Target="https://www.govinfo.gov/content/pkg/GOVPUB-TD4-PURL-LPS106290/pdf/GOVPUB-TD4-PURL-LPS106290.pdf" TargetMode="External"/><Relationship Id="rId22" Type="http://schemas.openxmlformats.org/officeDocument/2006/relationships/hyperlink" Target="https://everyspec.com/MIL-HDBK/MIL-HDBK-1500-1799/MIL-HDBK-1783B_CHG-2_26101/" TargetMode="External"/><Relationship Id="rId23" Type="http://schemas.openxmlformats.org/officeDocument/2006/relationships/hyperlink" Target="https://quicksearch.dla.mil/qsDocDetails.aspx?ident_number=204837" TargetMode="External"/><Relationship Id="rId24" Type="http://schemas.openxmlformats.org/officeDocument/2006/relationships/hyperlink" Target="https://www.easa.europa.eu/en/document-library/certification-specifications/cs-e-amendment-8" TargetMode="External"/><Relationship Id="rId25" Type="http://schemas.openxmlformats.org/officeDocument/2006/relationships/slideLayout" Target="../slideLayouts/slideLayout1.xml"/><Relationship Id="rId2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everyspec.com/MIL-HDBK/MIL-HDBK-1500-1799/MIL-HDBK-1783B_CHG-2_26101/" TargetMode="External"/><Relationship Id="rId2" Type="http://schemas.openxmlformats.org/officeDocument/2006/relationships/hyperlink" Target="https://everyspec.com/USAF/USAF-General/JSSG-2007A_12946/" TargetMode="External"/><Relationship Id="rId3" Type="http://schemas.openxmlformats.org/officeDocument/2006/relationships/hyperlink" Target="http://everyspec.com/MIL-STD/MIL-STD-3000-9999/MIL-STD-3024_6876/" TargetMode="External"/><Relationship Id="rId4" Type="http://schemas.openxmlformats.org/officeDocument/2006/relationships/hyperlink" Target="https://everyspec.com/MIL-HDBK/MIL-HDBK-0500-0599/" TargetMode="External"/><Relationship Id="rId5" Type="http://schemas.openxmlformats.org/officeDocument/2006/relationships/hyperlink" Target="http://everyspec.com/USN/NAVAIR/JALC_AVIATION_CSI_MGMT_HDBK_16MAR2011_42734/" TargetMode="External"/><Relationship Id="rId6" Type="http://schemas.openxmlformats.org/officeDocument/2006/relationships/hyperlink" Target="https://www.ecfr.gov/current/title-14/section-33.64" TargetMode="External"/><Relationship Id="rId7" Type="http://schemas.openxmlformats.org/officeDocument/2006/relationships/hyperlink" Target="https://www.ecfr.gov/current/title-14/section-33.70" TargetMode="External"/><Relationship Id="rId8" Type="http://schemas.openxmlformats.org/officeDocument/2006/relationships/hyperlink" Target="https://www.faa.gov/documentLibrary/media/Advisory_Circular/AC_33_70-1.pdf" TargetMode="External"/><Relationship Id="rId9" Type="http://schemas.openxmlformats.org/officeDocument/2006/relationships/hyperlink" Target="https://www.ecfr.gov/current/title-14/section-33.75" TargetMode="External"/><Relationship Id="rId10" Type="http://schemas.openxmlformats.org/officeDocument/2006/relationships/hyperlink" Target="https://www.ecfr.gov/current/title-14/section-33.83" TargetMode="External"/><Relationship Id="rId11" Type="http://schemas.openxmlformats.org/officeDocument/2006/relationships/hyperlink" Target="https://www.easa.europa.eu/sites/default/files/dfu/Easy%20Access%20Rules%20CS-E%20(Amendment%204).pdf" TargetMode="External"/><Relationship Id="rId12" Type="http://schemas.openxmlformats.org/officeDocument/2006/relationships/hyperlink" Target="https://www.govinfo.gov/content/pkg/GOVPUB-TD4-PURL-LPS106290/pdf/GOVPUB-TD4-PURL-LPS106290.pdf" TargetMode="External"/><Relationship Id="rId13" Type="http://schemas.openxmlformats.org/officeDocument/2006/relationships/hyperlink" Target="https://archive.org/stream/DTIC_ADA423347/DTIC_ADA423347_djvu.txt" TargetMode="External"/><Relationship Id="rId14" Type="http://schemas.openxmlformats.org/officeDocument/2006/relationships/hyperlink" Target="https://quicksearch.dla.mil/qsDocDetails.aspx?ident_number=204837" TargetMode="External"/><Relationship Id="rId15" Type="http://schemas.openxmlformats.org/officeDocument/2006/relationships/hyperlink" Target="https://www.easa.europa.eu/en/document-library/certification-specifications/cs-e-amendment-8" TargetMode="External"/><Relationship Id="rId16" Type="http://schemas.openxmlformats.org/officeDocument/2006/relationships/hyperlink" Target="https://www.airandspaceforces.com/PDF/AircraftAccidentReports/Documents/2012/032112_F-16CM_Osan.pdf" TargetMode="External"/><Relationship Id="rId17" Type="http://schemas.openxmlformats.org/officeDocument/2006/relationships/hyperlink" Target="https://www.airandspaceforces.com/app/uploads/2025/02/1.-30Apr2024-AETC-F-16-Holloman-AIB-Report-final.pdf" TargetMode="External"/><Relationship Id="rId18" Type="http://schemas.openxmlformats.org/officeDocument/2006/relationships/hyperlink" Target="https://www.mod.go.jp/asdf/news/20260424.pdf" TargetMode="External"/><Relationship Id="rId19" Type="http://schemas.openxmlformats.org/officeDocument/2006/relationships/hyperlink" Target="https://data.ntsb.gov/carol-repgen/api/Aviation/ReportMain/GenerateNewestReport/99006/pdf" TargetMode="External"/><Relationship Id="rId20" Type="http://schemas.openxmlformats.org/officeDocument/2006/relationships/hyperlink" Target="https://data.ntsb.gov/Docket/Document/docBLOB?ID=40482474&amp;FileExtension=.PDF&amp;FileName=Powerplants%20Group%20Chairman%27s%20Factual%20Report-Master.PDF" TargetMode="External"/><Relationship Id="rId21" Type="http://schemas.openxmlformats.org/officeDocument/2006/relationships/hyperlink" Target="https://www.airandspaceforces.com/PDF/AircraftAccidentReports/Documents/2012/050312_F-15E_SWA_full.pdf" TargetMode="External"/><Relationship Id="rId22" Type="http://schemas.openxmlformats.org/officeDocument/2006/relationships/hyperlink" Target="https://www.federalregister.gov/documents/2017/07/14/2017-14545/airworthiness-directives-cfm-international-sa-turbofan-engines" TargetMode="External"/><Relationship Id="rId23" Type="http://schemas.openxmlformats.org/officeDocument/2006/relationships/hyperlink" Target="https://www.govinfo.gov/content/pkg/FR-2022-04-14/html/2022-08037.htm" TargetMode="External"/><Relationship Id="rId24" Type="http://schemas.openxmlformats.org/officeDocument/2006/relationships/hyperlink" Target="https://www.govinfo.gov/content/pkg/FR-2026-09-17/html/2026-19094.htm" TargetMode="External"/><Relationship Id="rId25" Type="http://schemas.openxmlformats.org/officeDocument/2006/relationships/hyperlink" Target="https://data.ntsb.gov/carol-repgen/api/Aviation/ReportMain/GenerateNewestReport/193769/pdf" TargetMode="External"/><Relationship Id="rId26" Type="http://schemas.openxmlformats.org/officeDocument/2006/relationships/hyperlink" Target="https://news.usni.org/wp-content/uploads/2015/06/F35-AIB-Final-Report-17-Mar-15.pdf" TargetMode="External"/><Relationship Id="rId27" Type="http://schemas.openxmlformats.org/officeDocument/2006/relationships/hyperlink" Target="https://govinfo.gov/content/pkg/FR-2005-11-09/html/05-22207.htm" TargetMode="External"/><Relationship Id="rId28" Type="http://schemas.openxmlformats.org/officeDocument/2006/relationships/hyperlink" Target="https://data.ntsb.gov/carol-repgen/api/Aviation/ReportMain/GenerateFactualReport/82022/pdf" TargetMode="External"/><Relationship Id="rId29" Type="http://schemas.openxmlformats.org/officeDocument/2006/relationships/slideLayout" Target="../slideLayouts/slideLayout1.xml"/><Relationship Id="rId30"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66928"/>
          </a:xfrm>
          <a:prstGeom prst="rect">
            <a:avLst/>
          </a:prstGeom>
          <a:noFill/>
          <a:ln/>
        </p:spPr>
        <p:txBody>
          <a:bodyPr wrap="square" lIns="0" tIns="0" rIns="0" bIns="0" rtlCol="0" anchor="ctr"/>
          <a:lstStyle/>
          <a:p>
            <a:pPr indent="0" marL="0">
              <a:buNone/>
            </a:pPr>
            <a:r>
              <a:rPr lang="en-US" sz="3000" b="1" dirty="0">
                <a:solidFill>
                  <a:srgbClr val="3A3A3A"/>
                </a:solidFill>
                <a:latin typeface="Calibri" pitchFamily="34" charset="0"/>
                <a:ea typeface="Calibri" pitchFamily="34" charset="-122"/>
                <a:cs typeface="Calibri" pitchFamily="34" charset="-120"/>
              </a:rPr>
              <a:t>HPC STATİK PARÇALAR – KRİTİKLİK ÖZETİ</a:t>
            </a:r>
            <a:endParaRPr lang="en-US" sz="3000" dirty="0"/>
          </a:p>
        </p:txBody>
      </p:sp>
      <p:sp>
        <p:nvSpPr>
          <p:cNvPr id="3" name="Text 1"/>
          <p:cNvSpPr txBox="1"/>
          <p:nvPr/>
        </p:nvSpPr>
        <p:spPr>
          <a:xfrm>
            <a:off x="429768" y="768096"/>
            <a:ext cx="11338560" cy="292608"/>
          </a:xfrm>
          <a:prstGeom prst="rect">
            <a:avLst/>
          </a:prstGeom>
          <a:noFill/>
          <a:ln/>
        </p:spPr>
        <p:txBody>
          <a:bodyPr wrap="square" lIns="0" tIns="0" rIns="0" bIns="0" rtlCol="0" anchor="ctr"/>
          <a:lstStyle/>
          <a:p>
            <a:pPr indent="0" marL="0">
              <a:buNone/>
            </a:pPr>
            <a:r>
              <a:rPr lang="en-US" sz="1350" i="1" dirty="0">
                <a:solidFill>
                  <a:srgbClr val="1F6678"/>
                </a:solidFill>
                <a:latin typeface="Calibri" pitchFamily="34" charset="0"/>
                <a:ea typeface="Calibri" pitchFamily="34" charset="-122"/>
                <a:cs typeface="Calibri" pitchFamily="34" charset="-120"/>
              </a:rPr>
              <a:t>Emre Atay (FEA / Yapısal Analiz)  |  F110 sınıfı HPC için literatür &amp; servis tecrübesi taraması – Eylül 2026</a:t>
            </a:r>
            <a:endParaRPr lang="en-US" sz="1350" dirty="0"/>
          </a:p>
        </p:txBody>
      </p:sp>
      <p:sp>
        <p:nvSpPr>
          <p:cNvPr id="4" name="Text 2"/>
          <p:cNvSpPr txBox="1"/>
          <p:nvPr/>
        </p:nvSpPr>
        <p:spPr>
          <a:xfrm>
            <a:off x="411480" y="6473952"/>
            <a:ext cx="8686800" cy="228600"/>
          </a:xfrm>
          <a:prstGeom prst="rect">
            <a:avLst/>
          </a:prstGeom>
          <a:noFill/>
          <a:ln/>
        </p:spPr>
        <p:txBody>
          <a:bodyPr wrap="square" lIns="0" tIns="0" rIns="0" bIns="0" rtlCol="0" anchor="ctr"/>
          <a:lstStyle/>
          <a:p>
            <a:pPr indent="0" marL="0">
              <a:buNone/>
            </a:pPr>
            <a:r>
              <a:rPr lang="en-US" sz="900" dirty="0">
                <a:solidFill>
                  <a:srgbClr val="6B7780"/>
                </a:solidFill>
                <a:latin typeface="Calibri" pitchFamily="34" charset="0"/>
                <a:ea typeface="Calibri" pitchFamily="34" charset="-122"/>
                <a:cs typeface="Calibri" pitchFamily="34" charset="-120"/>
              </a:rPr>
              <a:t>Sınıflandırma: </a:t>
            </a:r>
            <a:r>
              <a:rPr lang="en-US" sz="900" dirty="0">
                <a:solidFill>
                  <a:srgbClr val="1F6678"/>
                </a:solidFill>
                <a:latin typeface="Calibri" pitchFamily="34" charset="0"/>
                <a:ea typeface="Calibri" pitchFamily="34" charset="-122"/>
                <a:cs typeface="Calibri" pitchFamily="34" charset="-120"/>
              </a:rPr>
              <a:t>Tasnif Dışı</a:t>
            </a:r>
            <a:r>
              <a:rPr lang="en-US" sz="900" dirty="0">
                <a:solidFill>
                  <a:srgbClr val="6B7780"/>
                </a:solidFill>
                <a:latin typeface="Calibri" pitchFamily="34" charset="0"/>
                <a:ea typeface="Calibri" pitchFamily="34" charset="-122"/>
                <a:cs typeface="Calibri" pitchFamily="34" charset="-120"/>
              </a:rPr>
              <a:t>   |   Kaynak: kamuya açık literatür taraması – program bulgusu değildir</a:t>
            </a:r>
            <a:endParaRPr lang="en-US" sz="900" dirty="0"/>
          </a:p>
        </p:txBody>
      </p:sp>
      <p:sp>
        <p:nvSpPr>
          <p:cNvPr id="5" name="Text 3"/>
          <p:cNvSpPr txBox="1"/>
          <p:nvPr/>
        </p:nvSpPr>
        <p:spPr>
          <a:xfrm>
            <a:off x="11247120" y="6473952"/>
            <a:ext cx="548640" cy="228600"/>
          </a:xfrm>
          <a:prstGeom prst="rect">
            <a:avLst/>
          </a:prstGeom>
          <a:noFill/>
          <a:ln/>
        </p:spPr>
        <p:txBody>
          <a:bodyPr wrap="square" lIns="0" tIns="0" rIns="0" bIns="0" rtlCol="0" anchor="ctr"/>
          <a:lstStyle/>
          <a:p>
            <a:pPr algn="r" indent="0" marL="0">
              <a:buNone/>
            </a:pPr>
            <a:r>
              <a:rPr lang="en-US" sz="900" dirty="0">
                <a:solidFill>
                  <a:srgbClr val="6B7780"/>
                </a:solidFill>
                <a:latin typeface="Calibri" pitchFamily="34" charset="0"/>
                <a:ea typeface="Calibri" pitchFamily="34" charset="-122"/>
                <a:cs typeface="Calibri" pitchFamily="34" charset="-120"/>
              </a:rPr>
              <a:t>1</a:t>
            </a:r>
            <a:endParaRPr lang="en-US" sz="900" dirty="0"/>
          </a:p>
        </p:txBody>
      </p:sp>
      <p:sp>
        <p:nvSpPr>
          <p:cNvPr id="6" name="Shape 4"/>
          <p:cNvSpPr/>
          <p:nvPr/>
        </p:nvSpPr>
        <p:spPr>
          <a:xfrm>
            <a:off x="6583680" y="1188720"/>
            <a:ext cx="0" cy="5166360"/>
          </a:xfrm>
          <a:prstGeom prst="line">
            <a:avLst/>
          </a:prstGeom>
          <a:noFill/>
          <a:ln w="38100">
            <a:solidFill>
              <a:srgbClr val="1F6678"/>
            </a:solidFill>
            <a:prstDash val="solid"/>
          </a:ln>
        </p:spPr>
      </p:sp>
      <p:sp>
        <p:nvSpPr>
          <p:cNvPr id="7" name="Shape 5"/>
          <p:cNvSpPr/>
          <p:nvPr/>
        </p:nvSpPr>
        <p:spPr>
          <a:xfrm>
            <a:off x="6812280" y="4041648"/>
            <a:ext cx="4983480" cy="0"/>
          </a:xfrm>
          <a:prstGeom prst="line">
            <a:avLst/>
          </a:prstGeom>
          <a:noFill/>
          <a:ln w="25400">
            <a:solidFill>
              <a:srgbClr val="1F6678"/>
            </a:solidFill>
            <a:prstDash val="dash"/>
          </a:ln>
        </p:spPr>
      </p:sp>
      <p:sp>
        <p:nvSpPr>
          <p:cNvPr id="8" name="Shape 6"/>
          <p:cNvSpPr/>
          <p:nvPr/>
        </p:nvSpPr>
        <p:spPr>
          <a:xfrm>
            <a:off x="411480" y="1188720"/>
            <a:ext cx="5989320" cy="1691640"/>
          </a:xfrm>
          <a:prstGeom prst="rect">
            <a:avLst/>
          </a:prstGeom>
          <a:solidFill>
            <a:srgbClr val="3C4B56"/>
          </a:solidFill>
          <a:ln w="12700">
            <a:solidFill>
              <a:srgbClr val="3C4B56"/>
            </a:solidFill>
            <a:prstDash val="solid"/>
          </a:ln>
        </p:spPr>
      </p:sp>
      <p:sp>
        <p:nvSpPr>
          <p:cNvPr id="9" name="Text 7"/>
          <p:cNvSpPr txBox="1"/>
          <p:nvPr/>
        </p:nvSpPr>
        <p:spPr>
          <a:xfrm>
            <a:off x="548640" y="1261872"/>
            <a:ext cx="57150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TİPİK HASAR ZİNCİRİ – statik parça kendisi kırılmıyor, komşu rotoru kırıyor</a:t>
            </a:r>
            <a:endParaRPr lang="en-US" sz="1100" dirty="0"/>
          </a:p>
        </p:txBody>
      </p:sp>
      <p:sp>
        <p:nvSpPr>
          <p:cNvPr id="10" name="Shape 8"/>
          <p:cNvSpPr/>
          <p:nvPr/>
        </p:nvSpPr>
        <p:spPr>
          <a:xfrm>
            <a:off x="548640" y="1581912"/>
            <a:ext cx="996696" cy="950976"/>
          </a:xfrm>
          <a:prstGeom prst="roundRect">
            <a:avLst>
              <a:gd name="adj" fmla="val 4808"/>
            </a:avLst>
          </a:prstGeom>
          <a:solidFill>
            <a:srgbClr val="56697A"/>
          </a:solidFill>
          <a:ln w="12700">
            <a:solidFill>
              <a:srgbClr val="56697A"/>
            </a:solidFill>
            <a:prstDash val="solid"/>
          </a:ln>
        </p:spPr>
      </p:sp>
      <p:sp>
        <p:nvSpPr>
          <p:cNvPr id="11" name="Text 9"/>
          <p:cNvSpPr txBox="1"/>
          <p:nvPr/>
        </p:nvSpPr>
        <p:spPr>
          <a:xfrm>
            <a:off x="548640" y="1581912"/>
            <a:ext cx="996696" cy="950976"/>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STATİK PARÇA HATASI</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turned VSV (25–31°), reversed sector, missing retention nut, worn bushing</a:t>
            </a:r>
            <a:endParaRPr lang="en-US" sz="850" dirty="0"/>
          </a:p>
        </p:txBody>
      </p:sp>
      <p:sp>
        <p:nvSpPr>
          <p:cNvPr id="12" name="Shape 10"/>
          <p:cNvSpPr/>
          <p:nvPr/>
        </p:nvSpPr>
        <p:spPr>
          <a:xfrm>
            <a:off x="1568196" y="1984248"/>
            <a:ext cx="137160" cy="146304"/>
          </a:xfrm>
          <a:prstGeom prst="rightArrow">
            <a:avLst/>
          </a:prstGeom>
          <a:solidFill>
            <a:srgbClr val="C9D6DD"/>
          </a:solidFill>
          <a:ln w="12700">
            <a:solidFill>
              <a:srgbClr val="C9D6DD"/>
            </a:solidFill>
            <a:prstDash val="solid"/>
          </a:ln>
        </p:spPr>
      </p:sp>
      <p:sp>
        <p:nvSpPr>
          <p:cNvPr id="13" name="Shape 11"/>
          <p:cNvSpPr/>
          <p:nvPr/>
        </p:nvSpPr>
        <p:spPr>
          <a:xfrm>
            <a:off x="1728216" y="1581912"/>
            <a:ext cx="996696" cy="950976"/>
          </a:xfrm>
          <a:prstGeom prst="roundRect">
            <a:avLst>
              <a:gd name="adj" fmla="val 4808"/>
            </a:avLst>
          </a:prstGeom>
          <a:solidFill>
            <a:srgbClr val="56697A"/>
          </a:solidFill>
          <a:ln w="12700">
            <a:solidFill>
              <a:srgbClr val="56697A"/>
            </a:solidFill>
            <a:prstDash val="solid"/>
          </a:ln>
        </p:spPr>
      </p:sp>
      <p:sp>
        <p:nvSpPr>
          <p:cNvPr id="14" name="Text 12"/>
          <p:cNvSpPr txBox="1"/>
          <p:nvPr/>
        </p:nvSpPr>
        <p:spPr>
          <a:xfrm>
            <a:off x="1728216" y="1581912"/>
            <a:ext cx="996696" cy="950976"/>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1/REV FORCING</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çevresel akış bozulması → low engine order uyarım</a:t>
            </a:r>
            <a:endParaRPr lang="en-US" sz="850" dirty="0"/>
          </a:p>
        </p:txBody>
      </p:sp>
      <p:sp>
        <p:nvSpPr>
          <p:cNvPr id="15" name="Shape 13"/>
          <p:cNvSpPr/>
          <p:nvPr/>
        </p:nvSpPr>
        <p:spPr>
          <a:xfrm>
            <a:off x="2747772" y="1984248"/>
            <a:ext cx="137160" cy="146304"/>
          </a:xfrm>
          <a:prstGeom prst="rightArrow">
            <a:avLst/>
          </a:prstGeom>
          <a:solidFill>
            <a:srgbClr val="C9D6DD"/>
          </a:solidFill>
          <a:ln w="12700">
            <a:solidFill>
              <a:srgbClr val="C9D6DD"/>
            </a:solidFill>
            <a:prstDash val="solid"/>
          </a:ln>
        </p:spPr>
      </p:sp>
      <p:sp>
        <p:nvSpPr>
          <p:cNvPr id="16" name="Shape 14"/>
          <p:cNvSpPr/>
          <p:nvPr/>
        </p:nvSpPr>
        <p:spPr>
          <a:xfrm>
            <a:off x="2907792" y="1581912"/>
            <a:ext cx="996696" cy="950976"/>
          </a:xfrm>
          <a:prstGeom prst="roundRect">
            <a:avLst>
              <a:gd name="adj" fmla="val 4808"/>
            </a:avLst>
          </a:prstGeom>
          <a:solidFill>
            <a:srgbClr val="56697A"/>
          </a:solidFill>
          <a:ln w="12700">
            <a:solidFill>
              <a:srgbClr val="56697A"/>
            </a:solidFill>
            <a:prstDash val="solid"/>
          </a:ln>
        </p:spPr>
      </p:sp>
      <p:sp>
        <p:nvSpPr>
          <p:cNvPr id="17" name="Text 15"/>
          <p:cNvSpPr txBox="1"/>
          <p:nvPr/>
        </p:nvSpPr>
        <p:spPr>
          <a:xfrm>
            <a:off x="2907792" y="1581912"/>
            <a:ext cx="996696" cy="950976"/>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DOWNSTREAM ROTOR HCF</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blade / disk-post çatlağı → blade release</a:t>
            </a:r>
            <a:endParaRPr lang="en-US" sz="850" dirty="0"/>
          </a:p>
        </p:txBody>
      </p:sp>
      <p:sp>
        <p:nvSpPr>
          <p:cNvPr id="18" name="Shape 16"/>
          <p:cNvSpPr/>
          <p:nvPr/>
        </p:nvSpPr>
        <p:spPr>
          <a:xfrm>
            <a:off x="3927348" y="1984248"/>
            <a:ext cx="137160" cy="146304"/>
          </a:xfrm>
          <a:prstGeom prst="rightArrow">
            <a:avLst/>
          </a:prstGeom>
          <a:solidFill>
            <a:srgbClr val="C9D6DD"/>
          </a:solidFill>
          <a:ln w="12700">
            <a:solidFill>
              <a:srgbClr val="C9D6DD"/>
            </a:solidFill>
            <a:prstDash val="solid"/>
          </a:ln>
        </p:spPr>
      </p:sp>
      <p:sp>
        <p:nvSpPr>
          <p:cNvPr id="19" name="Shape 17"/>
          <p:cNvSpPr/>
          <p:nvPr/>
        </p:nvSpPr>
        <p:spPr>
          <a:xfrm>
            <a:off x="4087368" y="1581912"/>
            <a:ext cx="996696" cy="950976"/>
          </a:xfrm>
          <a:prstGeom prst="roundRect">
            <a:avLst>
              <a:gd name="adj" fmla="val 4808"/>
            </a:avLst>
          </a:prstGeom>
          <a:solidFill>
            <a:srgbClr val="56697A"/>
          </a:solidFill>
          <a:ln w="12700">
            <a:solidFill>
              <a:srgbClr val="56697A"/>
            </a:solidFill>
            <a:prstDash val="solid"/>
          </a:ln>
        </p:spPr>
      </p:sp>
      <p:sp>
        <p:nvSpPr>
          <p:cNvPr id="20" name="Text 18"/>
          <p:cNvSpPr txBox="1"/>
          <p:nvPr/>
        </p:nvSpPr>
        <p:spPr>
          <a:xfrm>
            <a:off x="4087368" y="1581912"/>
            <a:ext cx="996696" cy="950976"/>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STALL + Ti FIRE</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case burn-through (~%60 … ~360°), 10–15 sn</a:t>
            </a:r>
            <a:endParaRPr lang="en-US" sz="850" dirty="0"/>
          </a:p>
        </p:txBody>
      </p:sp>
      <p:sp>
        <p:nvSpPr>
          <p:cNvPr id="21" name="Shape 19"/>
          <p:cNvSpPr/>
          <p:nvPr/>
        </p:nvSpPr>
        <p:spPr>
          <a:xfrm>
            <a:off x="5106924" y="1984248"/>
            <a:ext cx="137160" cy="146304"/>
          </a:xfrm>
          <a:prstGeom prst="rightArrow">
            <a:avLst/>
          </a:prstGeom>
          <a:solidFill>
            <a:srgbClr val="C9D6DD"/>
          </a:solidFill>
          <a:ln w="12700">
            <a:solidFill>
              <a:srgbClr val="C9D6DD"/>
            </a:solidFill>
            <a:prstDash val="solid"/>
          </a:ln>
        </p:spPr>
      </p:sp>
      <p:sp>
        <p:nvSpPr>
          <p:cNvPr id="22" name="Shape 20"/>
          <p:cNvSpPr/>
          <p:nvPr/>
        </p:nvSpPr>
        <p:spPr>
          <a:xfrm>
            <a:off x="5266944" y="1581912"/>
            <a:ext cx="996696" cy="950976"/>
          </a:xfrm>
          <a:prstGeom prst="roundRect">
            <a:avLst>
              <a:gd name="adj" fmla="val 4808"/>
            </a:avLst>
          </a:prstGeom>
          <a:solidFill>
            <a:srgbClr val="B03A2E"/>
          </a:solidFill>
          <a:ln w="12700">
            <a:solidFill>
              <a:srgbClr val="B03A2E"/>
            </a:solidFill>
            <a:prstDash val="solid"/>
          </a:ln>
        </p:spPr>
      </p:sp>
      <p:sp>
        <p:nvSpPr>
          <p:cNvPr id="23" name="Text 21"/>
          <p:cNvSpPr txBox="1"/>
          <p:nvPr/>
        </p:nvSpPr>
        <p:spPr>
          <a:xfrm>
            <a:off x="5266944" y="1581912"/>
            <a:ext cx="996696" cy="950976"/>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UÇAK KAYBI</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tek motorlu platformda thrust kaybı = Catastrophic</a:t>
            </a:r>
            <a:endParaRPr lang="en-US" sz="850" dirty="0"/>
          </a:p>
        </p:txBody>
      </p:sp>
      <p:sp>
        <p:nvSpPr>
          <p:cNvPr id="24" name="Text 22"/>
          <p:cNvSpPr txBox="1"/>
          <p:nvPr/>
        </p:nvSpPr>
        <p:spPr>
          <a:xfrm>
            <a:off x="548640" y="2569464"/>
            <a:ext cx="5715000" cy="256032"/>
          </a:xfrm>
          <a:prstGeom prst="rect">
            <a:avLst/>
          </a:prstGeom>
          <a:noFill/>
          <a:ln/>
        </p:spPr>
        <p:txBody>
          <a:bodyPr wrap="square" lIns="0" tIns="0" rIns="0" bIns="0" rtlCol="0" anchor="ctr"/>
          <a:lstStyle/>
          <a:p>
            <a:pPr indent="0" marL="0">
              <a:buNone/>
            </a:pPr>
            <a:r>
              <a:rPr lang="en-US" sz="850" i="1" dirty="0">
                <a:solidFill>
                  <a:srgbClr val="DCE6EB"/>
                </a:solidFill>
                <a:latin typeface="Calibri" pitchFamily="34" charset="0"/>
                <a:ea typeface="Calibri" pitchFamily="34" charset="-122"/>
                <a:cs typeface="Calibri" pitchFamily="34" charset="-120"/>
              </a:rPr>
              <a:t>Osan 2012 (F110-GE-100)  ·  Holloman 2024 (F100-PW-220)  ·  JASDF F-2A 2025 (F110-IHI-129)  ·  CFM56-7B 2019 (F101 core ailesi)</a:t>
            </a:r>
            <a:endParaRPr lang="en-US" sz="8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11480" y="3017520"/>
          <a:ext cx="5989320" cy="914400"/>
        </p:xfrm>
        <a:graphic>
          <a:graphicData uri="http://schemas.openxmlformats.org/drawingml/2006/table">
            <a:tbl>
              <a:tblPr/>
              <a:tblGrid>
                <a:gridCol w="2148840"/>
                <a:gridCol w="457200"/>
                <a:gridCol w="2468880"/>
                <a:gridCol w="91440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PARÇA GRUBU</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 KÖTÜ SONUÇ (tek motor)</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KANIT</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VSV retention &amp; linkage</a:t>
                      </a:r>
                      <a:r>
                        <a:rPr lang="en-US" sz="750" dirty="0">
                          <a:solidFill>
                            <a:srgbClr val="6B7780"/>
                          </a:solidFill>
                          <a:latin typeface="Calibri" pitchFamily="34" charset="0"/>
                          <a:ea typeface="Calibri" pitchFamily="34" charset="-122"/>
                          <a:cs typeface="Calibri" pitchFamily="34" charset="-120"/>
                        </a:rPr>
                        <a:t> trunnion, bushing, nut, lever arm, unison ring</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03A2E"/>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Turned / tilted vane → rotor HCF → Ti fire; bushing aşınması → rotor clash</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1" invalidUrl="" action="" tgtFrame="" tooltip="USAF AIB — F-16C 87-0358, Holloman AFB, 30 Apr 2024 (F100-PW-220, turned stage-5 VSV)" history="1" highlightClick="0" endSnd="0">
                            <a:extLst>
                              <a:ext uri="{A12FA001-AC4F-418D-AE19-62706E023703}">
                                <ahyp:hlinkClr xmlns:ahyp="http://schemas.microsoft.com/office/drawing/2018/hyperlinkcolor" val="tx"/>
                              </a:ext>
                            </a:extLst>
                          </a:hlinkClick>
                        </a:rPr>
                        <a:t>[14]</a:t>
                      </a:r>
                      <a:r>
                        <a:rPr lang="en-US" sz="750" u="sng" dirty="0">
                          <a:solidFill>
                            <a:srgbClr val="0B5F85"/>
                          </a:solidFill>
                          <a:latin typeface="Calibri" pitchFamily="34" charset="0"/>
                          <a:ea typeface="Calibri" pitchFamily="34" charset="-122"/>
                          <a:cs typeface="Calibri" pitchFamily="34" charset="-120"/>
                          <a:hlinkClick r:id="rId2" invalidUrl="" action="" tgtFrame="" tooltip="Japan MoD — JASDF F-2A, Hyakuri, 7 Aug 2025 (VSV lever-arm pin / connecting link)" history="1" highlightClick="0" endSnd="0">
                            <a:extLst>
                              <a:ext uri="{A12FA001-AC4F-418D-AE19-62706E023703}">
                                <ahyp:hlinkClr xmlns:ahyp="http://schemas.microsoft.com/office/drawing/2018/hyperlinkcolor" val="tx"/>
                              </a:ext>
                            </a:extLst>
                          </a:hlinkClick>
                        </a:rPr>
                        <a:t>[15]</a:t>
                      </a:r>
                      <a:r>
                        <a:rPr lang="en-US" sz="750" u="sng" dirty="0">
                          <a:solidFill>
                            <a:srgbClr val="0B5F85"/>
                          </a:solidFill>
                          <a:latin typeface="Calibri" pitchFamily="34" charset="0"/>
                          <a:ea typeface="Calibri" pitchFamily="34" charset="-122"/>
                          <a:cs typeface="Calibri" pitchFamily="34" charset="-120"/>
                          <a:hlinkClick r:id="rId3" invalidUrl="" action="" tgtFrame="" tooltip="NTSB ENG19IA013 Final Report — UAL 1768, CFM56-7B26 HPC, 21 Feb 2019" history="1" highlightClick="0" endSnd="0">
                            <a:extLst>
                              <a:ext uri="{A12FA001-AC4F-418D-AE19-62706E023703}">
                                <ahyp:hlinkClr xmlns:ahyp="http://schemas.microsoft.com/office/drawing/2018/hyperlinkcolor" val="tx"/>
                              </a:ext>
                            </a:extLst>
                          </a:hlinkClick>
                        </a:rPr>
                        <a:t>[16]</a:t>
                      </a:r>
                      <a:r>
                        <a:rPr lang="en-US" sz="750" u="sng" dirty="0">
                          <a:solidFill>
                            <a:srgbClr val="0B5F85"/>
                          </a:solidFill>
                          <a:latin typeface="Calibri" pitchFamily="34" charset="0"/>
                          <a:ea typeface="Calibri" pitchFamily="34" charset="-122"/>
                          <a:cs typeface="Calibri" pitchFamily="34" charset="-120"/>
                          <a:hlinkClick r:id="rId4" invalidUrl="" action="" tgtFrame="" tooltip="FAA NPRM FAA-2026-8816 — PW1500G/1900G VSV bushing wear → rotor rim contact, Sep 2026" history="1" highlightClick="0" endSnd="0">
                            <a:extLst>
                              <a:ext uri="{A12FA001-AC4F-418D-AE19-62706E023703}">
                                <ahyp:hlinkClr xmlns:ahyp="http://schemas.microsoft.com/office/drawing/2018/hyperlinkcolor" val="tx"/>
                              </a:ext>
                            </a:extLst>
                          </a:hlinkClick>
                        </a:rPr>
                        <a:t>[21]</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Split HPC case</a:t>
                      </a:r>
                      <a:r>
                        <a:rPr lang="en-US" sz="750" dirty="0">
                          <a:solidFill>
                            <a:srgbClr val="6B7780"/>
                          </a:solidFill>
                          <a:latin typeface="Calibri" pitchFamily="34" charset="0"/>
                          <a:ea typeface="Calibri" pitchFamily="34" charset="-122"/>
                          <a:cs typeface="Calibri" pitchFamily="34" charset="-120"/>
                        </a:rPr>
                        <a:t> front VSV case + rear case, VSV boss</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03A2E"/>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Pressure vessel rupture; containment kaybı; Ti-fire burn-through</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5" invalidUrl="" action="" tgtFrame="" tooltip="14 CFR 33.70 — Engine life-limited parts (major static structural parts)" history="1" highlightClick="0" endSnd="0">
                            <a:extLst>
                              <a:ext uri="{A12FA001-AC4F-418D-AE19-62706E023703}">
                                <ahyp:hlinkClr xmlns:ahyp="http://schemas.microsoft.com/office/drawing/2018/hyperlinkcolor" val="tx"/>
                              </a:ext>
                            </a:extLst>
                          </a:hlinkClick>
                        </a:rPr>
                        <a:t>[7]</a:t>
                      </a:r>
                      <a:r>
                        <a:rPr lang="en-US" sz="750" u="sng" dirty="0">
                          <a:solidFill>
                            <a:srgbClr val="0B5F85"/>
                          </a:solidFill>
                          <a:latin typeface="Calibri" pitchFamily="34" charset="0"/>
                          <a:ea typeface="Calibri" pitchFamily="34" charset="-122"/>
                          <a:cs typeface="Calibri" pitchFamily="34" charset="-120"/>
                          <a:hlinkClick r:id="rId6" invalidUrl="" action="" tgtFrame="" tooltip="NTSB ENG19IA013 — Powerplant Group Chairman's Factual Report, 2020" history="1" highlightClick="0" endSnd="0">
                            <a:extLst>
                              <a:ext uri="{A12FA001-AC4F-418D-AE19-62706E023703}">
                                <ahyp:hlinkClr xmlns:ahyp="http://schemas.microsoft.com/office/drawing/2018/hyperlinkcolor" val="tx"/>
                              </a:ext>
                            </a:extLst>
                          </a:hlinkClick>
                        </a:rPr>
                        <a:t>[17]</a:t>
                      </a:r>
                      <a:r>
                        <a:rPr lang="en-US" sz="750" u="sng" dirty="0">
                          <a:solidFill>
                            <a:srgbClr val="0B5F85"/>
                          </a:solidFill>
                          <a:latin typeface="Calibri" pitchFamily="34" charset="0"/>
                          <a:ea typeface="Calibri" pitchFamily="34" charset="-122"/>
                          <a:cs typeface="Calibri" pitchFamily="34" charset="-120"/>
                          <a:hlinkClick r:id="rId7" invalidUrl="" action="" tgtFrame="" tooltip="USAF AIB — F-15E 90-0254, 3 May 2012 (titanium fire, ~360° case burn-through)" history="1" highlightClick="0" endSnd="0">
                            <a:extLst>
                              <a:ext uri="{A12FA001-AC4F-418D-AE19-62706E023703}">
                                <ahyp:hlinkClr xmlns:ahyp="http://schemas.microsoft.com/office/drawing/2018/hyperlinkcolor" val="tx"/>
                              </a:ext>
                            </a:extLst>
                          </a:hlinkClick>
                        </a:rPr>
                        <a:t>[18]</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Fixed stator sectors &amp; retention</a:t>
                      </a:r>
                      <a:r>
                        <a:rPr lang="en-US" sz="750" dirty="0">
                          <a:solidFill>
                            <a:srgbClr val="6B7780"/>
                          </a:solidFill>
                          <a:latin typeface="Calibri" pitchFamily="34" charset="0"/>
                          <a:ea typeface="Calibri" pitchFamily="34" charset="-122"/>
                          <a:cs typeface="Calibri" pitchFamily="34" charset="-120"/>
                        </a:rPr>
                        <a:t> hook, slot, anti-rotation</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03A2E"/>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Ters / yanlış takılan sector → blade HCF → uçak kaybı</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8"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VSV actuation &amp; FADEC schedule</a:t>
                      </a:r>
                      <a:r>
                        <a:rPr lang="en-US" sz="750" dirty="0">
                          <a:solidFill>
                            <a:srgbClr val="6B7780"/>
                          </a:solidFill>
                          <a:latin typeface="Calibri" pitchFamily="34" charset="0"/>
                          <a:ea typeface="Calibri" pitchFamily="34" charset="-122"/>
                          <a:cs typeface="Calibri" pitchFamily="34" charset="-120"/>
                        </a:rPr>
                        <a:t> actuator, LVDT, fault logic</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03A2E"/>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Off-schedule vane → stall, loss of thrust control; idle-lock</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9" invalidUrl="" action="" tgtFrame="" tooltip="FAA AD 2017-14-08 — CFM56-3 VSV bore corrosion, dual-engine loss of thrust control" history="1" highlightClick="0" endSnd="0">
                            <a:extLst>
                              <a:ext uri="{A12FA001-AC4F-418D-AE19-62706E023703}">
                                <ahyp:hlinkClr xmlns:ahyp="http://schemas.microsoft.com/office/drawing/2018/hyperlinkcolor" val="tx"/>
                              </a:ext>
                            </a:extLst>
                          </a:hlinkClick>
                        </a:rPr>
                        <a:t>[19]</a:t>
                      </a:r>
                      <a:r>
                        <a:rPr lang="en-US" sz="750" u="sng" dirty="0">
                          <a:solidFill>
                            <a:srgbClr val="0B5F85"/>
                          </a:solidFill>
                          <a:latin typeface="Calibri" pitchFamily="34" charset="0"/>
                          <a:ea typeface="Calibri" pitchFamily="34" charset="-122"/>
                          <a:cs typeface="Calibri" pitchFamily="34" charset="-120"/>
                          <a:hlinkClick r:id="rId10" invalidUrl="" action="" tgtFrame="" tooltip="FAA AD 2022-08-06 — CF34-8C/-8E variable-geometry corrosion, FADEC idle-lock" history="1" highlightClick="0" endSnd="0">
                            <a:extLst>
                              <a:ext uri="{A12FA001-AC4F-418D-AE19-62706E023703}">
                                <ahyp:hlinkClr xmlns:ahyp="http://schemas.microsoft.com/office/drawing/2018/hyperlinkcolor" val="tx"/>
                              </a:ext>
                            </a:extLst>
                          </a:hlinkClick>
                        </a:rPr>
                        <a:t>[20]</a:t>
                      </a:r>
                      <a:r>
                        <a:rPr lang="en-US" sz="750" u="sng" dirty="0">
                          <a:solidFill>
                            <a:srgbClr val="0B5F85"/>
                          </a:solidFill>
                          <a:latin typeface="Calibri" pitchFamily="34" charset="0"/>
                          <a:ea typeface="Calibri" pitchFamily="34" charset="-122"/>
                          <a:cs typeface="Calibri" pitchFamily="34" charset="-120"/>
                          <a:hlinkClick r:id="rId11" invalidUrl="" action="" tgtFrame="" tooltip="NTSB ERA24FA110 — CL604 / CF34-3B, VSV spindle-bore corrosion, dual-engine stall, 2024" history="1" highlightClick="0" endSnd="0">
                            <a:extLst>
                              <a:ext uri="{A12FA001-AC4F-418D-AE19-62706E023703}">
                                <ahyp:hlinkClr xmlns:ahyp="http://schemas.microsoft.com/office/drawing/2018/hyperlinkcolor" val="tx"/>
                              </a:ext>
                            </a:extLst>
                          </a:hlinkClick>
                        </a:rPr>
                        <a:t>[22]</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Vane airfoils</a:t>
                      </a:r>
                      <a:r>
                        <a:rPr lang="en-US" sz="750" dirty="0">
                          <a:solidFill>
                            <a:srgbClr val="6B7780"/>
                          </a:solidFill>
                          <a:latin typeface="Calibri" pitchFamily="34" charset="0"/>
                          <a:ea typeface="Calibri" pitchFamily="34" charset="-122"/>
                          <a:cs typeface="Calibri" pitchFamily="34" charset="-120"/>
                        </a:rPr>
                        <a:t> IGV / VSV / stator aeromechanics</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77C11"/>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Vane HCF / flutter → downstream DOD</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12"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750" u="sng" dirty="0">
                          <a:solidFill>
                            <a:srgbClr val="0B5F85"/>
                          </a:solidFill>
                          <a:latin typeface="Calibri" pitchFamily="34" charset="0"/>
                          <a:ea typeface="Calibri" pitchFamily="34" charset="-122"/>
                          <a:cs typeface="Calibri" pitchFamily="34" charset="-120"/>
                          <a:hlinkClick r:id="rId13" invalidUrl="" action="" tgtFrame="" tooltip="AFRL — HCF Science &amp; Technology Program 2002 Annual Report (HCF = %56, USAF Class A, 1982–96)" history="1" highlightClick="0" endSnd="0">
                            <a:extLst>
                              <a:ext uri="{A12FA001-AC4F-418D-AE19-62706E023703}">
                                <ahyp:hlinkClr xmlns:ahyp="http://schemas.microsoft.com/office/drawing/2018/hyperlinkcolor" val="tx"/>
                              </a:ext>
                            </a:extLst>
                          </a:hlinkClick>
                        </a:rPr>
                        <a:t>[26]</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Rub system</a:t>
                      </a:r>
                      <a:r>
                        <a:rPr lang="en-US" sz="750" dirty="0">
                          <a:solidFill>
                            <a:srgbClr val="6B7780"/>
                          </a:solidFill>
                          <a:latin typeface="Calibri" pitchFamily="34" charset="0"/>
                          <a:ea typeface="Calibri" pitchFamily="34" charset="-122"/>
                          <a:cs typeface="Calibri" pitchFamily="34" charset="-120"/>
                        </a:rPr>
                        <a:t> abradable, inner shroud, interstage seal</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77C11"/>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Rub ısısı → Ti tutuşması / rotor çatlağı; coating spall → DOD</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14" invalidUrl="" action="" tgtFrame="" tooltip="FAA AC 33-4 — Design Considerations: Titanium in Turbine Engines, 1983" history="1" highlightClick="0" endSnd="0">
                            <a:extLst>
                              <a:ext uri="{A12FA001-AC4F-418D-AE19-62706E023703}">
                                <ahyp:hlinkClr xmlns:ahyp="http://schemas.microsoft.com/office/drawing/2018/hyperlinkcolor" val="tx"/>
                              </a:ext>
                            </a:extLst>
                          </a:hlinkClick>
                        </a:rPr>
                        <a:t>[12]</a:t>
                      </a:r>
                      <a:r>
                        <a:rPr lang="en-US" sz="750" u="sng" dirty="0">
                          <a:solidFill>
                            <a:srgbClr val="0B5F85"/>
                          </a:solidFill>
                          <a:latin typeface="Calibri" pitchFamily="34" charset="0"/>
                          <a:ea typeface="Calibri" pitchFamily="34" charset="-122"/>
                          <a:cs typeface="Calibri" pitchFamily="34" charset="-120"/>
                          <a:hlinkClick r:id="rId15" invalidUrl="" action="" tgtFrame="" tooltip="USAF AIB — F-35A, Eglin AFB, 23 Jun 2014 (F135 stator seal rub → Ti rotor crack; fan analojisi)" history="1" highlightClick="0" endSnd="0">
                            <a:extLst>
                              <a:ext uri="{A12FA001-AC4F-418D-AE19-62706E023703}">
                                <ahyp:hlinkClr xmlns:ahyp="http://schemas.microsoft.com/office/drawing/2018/hyperlinkcolor" val="tx"/>
                              </a:ext>
                            </a:extLst>
                          </a:hlinkClick>
                        </a:rPr>
                        <a:t>[23]</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Cut-outs, bosses, flanges &amp; bolts</a:t>
                      </a:r>
                      <a:r>
                        <a:rPr lang="en-US" sz="750" dirty="0">
                          <a:solidFill>
                            <a:srgbClr val="6B7780"/>
                          </a:solidFill>
                          <a:latin typeface="Calibri" pitchFamily="34" charset="0"/>
                          <a:ea typeface="Calibri" pitchFamily="34" charset="-122"/>
                          <a:cs typeface="Calibri" pitchFamily="34" charset="-120"/>
                        </a:rPr>
                        <a:t> case sınıfını miras alır</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77C11"/>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Boss / bolt-hole LCF çatlağı → leak, rupture; port = alev yolu</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16" invalidUrl="" action="" tgtFrame="" tooltip="FAA AD 2005-23-09 — CF6-80E1 HPC case aft mount flange, bolt-hole spotface cracks" history="1" highlightClick="0" endSnd="0">
                            <a:extLst>
                              <a:ext uri="{A12FA001-AC4F-418D-AE19-62706E023703}">
                                <ahyp:hlinkClr xmlns:ahyp="http://schemas.microsoft.com/office/drawing/2018/hyperlinkcolor" val="tx"/>
                              </a:ext>
                            </a:extLst>
                          </a:hlinkClick>
                        </a:rPr>
                        <a:t>[24]</a:t>
                      </a:r>
                      <a:r>
                        <a:rPr lang="en-US" sz="750" u="sng" dirty="0">
                          <a:solidFill>
                            <a:srgbClr val="0B5F85"/>
                          </a:solidFill>
                          <a:latin typeface="Calibri" pitchFamily="34" charset="0"/>
                          <a:ea typeface="Calibri" pitchFamily="34" charset="-122"/>
                          <a:cs typeface="Calibri" pitchFamily="34" charset="-120"/>
                          <a:hlinkClick r:id="rId17" invalidUrl="" action="" tgtFrame="" tooltip="NTSB ENG12IA001 — PW2037 diffuser case M-flange bolt-hole rupture, 2011" history="1" highlightClick="0" endSnd="0">
                            <a:extLst>
                              <a:ext uri="{A12FA001-AC4F-418D-AE19-62706E023703}">
                                <ahyp:hlinkClr xmlns:ahyp="http://schemas.microsoft.com/office/drawing/2018/hyperlinkcolor" val="tx"/>
                              </a:ext>
                            </a:extLst>
                          </a:hlinkClick>
                        </a:rPr>
                        <a:t>[25]</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386334">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Borescope plugs &amp; inspection access</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7F8C8D"/>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*Erişim yoksa Tier-1 hatalar tespit edilemez (Osan, Holloman)</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 </a:t>
                      </a:r>
                      <a:r>
                        <a:rPr lang="en-US" sz="750" u="sng" dirty="0">
                          <a:solidFill>
                            <a:srgbClr val="0B5F85"/>
                          </a:solidFill>
                          <a:latin typeface="Calibri" pitchFamily="34" charset="0"/>
                          <a:ea typeface="Calibri" pitchFamily="34" charset="-122"/>
                          <a:cs typeface="Calibri" pitchFamily="34" charset="-120"/>
                          <a:hlinkClick r:id="rId18"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750" u="sng" dirty="0">
                          <a:solidFill>
                            <a:srgbClr val="0B5F85"/>
                          </a:solidFill>
                          <a:latin typeface="Calibri" pitchFamily="34" charset="0"/>
                          <a:ea typeface="Calibri" pitchFamily="34" charset="-122"/>
                          <a:cs typeface="Calibri" pitchFamily="34" charset="-120"/>
                          <a:hlinkClick r:id="rId19"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r>
                        <a:rPr lang="en-US" sz="750" u="sng" dirty="0">
                          <a:solidFill>
                            <a:srgbClr val="0B5F85"/>
                          </a:solidFill>
                          <a:latin typeface="Calibri" pitchFamily="34" charset="0"/>
                          <a:ea typeface="Calibri" pitchFamily="34" charset="-122"/>
                          <a:cs typeface="Calibri" pitchFamily="34" charset="-120"/>
                          <a:hlinkClick r:id="rId20" invalidUrl="" action="" tgtFrame="" tooltip="USAF AIB — F-16C 87-0358, Holloman AFB, 30 Apr 2024 (F100-PW-220, turned stage-5 VSV)" history="1" highlightClick="0" endSnd="0">
                            <a:extLst>
                              <a:ext uri="{A12FA001-AC4F-418D-AE19-62706E023703}">
                                <ahyp:hlinkClr xmlns:ahyp="http://schemas.microsoft.com/office/drawing/2018/hyperlinkcolor" val="tx"/>
                              </a:ext>
                            </a:extLst>
                          </a:hlinkClick>
                        </a:rPr>
                        <a:t>[14]</a:t>
                      </a:r>
                      <a:endParaRPr lang="en-US" sz="8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bl>
          </a:graphicData>
        </a:graphic>
      </p:graphicFrame>
      <p:sp>
        <p:nvSpPr>
          <p:cNvPr id="26" name="Text 23"/>
          <p:cNvSpPr txBox="1"/>
          <p:nvPr/>
        </p:nvSpPr>
        <p:spPr>
          <a:xfrm>
            <a:off x="6812280" y="1170432"/>
            <a:ext cx="4983480" cy="310896"/>
          </a:xfrm>
          <a:prstGeom prst="rect">
            <a:avLst/>
          </a:prstGeom>
          <a:noFill/>
          <a:ln/>
        </p:spPr>
        <p:txBody>
          <a:bodyPr wrap="square" lIns="0" tIns="0" rIns="0" bIns="0" rtlCol="0" anchor="t"/>
          <a:lstStyle/>
          <a:p>
            <a:pPr indent="0" marL="0">
              <a:buNone/>
            </a:pPr>
            <a:r>
              <a:rPr lang="en-US" sz="1500" b="1" dirty="0">
                <a:solidFill>
                  <a:srgbClr val="3A3A3A"/>
                </a:solidFill>
                <a:latin typeface="Calibri" pitchFamily="34" charset="0"/>
                <a:ea typeface="Calibri" pitchFamily="34" charset="-122"/>
                <a:cs typeface="Calibri" pitchFamily="34" charset="-120"/>
              </a:rPr>
              <a:t>GÜNDEM &amp; KRİTİK KONULAR:</a:t>
            </a:r>
            <a:endParaRPr lang="en-US" sz="1500" dirty="0"/>
          </a:p>
        </p:txBody>
      </p:sp>
      <p:sp>
        <p:nvSpPr>
          <p:cNvPr id="27" name="Text 24"/>
          <p:cNvSpPr txBox="1"/>
          <p:nvPr/>
        </p:nvSpPr>
        <p:spPr>
          <a:xfrm>
            <a:off x="6812280" y="1517904"/>
            <a:ext cx="4983480" cy="2468880"/>
          </a:xfrm>
          <a:prstGeom prst="rect">
            <a:avLst/>
          </a:prstGeom>
          <a:noFill/>
          <a:ln/>
        </p:spPr>
        <p:txBody>
          <a:bodyPr wrap="square" lIns="0" tIns="0" rIns="0" bIns="0" rtlCol="0" anchor="t"/>
          <a:lstStyle/>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Kritikliği parçanın dönmesi değil, hasarın sonucu belirler: </a:t>
            </a:r>
            <a:r>
              <a:rPr lang="en-US" sz="1050" dirty="0">
                <a:solidFill>
                  <a:srgbClr val="333333"/>
                </a:solidFill>
                <a:latin typeface="Calibri" pitchFamily="34" charset="0"/>
                <a:ea typeface="Calibri" pitchFamily="34" charset="-122"/>
                <a:cs typeface="Calibri" pitchFamily="34" charset="-120"/>
              </a:rPr>
              <a:t>FAA 33.70 “major static structural parts”, ENSIP ve DoD CSI aynı mantıkta.</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21"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22" invalidUrl="" action="" tgtFrame="" tooltip="JALC — Aviation Critical Safety Item (CSI) Management Handbook, 2011" history="1" highlightClick="0" endSnd="0">
                  <a:extLst>
                    <a:ext uri="{A12FA001-AC4F-418D-AE19-62706E023703}">
                      <ahyp:hlinkClr xmlns:ahyp="http://schemas.microsoft.com/office/drawing/2018/hyperlinkcolor" val="tx"/>
                    </a:ext>
                  </a:extLst>
                </a:hlinkClick>
              </a:rPr>
              <a:t>[5]</a:t>
            </a:r>
            <a:r>
              <a:rPr lang="en-US" sz="800" u="sng" dirty="0">
                <a:solidFill>
                  <a:srgbClr val="0B5F85"/>
                </a:solidFill>
                <a:latin typeface="Calibri" pitchFamily="34" charset="0"/>
                <a:ea typeface="Calibri" pitchFamily="34" charset="-122"/>
                <a:cs typeface="Calibri" pitchFamily="34" charset="-120"/>
                <a:hlinkClick r:id="rId23" invalidUrl="" action="" tgtFrame="" tooltip="14 CFR 33.70 — Engine life-limited parts (major static structural parts)" history="1" highlightClick="0" endSnd="0">
                  <a:extLst>
                    <a:ext uri="{A12FA001-AC4F-418D-AE19-62706E023703}">
                      <ahyp:hlinkClr xmlns:ahyp="http://schemas.microsoft.com/office/drawing/2018/hyperlinkcolor" val="tx"/>
                    </a:ext>
                  </a:extLst>
                </a:hlinkClick>
              </a:rPr>
              <a:t>[7]</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Statik parça çoğunlukla kendi kırılmaz, komşu rotoru kırar: </a:t>
            </a:r>
            <a:r>
              <a:rPr lang="en-US" sz="1050" dirty="0">
                <a:solidFill>
                  <a:srgbClr val="333333"/>
                </a:solidFill>
                <a:latin typeface="Calibri" pitchFamily="34" charset="0"/>
                <a:ea typeface="Calibri" pitchFamily="34" charset="-122"/>
                <a:cs typeface="Calibri" pitchFamily="34" charset="-120"/>
              </a:rPr>
              <a:t>tek bir vane 25–31° off-schedule veya ters bir sector → 1/rev forcing → rotor HCF.</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24"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r>
              <a:rPr lang="en-US" sz="800" u="sng" dirty="0">
                <a:solidFill>
                  <a:srgbClr val="0B5F85"/>
                </a:solidFill>
                <a:latin typeface="Calibri" pitchFamily="34" charset="0"/>
                <a:ea typeface="Calibri" pitchFamily="34" charset="-122"/>
                <a:cs typeface="Calibri" pitchFamily="34" charset="-120"/>
                <a:hlinkClick r:id="rId25" invalidUrl="" action="" tgtFrame="" tooltip="USAF AIB — F-16C 87-0358, Holloman AFB, 30 Apr 2024 (F100-PW-220, turned stage-5 VSV)" history="1" highlightClick="0" endSnd="0">
                  <a:extLst>
                    <a:ext uri="{A12FA001-AC4F-418D-AE19-62706E023703}">
                      <ahyp:hlinkClr xmlns:ahyp="http://schemas.microsoft.com/office/drawing/2018/hyperlinkcolor" val="tx"/>
                    </a:ext>
                  </a:extLst>
                </a:hlinkClick>
              </a:rPr>
              <a:t>[14]</a:t>
            </a:r>
            <a:r>
              <a:rPr lang="en-US" sz="800" u="sng" dirty="0">
                <a:solidFill>
                  <a:srgbClr val="0B5F85"/>
                </a:solidFill>
                <a:latin typeface="Calibri" pitchFamily="34" charset="0"/>
                <a:ea typeface="Calibri" pitchFamily="34" charset="-122"/>
                <a:cs typeface="Calibri" pitchFamily="34" charset="-120"/>
                <a:hlinkClick r:id="rId26" invalidUrl="" action="" tgtFrame="" tooltip="NTSB ENG19IA013 Final Report — UAL 1768, CFM56-7B26 HPC, 21 Feb 2019" history="1" highlightClick="0" endSnd="0">
                  <a:extLst>
                    <a:ext uri="{A12FA001-AC4F-418D-AE19-62706E023703}">
                      <ahyp:hlinkClr xmlns:ahyp="http://schemas.microsoft.com/office/drawing/2018/hyperlinkcolor" val="tx"/>
                    </a:ext>
                  </a:extLst>
                </a:hlinkClick>
              </a:rPr>
              <a:t>[16]</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İncelenen 3 fighter kaybında da statik parça “sağlam ama yanlış”tı </a:t>
            </a:r>
            <a:r>
              <a:rPr lang="en-US" sz="1050" dirty="0">
                <a:solidFill>
                  <a:srgbClr val="333333"/>
                </a:solidFill>
                <a:latin typeface="Calibri" pitchFamily="34" charset="0"/>
                <a:ea typeface="Calibri" pitchFamily="34" charset="-122"/>
                <a:cs typeface="Calibri" pitchFamily="34" charset="-120"/>
              </a:rPr>
              <a:t>(ters, dönmüş, bağlantısı çıkmış): Osan 2012, Holloman 2024, F-2A 2025.</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27"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r>
              <a:rPr lang="en-US" sz="800" u="sng" dirty="0">
                <a:solidFill>
                  <a:srgbClr val="0B5F85"/>
                </a:solidFill>
                <a:latin typeface="Calibri" pitchFamily="34" charset="0"/>
                <a:ea typeface="Calibri" pitchFamily="34" charset="-122"/>
                <a:cs typeface="Calibri" pitchFamily="34" charset="-120"/>
                <a:hlinkClick r:id="rId28" invalidUrl="" action="" tgtFrame="" tooltip="USAF AIB — F-16C 87-0358, Holloman AFB, 30 Apr 2024 (F100-PW-220, turned stage-5 VSV)" history="1" highlightClick="0" endSnd="0">
                  <a:extLst>
                    <a:ext uri="{A12FA001-AC4F-418D-AE19-62706E023703}">
                      <ahyp:hlinkClr xmlns:ahyp="http://schemas.microsoft.com/office/drawing/2018/hyperlinkcolor" val="tx"/>
                    </a:ext>
                  </a:extLst>
                </a:hlinkClick>
              </a:rPr>
              <a:t>[14]</a:t>
            </a:r>
            <a:r>
              <a:rPr lang="en-US" sz="800" u="sng" dirty="0">
                <a:solidFill>
                  <a:srgbClr val="0B5F85"/>
                </a:solidFill>
                <a:latin typeface="Calibri" pitchFamily="34" charset="0"/>
                <a:ea typeface="Calibri" pitchFamily="34" charset="-122"/>
                <a:cs typeface="Calibri" pitchFamily="34" charset="-120"/>
                <a:hlinkClick r:id="rId29" invalidUrl="" action="" tgtFrame="" tooltip="Japan MoD — JASDF F-2A, Hyakuri, 7 Aug 2025 (VSV lever-arm pin / connecting link)" history="1" highlightClick="0" endSnd="0">
                  <a:extLst>
                    <a:ext uri="{A12FA001-AC4F-418D-AE19-62706E023703}">
                      <ahyp:hlinkClr xmlns:ahyp="http://schemas.microsoft.com/office/drawing/2018/hyperlinkcolor" val="tx"/>
                    </a:ext>
                  </a:extLst>
                </a:hlinkClick>
              </a:rPr>
              <a:t>[15]</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Tek motorlu platformda thrust kaybı = uçak kaybı: </a:t>
            </a:r>
            <a:r>
              <a:rPr lang="en-US" sz="1050" dirty="0">
                <a:solidFill>
                  <a:srgbClr val="333333"/>
                </a:solidFill>
                <a:latin typeface="Calibri" pitchFamily="34" charset="0"/>
                <a:ea typeface="Calibri" pitchFamily="34" charset="-122"/>
                <a:cs typeface="Calibri" pitchFamily="34" charset="-120"/>
              </a:rPr>
              <a:t>sivilde “Minor”, ENSIP'te safety-critical. F100: F-15'te 45, F-16'da 70 kritik parça.</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30"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31" invalidUrl="" action="" tgtFrame="" tooltip="14 CFR 33.75 — Safety analysis (thrust loss = Minor engine effect)" history="1" highlightClick="0" endSnd="0">
                  <a:extLst>
                    <a:ext uri="{A12FA001-AC4F-418D-AE19-62706E023703}">
                      <ahyp:hlinkClr xmlns:ahyp="http://schemas.microsoft.com/office/drawing/2018/hyperlinkcolor" val="tx"/>
                    </a:ext>
                  </a:extLst>
                </a:hlinkClick>
              </a:rPr>
              <a:t>[9]</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Case = pressure vessel + containment + son Ti-fire bariyeri: </a:t>
            </a:r>
            <a:r>
              <a:rPr lang="en-US" sz="1050" dirty="0">
                <a:solidFill>
                  <a:srgbClr val="333333"/>
                </a:solidFill>
                <a:latin typeface="Calibri" pitchFamily="34" charset="0"/>
                <a:ea typeface="Calibri" pitchFamily="34" charset="-122"/>
                <a:cs typeface="Calibri" pitchFamily="34" charset="-120"/>
              </a:rPr>
              <a:t>CFM56-7B'de ~%60, F-15E'de ~360° burn-through.</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32" invalidUrl="" action="" tgtFrame="" tooltip="NTSB ENG19IA013 — Powerplant Group Chairman's Factual Report, 2020" history="1" highlightClick="0" endSnd="0">
                  <a:extLst>
                    <a:ext uri="{A12FA001-AC4F-418D-AE19-62706E023703}">
                      <ahyp:hlinkClr xmlns:ahyp="http://schemas.microsoft.com/office/drawing/2018/hyperlinkcolor" val="tx"/>
                    </a:ext>
                  </a:extLst>
                </a:hlinkClick>
              </a:rPr>
              <a:t>[17]</a:t>
            </a:r>
            <a:r>
              <a:rPr lang="en-US" sz="800" u="sng" dirty="0">
                <a:solidFill>
                  <a:srgbClr val="0B5F85"/>
                </a:solidFill>
                <a:latin typeface="Calibri" pitchFamily="34" charset="0"/>
                <a:ea typeface="Calibri" pitchFamily="34" charset="-122"/>
                <a:cs typeface="Calibri" pitchFamily="34" charset="-120"/>
                <a:hlinkClick r:id="rId33" invalidUrl="" action="" tgtFrame="" tooltip="USAF AIB — F-15E 90-0254, 3 May 2012 (titanium fire, ~360° case burn-through)" history="1" highlightClick="0" endSnd="0">
                  <a:extLst>
                    <a:ext uri="{A12FA001-AC4F-418D-AE19-62706E023703}">
                      <ahyp:hlinkClr xmlns:ahyp="http://schemas.microsoft.com/office/drawing/2018/hyperlinkcolor" val="tx"/>
                    </a:ext>
                  </a:extLst>
                </a:hlinkClick>
              </a:rPr>
              <a:t>[18]</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Çatlaklar boss, port ve flange bolt hole'lerinden başlıyor, </a:t>
            </a:r>
            <a:r>
              <a:rPr lang="en-US" sz="1050" dirty="0">
                <a:solidFill>
                  <a:srgbClr val="333333"/>
                </a:solidFill>
                <a:latin typeface="Calibri" pitchFamily="34" charset="0"/>
                <a:ea typeface="Calibri" pitchFamily="34" charset="-122"/>
                <a:cs typeface="Calibri" pitchFamily="34" charset="-120"/>
              </a:rPr>
              <a:t>düz shell'den değil (incelenen tüm sivil casing AD'leri).</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34" invalidUrl="" action="" tgtFrame="" tooltip="FAA AD 2005-23-09 — CF6-80E1 HPC case aft mount flange, bolt-hole spotface cracks" history="1" highlightClick="0" endSnd="0">
                  <a:extLst>
                    <a:ext uri="{A12FA001-AC4F-418D-AE19-62706E023703}">
                      <ahyp:hlinkClr xmlns:ahyp="http://schemas.microsoft.com/office/drawing/2018/hyperlinkcolor" val="tx"/>
                    </a:ext>
                  </a:extLst>
                </a:hlinkClick>
              </a:rPr>
              <a:t>[24]</a:t>
            </a:r>
            <a:r>
              <a:rPr lang="en-US" sz="800" u="sng" dirty="0">
                <a:solidFill>
                  <a:srgbClr val="0B5F85"/>
                </a:solidFill>
                <a:latin typeface="Calibri" pitchFamily="34" charset="0"/>
                <a:ea typeface="Calibri" pitchFamily="34" charset="-122"/>
                <a:cs typeface="Calibri" pitchFamily="34" charset="-120"/>
                <a:hlinkClick r:id="rId35" invalidUrl="" action="" tgtFrame="" tooltip="NTSB ENG12IA001 — PW2037 diffuser case M-flange bolt-hole rupture, 2011" history="1" highlightClick="0" endSnd="0">
                  <a:extLst>
                    <a:ext uri="{A12FA001-AC4F-418D-AE19-62706E023703}">
                      <ahyp:hlinkClr xmlns:ahyp="http://schemas.microsoft.com/office/drawing/2018/hyperlinkcolor" val="tx"/>
                    </a:ext>
                  </a:extLst>
                </a:hlinkClick>
              </a:rPr>
              <a:t>[25]</a:t>
            </a:r>
            <a:endParaRPr lang="en-US" sz="1050" dirty="0"/>
          </a:p>
        </p:txBody>
      </p:sp>
      <p:sp>
        <p:nvSpPr>
          <p:cNvPr id="28" name="Text 25"/>
          <p:cNvSpPr txBox="1"/>
          <p:nvPr/>
        </p:nvSpPr>
        <p:spPr>
          <a:xfrm>
            <a:off x="6812280" y="4133088"/>
            <a:ext cx="4983480" cy="310896"/>
          </a:xfrm>
          <a:prstGeom prst="rect">
            <a:avLst/>
          </a:prstGeom>
          <a:noFill/>
          <a:ln/>
        </p:spPr>
        <p:txBody>
          <a:bodyPr wrap="square" lIns="0" tIns="0" rIns="0" bIns="0" rtlCol="0" anchor="t"/>
          <a:lstStyle/>
          <a:p>
            <a:pPr indent="0" marL="0">
              <a:buNone/>
            </a:pPr>
            <a:r>
              <a:rPr lang="en-US" sz="1500" b="1" dirty="0">
                <a:solidFill>
                  <a:srgbClr val="3A3A3A"/>
                </a:solidFill>
                <a:latin typeface="Calibri" pitchFamily="34" charset="0"/>
                <a:ea typeface="Calibri" pitchFamily="34" charset="-122"/>
                <a:cs typeface="Calibri" pitchFamily="34" charset="-120"/>
              </a:rPr>
              <a:t>RİSKLER:</a:t>
            </a:r>
            <a:endParaRPr lang="en-US" sz="1500" dirty="0"/>
          </a:p>
        </p:txBody>
      </p:sp>
      <p:sp>
        <p:nvSpPr>
          <p:cNvPr id="29" name="Text 26"/>
          <p:cNvSpPr txBox="1"/>
          <p:nvPr/>
        </p:nvSpPr>
        <p:spPr>
          <a:xfrm>
            <a:off x="6812280" y="4462272"/>
            <a:ext cx="4983480" cy="1892808"/>
          </a:xfrm>
          <a:prstGeom prst="rect">
            <a:avLst/>
          </a:prstGeom>
          <a:noFill/>
          <a:ln/>
        </p:spPr>
        <p:txBody>
          <a:bodyPr wrap="square" lIns="0" tIns="0" rIns="0" bIns="0" rtlCol="0" anchor="t"/>
          <a:lstStyle/>
          <a:p>
            <a:pPr marL="165100" indent="-165100">
              <a:spcAft>
                <a:spcPts val="450"/>
              </a:spcAft>
              <a:buSzPct val="100000"/>
              <a:buChar char="•"/>
            </a:pPr>
            <a:r>
              <a:rPr lang="en-US" sz="1050" b="1" dirty="0">
                <a:solidFill>
                  <a:srgbClr val="333333"/>
                </a:solidFill>
                <a:latin typeface="Calibri" pitchFamily="34" charset="0"/>
                <a:ea typeface="Calibri" pitchFamily="34" charset="-122"/>
                <a:cs typeface="Calibri" pitchFamily="34" charset="-120"/>
              </a:rPr>
              <a:t>Off-nominal geometri design load case olarak tanımlı değil </a:t>
            </a:r>
            <a:r>
              <a:rPr lang="en-US" sz="1050" dirty="0">
                <a:solidFill>
                  <a:srgbClr val="333333"/>
                </a:solidFill>
                <a:latin typeface="Calibri" pitchFamily="34" charset="0"/>
                <a:ea typeface="Calibri" pitchFamily="34" charset="-122"/>
                <a:cs typeface="Calibri" pitchFamily="34" charset="-120"/>
              </a:rPr>
              <a:t>(turned vane, missing nut, reversed sector, worn-bushing tilt, rigging extremes) → geç keşif, yeniden tasarım.</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36" invalidUrl="" action="" tgtFrame="" tooltip="MIL-STD-3024 — Propulsion System Integrity Program (PSIP), 2008" history="1" highlightClick="0" endSnd="0">
                  <a:extLst>
                    <a:ext uri="{A12FA001-AC4F-418D-AE19-62706E023703}">
                      <ahyp:hlinkClr xmlns:ahyp="http://schemas.microsoft.com/office/drawing/2018/hyperlinkcolor" val="tx"/>
                    </a:ext>
                  </a:extLst>
                </a:hlinkClick>
              </a:rPr>
              <a:t>[3]</a:t>
            </a:r>
            <a:r>
              <a:rPr lang="en-US" sz="800" u="sng" dirty="0">
                <a:solidFill>
                  <a:srgbClr val="0B5F85"/>
                </a:solidFill>
                <a:latin typeface="Calibri" pitchFamily="34" charset="0"/>
                <a:ea typeface="Calibri" pitchFamily="34" charset="-122"/>
                <a:cs typeface="Calibri" pitchFamily="34" charset="-120"/>
                <a:hlinkClick r:id="rId37" invalidUrl="" action="" tgtFrame="" tooltip="EASA CS-E — Easy Access Rules for Engines (CS-E 510 / 515 / 640 / 650, AMC E 130)" history="1" highlightClick="0" endSnd="0">
                  <a:extLst>
                    <a:ext uri="{A12FA001-AC4F-418D-AE19-62706E023703}">
                      <ahyp:hlinkClr xmlns:ahyp="http://schemas.microsoft.com/office/drawing/2018/hyperlinkcolor" val="tx"/>
                    </a:ext>
                  </a:extLst>
                </a:hlinkClick>
              </a:rPr>
              <a:t>[11]</a:t>
            </a:r>
            <a:endParaRPr lang="en-US" sz="1050" dirty="0"/>
          </a:p>
          <a:p>
            <a:pPr marL="165100" indent="-165100">
              <a:spcAft>
                <a:spcPts val="450"/>
              </a:spcAft>
              <a:buSzPct val="100000"/>
              <a:buChar char="•"/>
            </a:pPr>
            <a:r>
              <a:rPr lang="en-US" sz="1050" b="1" dirty="0">
                <a:solidFill>
                  <a:srgbClr val="333333"/>
                </a:solidFill>
                <a:latin typeface="Calibri" pitchFamily="34" charset="0"/>
                <a:ea typeface="Calibri" pitchFamily="34" charset="-122"/>
                <a:cs typeface="Calibri" pitchFamily="34" charset="-120"/>
              </a:rPr>
              <a:t>Montaj hatası + inspection blind spot: </a:t>
            </a:r>
            <a:r>
              <a:rPr lang="en-US" sz="1050" dirty="0">
                <a:solidFill>
                  <a:srgbClr val="333333"/>
                </a:solidFill>
                <a:latin typeface="Calibri" pitchFamily="34" charset="0"/>
                <a:ea typeface="Calibri" pitchFamily="34" charset="-122"/>
                <a:cs typeface="Calibri" pitchFamily="34" charset="-120"/>
              </a:rPr>
              <a:t>borescope erişimi olmayan stage'de Tier-1 hata görünmez kalıyor.</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38"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r>
              <a:rPr lang="en-US" sz="800" u="sng" dirty="0">
                <a:solidFill>
                  <a:srgbClr val="0B5F85"/>
                </a:solidFill>
                <a:latin typeface="Calibri" pitchFamily="34" charset="0"/>
                <a:ea typeface="Calibri" pitchFamily="34" charset="-122"/>
                <a:cs typeface="Calibri" pitchFamily="34" charset="-120"/>
                <a:hlinkClick r:id="rId39" invalidUrl="" action="" tgtFrame="" tooltip="USAF AIB — F-16C 87-0358, Holloman AFB, 30 Apr 2024 (F100-PW-220, turned stage-5 VSV)" history="1" highlightClick="0" endSnd="0">
                  <a:extLst>
                    <a:ext uri="{A12FA001-AC4F-418D-AE19-62706E023703}">
                      <ahyp:hlinkClr xmlns:ahyp="http://schemas.microsoft.com/office/drawing/2018/hyperlinkcolor" val="tx"/>
                    </a:ext>
                  </a:extLst>
                </a:hlinkClick>
              </a:rPr>
              <a:t>[14]</a:t>
            </a:r>
            <a:endParaRPr lang="en-US" sz="1050" dirty="0"/>
          </a:p>
          <a:p>
            <a:pPr marL="165100" indent="-165100">
              <a:spcAft>
                <a:spcPts val="450"/>
              </a:spcAft>
              <a:buSzPct val="100000"/>
              <a:buChar char="•"/>
            </a:pPr>
            <a:r>
              <a:rPr lang="en-US" sz="1050" b="1" dirty="0">
                <a:solidFill>
                  <a:srgbClr val="333333"/>
                </a:solidFill>
                <a:latin typeface="Calibri" pitchFamily="34" charset="0"/>
                <a:ea typeface="Calibri" pitchFamily="34" charset="-122"/>
                <a:cs typeface="Calibri" pitchFamily="34" charset="-120"/>
              </a:rPr>
              <a:t>VSV bore / bushing korozyon &amp; aşınması common-mode: </a:t>
            </a:r>
            <a:r>
              <a:rPr lang="en-US" sz="1050" dirty="0">
                <a:solidFill>
                  <a:srgbClr val="333333"/>
                </a:solidFill>
                <a:latin typeface="Calibri" pitchFamily="34" charset="0"/>
                <a:ea typeface="Calibri" pitchFamily="34" charset="-122"/>
                <a:cs typeface="Calibri" pitchFamily="34" charset="-120"/>
              </a:rPr>
              <a:t>çift motorda bile loss of thrust control yaşandı.</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40" invalidUrl="" action="" tgtFrame="" tooltip="FAA AD 2017-14-08 — CFM56-3 VSV bore corrosion, dual-engine loss of thrust control" history="1" highlightClick="0" endSnd="0">
                  <a:extLst>
                    <a:ext uri="{A12FA001-AC4F-418D-AE19-62706E023703}">
                      <ahyp:hlinkClr xmlns:ahyp="http://schemas.microsoft.com/office/drawing/2018/hyperlinkcolor" val="tx"/>
                    </a:ext>
                  </a:extLst>
                </a:hlinkClick>
              </a:rPr>
              <a:t>[19]</a:t>
            </a:r>
            <a:r>
              <a:rPr lang="en-US" sz="800" u="sng" dirty="0">
                <a:solidFill>
                  <a:srgbClr val="0B5F85"/>
                </a:solidFill>
                <a:latin typeface="Calibri" pitchFamily="34" charset="0"/>
                <a:ea typeface="Calibri" pitchFamily="34" charset="-122"/>
                <a:cs typeface="Calibri" pitchFamily="34" charset="-120"/>
                <a:hlinkClick r:id="rId41" invalidUrl="" action="" tgtFrame="" tooltip="FAA AD 2022-08-06 — CF34-8C/-8E variable-geometry corrosion, FADEC idle-lock" history="1" highlightClick="0" endSnd="0">
                  <a:extLst>
                    <a:ext uri="{A12FA001-AC4F-418D-AE19-62706E023703}">
                      <ahyp:hlinkClr xmlns:ahyp="http://schemas.microsoft.com/office/drawing/2018/hyperlinkcolor" val="tx"/>
                    </a:ext>
                  </a:extLst>
                </a:hlinkClick>
              </a:rPr>
              <a:t>[20]</a:t>
            </a:r>
            <a:r>
              <a:rPr lang="en-US" sz="800" u="sng" dirty="0">
                <a:solidFill>
                  <a:srgbClr val="0B5F85"/>
                </a:solidFill>
                <a:latin typeface="Calibri" pitchFamily="34" charset="0"/>
                <a:ea typeface="Calibri" pitchFamily="34" charset="-122"/>
                <a:cs typeface="Calibri" pitchFamily="34" charset="-120"/>
                <a:hlinkClick r:id="rId42" invalidUrl="" action="" tgtFrame="" tooltip="NTSB ERA24FA110 — CL604 / CF34-3B, VSV spindle-bore corrosion, dual-engine stall, 2024" history="1" highlightClick="0" endSnd="0">
                  <a:extLst>
                    <a:ext uri="{A12FA001-AC4F-418D-AE19-62706E023703}">
                      <ahyp:hlinkClr xmlns:ahyp="http://schemas.microsoft.com/office/drawing/2018/hyperlinkcolor" val="tx"/>
                    </a:ext>
                  </a:extLst>
                </a:hlinkClick>
              </a:rPr>
              <a:t>[22]</a:t>
            </a:r>
            <a:endParaRPr lang="en-US" sz="1050" dirty="0"/>
          </a:p>
          <a:p>
            <a:pPr marL="165100" indent="-165100">
              <a:spcAft>
                <a:spcPts val="450"/>
              </a:spcAft>
              <a:buSzPct val="100000"/>
              <a:buChar char="•"/>
            </a:pPr>
            <a:r>
              <a:rPr lang="en-US" sz="1050" b="1" dirty="0">
                <a:solidFill>
                  <a:srgbClr val="333333"/>
                </a:solidFill>
                <a:latin typeface="Calibri" pitchFamily="34" charset="0"/>
                <a:ea typeface="Calibri" pitchFamily="34" charset="-122"/>
                <a:cs typeface="Calibri" pitchFamily="34" charset="-120"/>
              </a:rPr>
              <a:t>Requirement basis belirsiz: </a:t>
            </a:r>
            <a:r>
              <a:rPr lang="en-US" sz="1050" dirty="0">
                <a:solidFill>
                  <a:srgbClr val="333333"/>
                </a:solidFill>
                <a:latin typeface="Calibri" pitchFamily="34" charset="0"/>
                <a:ea typeface="Calibri" pitchFamily="34" charset="-122"/>
                <a:cs typeface="Calibri" pitchFamily="34" charset="-120"/>
              </a:rPr>
              <a:t>ENSIP guidance (tailoring şart); 2.0×MOP ile sivil 33.64 faktörleri farklı rejimler.</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43"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44" invalidUrl="" action="" tgtFrame="" tooltip="14 CFR 33.64 — Pressurized engine static parts" history="1" highlightClick="0" endSnd="0">
                  <a:extLst>
                    <a:ext uri="{A12FA001-AC4F-418D-AE19-62706E023703}">
                      <ahyp:hlinkClr xmlns:ahyp="http://schemas.microsoft.com/office/drawing/2018/hyperlinkcolor" val="tx"/>
                    </a:ext>
                  </a:extLst>
                </a:hlinkClick>
              </a:rPr>
              <a:t>[6]</a:t>
            </a:r>
            <a:r>
              <a:rPr lang="en-US" sz="800" u="sng" dirty="0">
                <a:solidFill>
                  <a:srgbClr val="0B5F85"/>
                </a:solidFill>
                <a:latin typeface="Calibri" pitchFamily="34" charset="0"/>
                <a:ea typeface="Calibri" pitchFamily="34" charset="-122"/>
                <a:cs typeface="Calibri" pitchFamily="34" charset="-120"/>
                <a:hlinkClick r:id="rId45" invalidUrl="" action="" tgtFrame="" tooltip="DLA ASSIST — JSSG-2007 doküman durumu (Rev D, 2020; kısıtlı dağıtım)" history="1" highlightClick="0" endSnd="0">
                  <a:extLst>
                    <a:ext uri="{A12FA001-AC4F-418D-AE19-62706E023703}">
                      <ahyp:hlinkClr xmlns:ahyp="http://schemas.microsoft.com/office/drawing/2018/hyperlinkcolor" val="tx"/>
                    </a:ext>
                  </a:extLst>
                </a:hlinkClick>
              </a:rPr>
              <a:t>[27]</a:t>
            </a:r>
            <a:endParaRPr lang="en-US" sz="1050" dirty="0"/>
          </a:p>
          <a:p>
            <a:pPr marL="165100" indent="-165100">
              <a:spcAft>
                <a:spcPts val="450"/>
              </a:spcAft>
              <a:buSzPct val="100000"/>
              <a:buChar char="•"/>
            </a:pPr>
            <a:r>
              <a:rPr lang="en-US" sz="1050" b="1" dirty="0">
                <a:solidFill>
                  <a:srgbClr val="333333"/>
                </a:solidFill>
                <a:latin typeface="Calibri" pitchFamily="34" charset="0"/>
                <a:ea typeface="Calibri" pitchFamily="34" charset="-122"/>
                <a:cs typeface="Calibri" pitchFamily="34" charset="-120"/>
              </a:rPr>
              <a:t>Bilgi sürekliliği: </a:t>
            </a:r>
            <a:r>
              <a:rPr lang="en-US" sz="1050" dirty="0">
                <a:solidFill>
                  <a:srgbClr val="333333"/>
                </a:solidFill>
                <a:latin typeface="Calibri" pitchFamily="34" charset="0"/>
                <a:ea typeface="Calibri" pitchFamily="34" charset="-122"/>
                <a:cs typeface="Calibri" pitchFamily="34" charset="-120"/>
              </a:rPr>
              <a:t>önceki ekibin yük / ömür / sınıflandırma varsayımları devralınmadan sınıflama yapılırsa tutarsızlık ve tekrar iş.</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66928"/>
          </a:xfrm>
          <a:prstGeom prst="rect">
            <a:avLst/>
          </a:prstGeom>
          <a:noFill/>
          <a:ln/>
        </p:spPr>
        <p:txBody>
          <a:bodyPr wrap="square" lIns="0" tIns="0" rIns="0" bIns="0" rtlCol="0" anchor="ctr"/>
          <a:lstStyle/>
          <a:p>
            <a:pPr indent="0" marL="0">
              <a:buNone/>
            </a:pPr>
            <a:r>
              <a:rPr lang="en-US" sz="3000" b="1" dirty="0">
                <a:solidFill>
                  <a:srgbClr val="3A3A3A"/>
                </a:solidFill>
                <a:latin typeface="Calibri" pitchFamily="34" charset="0"/>
                <a:ea typeface="Calibri" pitchFamily="34" charset="-122"/>
                <a:cs typeface="Calibri" pitchFamily="34" charset="-120"/>
              </a:rPr>
              <a:t>SUBSTANTIATION &amp; FEA YOL HARİTASI – PDR GİRDİSİ</a:t>
            </a:r>
            <a:endParaRPr lang="en-US" sz="3000" dirty="0"/>
          </a:p>
        </p:txBody>
      </p:sp>
      <p:sp>
        <p:nvSpPr>
          <p:cNvPr id="3" name="Text 1"/>
          <p:cNvSpPr txBox="1"/>
          <p:nvPr/>
        </p:nvSpPr>
        <p:spPr>
          <a:xfrm>
            <a:off x="429768" y="768096"/>
            <a:ext cx="11338560" cy="292608"/>
          </a:xfrm>
          <a:prstGeom prst="rect">
            <a:avLst/>
          </a:prstGeom>
          <a:noFill/>
          <a:ln/>
        </p:spPr>
        <p:txBody>
          <a:bodyPr wrap="square" lIns="0" tIns="0" rIns="0" bIns="0" rtlCol="0" anchor="ctr"/>
          <a:lstStyle/>
          <a:p>
            <a:pPr indent="0" marL="0">
              <a:buNone/>
            </a:pPr>
            <a:r>
              <a:rPr lang="en-US" sz="1350" i="1" dirty="0">
                <a:solidFill>
                  <a:srgbClr val="1F6678"/>
                </a:solidFill>
                <a:latin typeface="Calibri" pitchFamily="34" charset="0"/>
                <a:ea typeface="Calibri" pitchFamily="34" charset="-122"/>
                <a:cs typeface="Calibri" pitchFamily="34" charset="-120"/>
              </a:rPr>
              <a:t>Hangi analiz, hangi test ile kapanır?  |  FEA iş paketleri, karar talepleri ve açık konular</a:t>
            </a:r>
            <a:endParaRPr lang="en-US" sz="1350" dirty="0"/>
          </a:p>
        </p:txBody>
      </p:sp>
      <p:sp>
        <p:nvSpPr>
          <p:cNvPr id="4" name="Text 2"/>
          <p:cNvSpPr txBox="1"/>
          <p:nvPr/>
        </p:nvSpPr>
        <p:spPr>
          <a:xfrm>
            <a:off x="411480" y="6473952"/>
            <a:ext cx="8686800" cy="228600"/>
          </a:xfrm>
          <a:prstGeom prst="rect">
            <a:avLst/>
          </a:prstGeom>
          <a:noFill/>
          <a:ln/>
        </p:spPr>
        <p:txBody>
          <a:bodyPr wrap="square" lIns="0" tIns="0" rIns="0" bIns="0" rtlCol="0" anchor="ctr"/>
          <a:lstStyle/>
          <a:p>
            <a:pPr indent="0" marL="0">
              <a:buNone/>
            </a:pPr>
            <a:r>
              <a:rPr lang="en-US" sz="900" dirty="0">
                <a:solidFill>
                  <a:srgbClr val="6B7780"/>
                </a:solidFill>
                <a:latin typeface="Calibri" pitchFamily="34" charset="0"/>
                <a:ea typeface="Calibri" pitchFamily="34" charset="-122"/>
                <a:cs typeface="Calibri" pitchFamily="34" charset="-120"/>
              </a:rPr>
              <a:t>Sınıflandırma: </a:t>
            </a:r>
            <a:r>
              <a:rPr lang="en-US" sz="900" dirty="0">
                <a:solidFill>
                  <a:srgbClr val="1F6678"/>
                </a:solidFill>
                <a:latin typeface="Calibri" pitchFamily="34" charset="0"/>
                <a:ea typeface="Calibri" pitchFamily="34" charset="-122"/>
                <a:cs typeface="Calibri" pitchFamily="34" charset="-120"/>
              </a:rPr>
              <a:t>Tasnif Dışı</a:t>
            </a:r>
            <a:r>
              <a:rPr lang="en-US" sz="900" dirty="0">
                <a:solidFill>
                  <a:srgbClr val="6B7780"/>
                </a:solidFill>
                <a:latin typeface="Calibri" pitchFamily="34" charset="0"/>
                <a:ea typeface="Calibri" pitchFamily="34" charset="-122"/>
                <a:cs typeface="Calibri" pitchFamily="34" charset="-120"/>
              </a:rPr>
              <a:t>   |   Kaynak: kamuya açık literatür taraması – program bulgusu değildir</a:t>
            </a:r>
            <a:endParaRPr lang="en-US" sz="900" dirty="0"/>
          </a:p>
        </p:txBody>
      </p:sp>
      <p:sp>
        <p:nvSpPr>
          <p:cNvPr id="5" name="Text 3"/>
          <p:cNvSpPr txBox="1"/>
          <p:nvPr/>
        </p:nvSpPr>
        <p:spPr>
          <a:xfrm>
            <a:off x="11247120" y="6473952"/>
            <a:ext cx="548640" cy="228600"/>
          </a:xfrm>
          <a:prstGeom prst="rect">
            <a:avLst/>
          </a:prstGeom>
          <a:noFill/>
          <a:ln/>
        </p:spPr>
        <p:txBody>
          <a:bodyPr wrap="square" lIns="0" tIns="0" rIns="0" bIns="0" rtlCol="0" anchor="ctr"/>
          <a:lstStyle/>
          <a:p>
            <a:pPr algn="r" indent="0" marL="0">
              <a:buNone/>
            </a:pPr>
            <a:r>
              <a:rPr lang="en-US" sz="900" dirty="0">
                <a:solidFill>
                  <a:srgbClr val="6B77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6583680" y="1188720"/>
            <a:ext cx="0" cy="5166360"/>
          </a:xfrm>
          <a:prstGeom prst="line">
            <a:avLst/>
          </a:prstGeom>
          <a:noFill/>
          <a:ln w="38100">
            <a:solidFill>
              <a:srgbClr val="1F6678"/>
            </a:solidFill>
            <a:prstDash val="solid"/>
          </a:ln>
        </p:spPr>
      </p:sp>
      <p:sp>
        <p:nvSpPr>
          <p:cNvPr id="7" name="Shape 5"/>
          <p:cNvSpPr/>
          <p:nvPr/>
        </p:nvSpPr>
        <p:spPr>
          <a:xfrm>
            <a:off x="6812280" y="4114800"/>
            <a:ext cx="4983480" cy="0"/>
          </a:xfrm>
          <a:prstGeom prst="line">
            <a:avLst/>
          </a:prstGeom>
          <a:noFill/>
          <a:ln w="25400">
            <a:solidFill>
              <a:srgbClr val="1F6678"/>
            </a:solidFill>
            <a:prstDash val="dash"/>
          </a:ln>
        </p:spPr>
      </p:sp>
      <p:sp>
        <p:nvSpPr>
          <p:cNvPr id="8" name="Shape 6"/>
          <p:cNvSpPr/>
          <p:nvPr/>
        </p:nvSpPr>
        <p:spPr>
          <a:xfrm>
            <a:off x="411480" y="1188720"/>
            <a:ext cx="5989320" cy="1417320"/>
          </a:xfrm>
          <a:prstGeom prst="rect">
            <a:avLst/>
          </a:prstGeom>
          <a:solidFill>
            <a:srgbClr val="3C4B56"/>
          </a:solidFill>
          <a:ln w="12700">
            <a:solidFill>
              <a:srgbClr val="3C4B56"/>
            </a:solidFill>
            <a:prstDash val="solid"/>
          </a:ln>
        </p:spPr>
      </p:sp>
      <p:sp>
        <p:nvSpPr>
          <p:cNvPr id="9" name="Text 7"/>
          <p:cNvSpPr txBox="1"/>
          <p:nvPr/>
        </p:nvSpPr>
        <p:spPr>
          <a:xfrm>
            <a:off x="548640" y="1261872"/>
            <a:ext cx="57150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KANIT ZİNCİRİ – belirsizliği engine test'e bırakmadan kademeli kapat</a:t>
            </a:r>
            <a:endParaRPr lang="en-US" sz="1100" dirty="0"/>
          </a:p>
        </p:txBody>
      </p:sp>
      <p:sp>
        <p:nvSpPr>
          <p:cNvPr id="10" name="Shape 8"/>
          <p:cNvSpPr/>
          <p:nvPr/>
        </p:nvSpPr>
        <p:spPr>
          <a:xfrm>
            <a:off x="548640" y="1581912"/>
            <a:ext cx="996696" cy="896112"/>
          </a:xfrm>
          <a:prstGeom prst="roundRect">
            <a:avLst>
              <a:gd name="adj" fmla="val 5102"/>
            </a:avLst>
          </a:prstGeom>
          <a:solidFill>
            <a:srgbClr val="2E8299"/>
          </a:solidFill>
          <a:ln w="12700">
            <a:solidFill>
              <a:srgbClr val="2E8299"/>
            </a:solidFill>
            <a:prstDash val="solid"/>
          </a:ln>
        </p:spPr>
      </p:sp>
      <p:sp>
        <p:nvSpPr>
          <p:cNvPr id="11" name="Text 9"/>
          <p:cNvSpPr txBox="1"/>
          <p:nvPr/>
        </p:nvSpPr>
        <p:spPr>
          <a:xfrm>
            <a:off x="548640" y="1581912"/>
            <a:ext cx="996696" cy="896112"/>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PDR (şimdi)</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requirement basis + tailoring; kritik parça listesi; off-nominal case listesi</a:t>
            </a:r>
            <a:endParaRPr lang="en-US" sz="850" dirty="0"/>
          </a:p>
        </p:txBody>
      </p:sp>
      <p:sp>
        <p:nvSpPr>
          <p:cNvPr id="12" name="Shape 10"/>
          <p:cNvSpPr/>
          <p:nvPr/>
        </p:nvSpPr>
        <p:spPr>
          <a:xfrm>
            <a:off x="1568196" y="1956816"/>
            <a:ext cx="137160" cy="146304"/>
          </a:xfrm>
          <a:prstGeom prst="rightArrow">
            <a:avLst/>
          </a:prstGeom>
          <a:solidFill>
            <a:srgbClr val="C9D6DD"/>
          </a:solidFill>
          <a:ln w="12700">
            <a:solidFill>
              <a:srgbClr val="C9D6DD"/>
            </a:solidFill>
            <a:prstDash val="solid"/>
          </a:ln>
        </p:spPr>
      </p:sp>
      <p:sp>
        <p:nvSpPr>
          <p:cNvPr id="13" name="Shape 11"/>
          <p:cNvSpPr/>
          <p:nvPr/>
        </p:nvSpPr>
        <p:spPr>
          <a:xfrm>
            <a:off x="1728216" y="1581912"/>
            <a:ext cx="996696" cy="896112"/>
          </a:xfrm>
          <a:prstGeom prst="roundRect">
            <a:avLst>
              <a:gd name="adj" fmla="val 5102"/>
            </a:avLst>
          </a:prstGeom>
          <a:solidFill>
            <a:srgbClr val="56697A"/>
          </a:solidFill>
          <a:ln w="12700">
            <a:solidFill>
              <a:srgbClr val="56697A"/>
            </a:solidFill>
            <a:prstDash val="solid"/>
          </a:ln>
        </p:spPr>
      </p:sp>
      <p:sp>
        <p:nvSpPr>
          <p:cNvPr id="14" name="Text 12"/>
          <p:cNvSpPr txBox="1"/>
          <p:nvPr/>
        </p:nvSpPr>
        <p:spPr>
          <a:xfrm>
            <a:off x="1728216" y="1581912"/>
            <a:ext cx="996696" cy="896112"/>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CDR</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analiz yöntemi, malzeme / proses, korelasyon &amp; enstrümantasyon planı freeze</a:t>
            </a:r>
            <a:endParaRPr lang="en-US" sz="850" dirty="0"/>
          </a:p>
        </p:txBody>
      </p:sp>
      <p:sp>
        <p:nvSpPr>
          <p:cNvPr id="15" name="Shape 13"/>
          <p:cNvSpPr/>
          <p:nvPr/>
        </p:nvSpPr>
        <p:spPr>
          <a:xfrm>
            <a:off x="2747772" y="1956816"/>
            <a:ext cx="137160" cy="146304"/>
          </a:xfrm>
          <a:prstGeom prst="rightArrow">
            <a:avLst/>
          </a:prstGeom>
          <a:solidFill>
            <a:srgbClr val="C9D6DD"/>
          </a:solidFill>
          <a:ln w="12700">
            <a:solidFill>
              <a:srgbClr val="C9D6DD"/>
            </a:solidFill>
            <a:prstDash val="solid"/>
          </a:ln>
        </p:spPr>
      </p:sp>
      <p:sp>
        <p:nvSpPr>
          <p:cNvPr id="16" name="Shape 14"/>
          <p:cNvSpPr/>
          <p:nvPr/>
        </p:nvSpPr>
        <p:spPr>
          <a:xfrm>
            <a:off x="2907792" y="1581912"/>
            <a:ext cx="996696" cy="896112"/>
          </a:xfrm>
          <a:prstGeom prst="roundRect">
            <a:avLst>
              <a:gd name="adj" fmla="val 5102"/>
            </a:avLst>
          </a:prstGeom>
          <a:solidFill>
            <a:srgbClr val="56697A"/>
          </a:solidFill>
          <a:ln w="12700">
            <a:solidFill>
              <a:srgbClr val="56697A"/>
            </a:solidFill>
            <a:prstDash val="solid"/>
          </a:ln>
        </p:spPr>
      </p:sp>
      <p:sp>
        <p:nvSpPr>
          <p:cNvPr id="17" name="Text 15"/>
          <p:cNvSpPr txBox="1"/>
          <p:nvPr/>
        </p:nvSpPr>
        <p:spPr>
          <a:xfrm>
            <a:off x="2907792" y="1581912"/>
            <a:ext cx="996696" cy="896112"/>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RIG / COMPONENT</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case pressure test, VSV wear rig, stator modal &amp; fretting</a:t>
            </a:r>
            <a:endParaRPr lang="en-US" sz="850" dirty="0"/>
          </a:p>
        </p:txBody>
      </p:sp>
      <p:sp>
        <p:nvSpPr>
          <p:cNvPr id="18" name="Shape 16"/>
          <p:cNvSpPr/>
          <p:nvPr/>
        </p:nvSpPr>
        <p:spPr>
          <a:xfrm>
            <a:off x="3927348" y="1956816"/>
            <a:ext cx="137160" cy="146304"/>
          </a:xfrm>
          <a:prstGeom prst="rightArrow">
            <a:avLst/>
          </a:prstGeom>
          <a:solidFill>
            <a:srgbClr val="C9D6DD"/>
          </a:solidFill>
          <a:ln w="12700">
            <a:solidFill>
              <a:srgbClr val="C9D6DD"/>
            </a:solidFill>
            <a:prstDash val="solid"/>
          </a:ln>
        </p:spPr>
      </p:sp>
      <p:sp>
        <p:nvSpPr>
          <p:cNvPr id="19" name="Shape 17"/>
          <p:cNvSpPr/>
          <p:nvPr/>
        </p:nvSpPr>
        <p:spPr>
          <a:xfrm>
            <a:off x="4087368" y="1581912"/>
            <a:ext cx="996696" cy="896112"/>
          </a:xfrm>
          <a:prstGeom prst="roundRect">
            <a:avLst>
              <a:gd name="adj" fmla="val 5102"/>
            </a:avLst>
          </a:prstGeom>
          <a:solidFill>
            <a:srgbClr val="56697A"/>
          </a:solidFill>
          <a:ln w="12700">
            <a:solidFill>
              <a:srgbClr val="56697A"/>
            </a:solidFill>
            <a:prstDash val="solid"/>
          </a:ln>
        </p:spPr>
      </p:sp>
      <p:sp>
        <p:nvSpPr>
          <p:cNvPr id="20" name="Text 18"/>
          <p:cNvSpPr txBox="1"/>
          <p:nvPr/>
        </p:nvSpPr>
        <p:spPr>
          <a:xfrm>
            <a:off x="4087368" y="1581912"/>
            <a:ext cx="996696" cy="896112"/>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ENGINE TEST</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strain-gauge survey, surge, AMT / endurance</a:t>
            </a:r>
            <a:endParaRPr lang="en-US" sz="850" dirty="0"/>
          </a:p>
        </p:txBody>
      </p:sp>
      <p:sp>
        <p:nvSpPr>
          <p:cNvPr id="21" name="Shape 19"/>
          <p:cNvSpPr/>
          <p:nvPr/>
        </p:nvSpPr>
        <p:spPr>
          <a:xfrm>
            <a:off x="5106924" y="1956816"/>
            <a:ext cx="137160" cy="146304"/>
          </a:xfrm>
          <a:prstGeom prst="rightArrow">
            <a:avLst/>
          </a:prstGeom>
          <a:solidFill>
            <a:srgbClr val="C9D6DD"/>
          </a:solidFill>
          <a:ln w="12700">
            <a:solidFill>
              <a:srgbClr val="C9D6DD"/>
            </a:solidFill>
            <a:prstDash val="solid"/>
          </a:ln>
        </p:spPr>
      </p:sp>
      <p:sp>
        <p:nvSpPr>
          <p:cNvPr id="22" name="Shape 20"/>
          <p:cNvSpPr/>
          <p:nvPr/>
        </p:nvSpPr>
        <p:spPr>
          <a:xfrm>
            <a:off x="5266944" y="1581912"/>
            <a:ext cx="996696" cy="896112"/>
          </a:xfrm>
          <a:prstGeom prst="roundRect">
            <a:avLst>
              <a:gd name="adj" fmla="val 5102"/>
            </a:avLst>
          </a:prstGeom>
          <a:solidFill>
            <a:srgbClr val="56697A"/>
          </a:solidFill>
          <a:ln w="12700">
            <a:solidFill>
              <a:srgbClr val="56697A"/>
            </a:solidFill>
            <a:prstDash val="solid"/>
          </a:ln>
        </p:spPr>
      </p:sp>
      <p:sp>
        <p:nvSpPr>
          <p:cNvPr id="23" name="Text 21"/>
          <p:cNvSpPr txBox="1"/>
          <p:nvPr/>
        </p:nvSpPr>
        <p:spPr>
          <a:xfrm>
            <a:off x="5266944" y="1581912"/>
            <a:ext cx="996696" cy="896112"/>
          </a:xfrm>
          <a:prstGeom prst="rect">
            <a:avLst/>
          </a:prstGeom>
          <a:noFill/>
          <a:ln/>
        </p:spPr>
        <p:txBody>
          <a:bodyPr wrap="square" lIns="508" tIns="635" rIns="635" bIns="508" rtlCol="0" anchor="t"/>
          <a:lstStyle/>
          <a:p>
            <a:pPr indent="0" marL="0">
              <a:spcAft>
                <a:spcPts val="200"/>
              </a:spcAft>
              <a:buNone/>
            </a:pPr>
            <a:r>
              <a:rPr lang="en-US" sz="850" b="1" dirty="0">
                <a:solidFill>
                  <a:srgbClr val="FFFFFF"/>
                </a:solidFill>
                <a:latin typeface="Calibri" pitchFamily="34" charset="0"/>
                <a:ea typeface="Calibri" pitchFamily="34" charset="-122"/>
                <a:cs typeface="Calibri" pitchFamily="34" charset="-120"/>
              </a:rPr>
              <a:t>TEARDOWN &amp; KORELASYON</a:t>
            </a:r>
            <a:endParaRPr lang="en-US" sz="850" dirty="0"/>
          </a:p>
          <a:p>
            <a:pPr indent="0" marL="0">
              <a:buNone/>
            </a:pPr>
            <a:r>
              <a:rPr lang="en-US" sz="850" dirty="0">
                <a:solidFill>
                  <a:srgbClr val="E6EDF1"/>
                </a:solidFill>
                <a:latin typeface="Calibri" pitchFamily="34" charset="0"/>
                <a:ea typeface="Calibri" pitchFamily="34" charset="-122"/>
                <a:cs typeface="Calibri" pitchFamily="34" charset="-120"/>
              </a:rPr>
              <a:t>model korelasyonu; ömür, inspection &amp; assembly kontrolleri</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2743200"/>
          <a:ext cx="5989320" cy="914400"/>
        </p:xfrm>
        <a:graphic>
          <a:graphicData uri="http://schemas.openxmlformats.org/drawingml/2006/table">
            <a:tbl>
              <a:tblPr/>
              <a:tblGrid>
                <a:gridCol w="1325880"/>
                <a:gridCol w="2606040"/>
                <a:gridCol w="205740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PARÇA GRUBU</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FEA / ANALİZ</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 &amp; KORELASYON</a:t>
                      </a:r>
                      <a:endParaRPr lang="en-US" sz="95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299"/>
                    </a:solidFill>
                  </a:tcPr>
                </a:tc>
              </a:tr>
              <a:tr h="560832">
                <a:tc>
                  <a:txBody>
                    <a:bodyPr/>
                    <a:lstStyle/>
                    <a:p>
                      <a:pPr indent="0" marL="0">
                        <a:buNone/>
                      </a:pPr>
                      <a:r>
                        <a:rPr lang="en-US" sz="900" b="1" dirty="0">
                          <a:solidFill>
                            <a:srgbClr val="333333"/>
                          </a:solidFill>
                          <a:latin typeface="Calibri" pitchFamily="34" charset="0"/>
                          <a:ea typeface="Calibri" pitchFamily="34" charset="-122"/>
                          <a:cs typeface="Calibri" pitchFamily="34" charset="-120"/>
                        </a:rPr>
                        <a:t>Split HPC case, flange &amp; bolted joints</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Min-property FE: 2.0×MOP + 1.5×manevra + 1.5×termal; boss / port / bolt-hole submodel; LCF + damage tolerance; ovalization &amp; clearance </a:t>
                      </a:r>
                      <a:r>
                        <a:rPr lang="en-US" sz="800" u="sng" dirty="0">
                          <a:solidFill>
                            <a:srgbClr val="0B5F85"/>
                          </a:solidFill>
                          <a:latin typeface="Calibri" pitchFamily="34" charset="0"/>
                          <a:ea typeface="Calibri" pitchFamily="34" charset="-122"/>
                          <a:cs typeface="Calibri" pitchFamily="34" charset="-120"/>
                          <a:hlinkClick r:id="rId1"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2" invalidUrl="" action="" tgtFrame="" tooltip="14 CFR 33.64 — Pressurized engine static parts" history="1" highlightClick="0" endSnd="0">
                            <a:extLst>
                              <a:ext uri="{A12FA001-AC4F-418D-AE19-62706E023703}">
                                <ahyp:hlinkClr xmlns:ahyp="http://schemas.microsoft.com/office/drawing/2018/hyperlinkcolor" val="tx"/>
                              </a:ext>
                            </a:extLst>
                          </a:hlinkClick>
                        </a:rPr>
                        <a:t>[6]</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Strain-gauged pressure test ≥ 2×MOP (max sıcaklık); cyclic pressure LCF; containment; proof 1.33–1.50×MOP</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560832">
                <a:tc>
                  <a:txBody>
                    <a:bodyPr/>
                    <a:lstStyle/>
                    <a:p>
                      <a:pPr indent="0" marL="0">
                        <a:buNone/>
                      </a:pPr>
                      <a:r>
                        <a:rPr lang="en-US" sz="900" b="1" dirty="0">
                          <a:solidFill>
                            <a:srgbClr val="333333"/>
                          </a:solidFill>
                          <a:latin typeface="Calibri" pitchFamily="34" charset="0"/>
                          <a:ea typeface="Calibri" pitchFamily="34" charset="-122"/>
                          <a:cs typeface="Calibri" pitchFamily="34" charset="-120"/>
                        </a:rPr>
                        <a:t>VSV retention &amp; linkage</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Downstream rotor forced response (turned / loose / tilted vane, rigging extremes); tolerance stack; lever arm buckling vs fatigue; unison ring </a:t>
                      </a:r>
                      <a:r>
                        <a:rPr lang="en-US" sz="800" u="sng" dirty="0">
                          <a:solidFill>
                            <a:srgbClr val="0B5F85"/>
                          </a:solidFill>
                          <a:latin typeface="Calibri" pitchFamily="34" charset="0"/>
                          <a:ea typeface="Calibri" pitchFamily="34" charset="-122"/>
                          <a:cs typeface="Calibri" pitchFamily="34" charset="-120"/>
                          <a:hlinkClick r:id="rId3" invalidUrl="" action="" tgtFrame="" tooltip="MIL-STD-3024 — Propulsion System Integrity Program (PSIP), 2008" history="1" highlightClick="0" endSnd="0">
                            <a:extLst>
                              <a:ext uri="{A12FA001-AC4F-418D-AE19-62706E023703}">
                                <ahyp:hlinkClr xmlns:ahyp="http://schemas.microsoft.com/office/drawing/2018/hyperlinkcolor" val="tx"/>
                              </a:ext>
                            </a:extLst>
                          </a:hlinkClick>
                        </a:rPr>
                        <a:t>[3]</a:t>
                      </a:r>
                      <a:r>
                        <a:rPr lang="en-US" sz="800" u="sng" dirty="0">
                          <a:solidFill>
                            <a:srgbClr val="0B5F85"/>
                          </a:solidFill>
                          <a:latin typeface="Calibri" pitchFamily="34" charset="0"/>
                          <a:ea typeface="Calibri" pitchFamily="34" charset="-122"/>
                          <a:cs typeface="Calibri" pitchFamily="34" charset="-120"/>
                          <a:hlinkClick r:id="rId4" invalidUrl="" action="" tgtFrame="" tooltip="14 CFR 33.83 — Vibration test (vanes, variable-vane schedule tolerances)" history="1" highlightClick="0" endSnd="0">
                            <a:extLst>
                              <a:ext uri="{A12FA001-AC4F-418D-AE19-62706E023703}">
                                <ahyp:hlinkClr xmlns:ahyp="http://schemas.microsoft.com/office/drawing/2018/hyperlinkcolor" val="tx"/>
                              </a:ext>
                            </a:extLst>
                          </a:hlinkClick>
                        </a:rPr>
                        <a:t>[10]</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Bushing wear rig (sıcaklık + korozyon); offset-VSV strain-gauge survey; AMT teardown wear limitleri</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r h="560832">
                <a:tc>
                  <a:txBody>
                    <a:bodyPr/>
                    <a:lstStyle/>
                    <a:p>
                      <a:pPr indent="0" marL="0">
                        <a:buNone/>
                      </a:pPr>
                      <a:r>
                        <a:rPr lang="en-US" sz="900" b="1" dirty="0">
                          <a:solidFill>
                            <a:srgbClr val="333333"/>
                          </a:solidFill>
                          <a:latin typeface="Calibri" pitchFamily="34" charset="0"/>
                          <a:ea typeface="Calibri" pitchFamily="34" charset="-122"/>
                          <a:cs typeface="Calibri" pitchFamily="34" charset="-120"/>
                        </a:rPr>
                        <a:t>Fixed stator sectors &amp; retention</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Reversal / gap / mixed-sector low-engine-order forcing; hook stress &amp; fretting; modal + damping hassasiyeti </a:t>
                      </a:r>
                      <a:r>
                        <a:rPr lang="en-US" sz="800" u="sng" dirty="0">
                          <a:solidFill>
                            <a:srgbClr val="0B5F85"/>
                          </a:solidFill>
                          <a:latin typeface="Calibri" pitchFamily="34" charset="0"/>
                          <a:ea typeface="Calibri" pitchFamily="34" charset="-122"/>
                          <a:cs typeface="Calibri" pitchFamily="34" charset="-120"/>
                          <a:hlinkClick r:id="rId5"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6"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Hook–slot fretting rig; modal test; downstream rotor strain-gauge survey</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560832">
                <a:tc>
                  <a:txBody>
                    <a:bodyPr/>
                    <a:lstStyle/>
                    <a:p>
                      <a:pPr indent="0" marL="0">
                        <a:buNone/>
                      </a:pPr>
                      <a:r>
                        <a:rPr lang="en-US" sz="900" b="1" dirty="0">
                          <a:solidFill>
                            <a:srgbClr val="333333"/>
                          </a:solidFill>
                          <a:latin typeface="Calibri" pitchFamily="34" charset="0"/>
                          <a:ea typeface="Calibri" pitchFamily="34" charset="-122"/>
                          <a:cs typeface="Calibri" pitchFamily="34" charset="-120"/>
                        </a:rPr>
                        <a:t>VSV actuation &amp; FADEC schedule</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Actuator force margin vs end-of-life friction; control-failure MOP ile case koruması; stall-margin stack-up'a yapısal girdi </a:t>
                      </a:r>
                      <a:r>
                        <a:rPr lang="en-US" sz="800" u="sng" dirty="0">
                          <a:solidFill>
                            <a:srgbClr val="0B5F85"/>
                          </a:solidFill>
                          <a:latin typeface="Calibri" pitchFamily="34" charset="0"/>
                          <a:ea typeface="Calibri" pitchFamily="34" charset="-122"/>
                          <a:cs typeface="Calibri" pitchFamily="34" charset="-120"/>
                          <a:hlinkClick r:id="rId7" invalidUrl="" action="" tgtFrame="" tooltip="JSSG-2007A — Engines, Aircraft, Turbine, 2004 (güncel Rev D kısıtlı dağıtım)" history="1" highlightClick="0" endSnd="0">
                            <a:extLst>
                              <a:ext uri="{A12FA001-AC4F-418D-AE19-62706E023703}">
                                <ahyp:hlinkClr xmlns:ahyp="http://schemas.microsoft.com/office/drawing/2018/hyperlinkcolor" val="tx"/>
                              </a:ext>
                            </a:extLst>
                          </a:hlinkClick>
                        </a:rPr>
                        <a:t>[2]</a:t>
                      </a:r>
                      <a:r>
                        <a:rPr lang="en-US" sz="800" u="sng" dirty="0">
                          <a:solidFill>
                            <a:srgbClr val="0B5F85"/>
                          </a:solidFill>
                          <a:latin typeface="Calibri" pitchFamily="34" charset="0"/>
                          <a:ea typeface="Calibri" pitchFamily="34" charset="-122"/>
                          <a:cs typeface="Calibri" pitchFamily="34" charset="-120"/>
                          <a:hlinkClick r:id="rId8" invalidUrl="" action="" tgtFrame="" tooltip="MIL-HDBK-516C — Airworthiness Certification Criteria, §7 Propulsion, 2014" history="1" highlightClick="0" endSnd="0">
                            <a:extLst>
                              <a:ext uri="{A12FA001-AC4F-418D-AE19-62706E023703}">
                                <ahyp:hlinkClr xmlns:ahyp="http://schemas.microsoft.com/office/drawing/2018/hyperlinkcolor" val="tx"/>
                              </a:ext>
                            </a:extLst>
                          </a:hlinkClick>
                        </a:rPr>
                        <a:t>[4]</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HIL fault injection; distortion &amp; induced-stall testleri; hot re-slam</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r h="560832">
                <a:tc>
                  <a:txBody>
                    <a:bodyPr/>
                    <a:lstStyle/>
                    <a:p>
                      <a:pPr indent="0" marL="0">
                        <a:buNone/>
                      </a:pPr>
                      <a:r>
                        <a:rPr lang="en-US" sz="900" b="1" dirty="0">
                          <a:solidFill>
                            <a:srgbClr val="333333"/>
                          </a:solidFill>
                          <a:latin typeface="Calibri" pitchFamily="34" charset="0"/>
                          <a:ea typeface="Calibri" pitchFamily="34" charset="-122"/>
                          <a:cs typeface="Calibri" pitchFamily="34" charset="-120"/>
                        </a:rPr>
                        <a:t>Vane airfoils (IGV / VSV / stator)</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Campbell / SAFE diagram, mistuning, Goodman (10⁹ çevrim); HCF: RMS ≤ %40 endurance </a:t>
                      </a:r>
                      <a:r>
                        <a:rPr lang="en-US" sz="800" u="sng" dirty="0">
                          <a:solidFill>
                            <a:srgbClr val="0B5F85"/>
                          </a:solidFill>
                          <a:latin typeface="Calibri" pitchFamily="34" charset="0"/>
                          <a:ea typeface="Calibri" pitchFamily="34" charset="-122"/>
                          <a:cs typeface="Calibri" pitchFamily="34" charset="-120"/>
                          <a:hlinkClick r:id="rId9"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Bench modal; VSV schedule aralığında strain-gauge &amp; dynamic pressure survey</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4EA"/>
                    </a:solidFill>
                  </a:tcPr>
                </a:tc>
              </a:tr>
              <a:tr h="560832">
                <a:tc>
                  <a:txBody>
                    <a:bodyPr/>
                    <a:lstStyle/>
                    <a:p>
                      <a:pPr indent="0" marL="0">
                        <a:buNone/>
                      </a:pPr>
                      <a:r>
                        <a:rPr lang="en-US" sz="900" b="1" dirty="0">
                          <a:solidFill>
                            <a:srgbClr val="333333"/>
                          </a:solidFill>
                          <a:latin typeface="Calibri" pitchFamily="34" charset="0"/>
                          <a:ea typeface="Calibri" pitchFamily="34" charset="-122"/>
                          <a:cs typeface="Calibri" pitchFamily="34" charset="-120"/>
                        </a:rPr>
                        <a:t>Rub system (abradable, shroud, seal)</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Clearance: manevra + gyroscopic (3.5 rad/s) + surge + hot re-slam; rotor'a rub heat input </a:t>
                      </a:r>
                      <a:r>
                        <a:rPr lang="en-US" sz="800" u="sng" dirty="0">
                          <a:solidFill>
                            <a:srgbClr val="0B5F85"/>
                          </a:solidFill>
                          <a:latin typeface="Calibri" pitchFamily="34" charset="0"/>
                          <a:ea typeface="Calibri" pitchFamily="34" charset="-122"/>
                          <a:cs typeface="Calibri" pitchFamily="34" charset="-120"/>
                          <a:hlinkClick r:id="rId10" invalidUrl="" action="" tgtFrame="" tooltip="MIL-HDBK-516C — Airworthiness Certification Criteria, §7 Propulsion, 2014" history="1" highlightClick="0" endSnd="0">
                            <a:extLst>
                              <a:ext uri="{A12FA001-AC4F-418D-AE19-62706E023703}">
                                <ahyp:hlinkClr xmlns:ahyp="http://schemas.microsoft.com/office/drawing/2018/hyperlinkcolor" val="tx"/>
                              </a:ext>
                            </a:extLst>
                          </a:hlinkClick>
                        </a:rPr>
                        <a:t>[4]</a:t>
                      </a:r>
                      <a:r>
                        <a:rPr lang="en-US" sz="800" u="sng" dirty="0">
                          <a:solidFill>
                            <a:srgbClr val="0B5F85"/>
                          </a:solidFill>
                          <a:latin typeface="Calibri" pitchFamily="34" charset="0"/>
                          <a:ea typeface="Calibri" pitchFamily="34" charset="-122"/>
                          <a:cs typeface="Calibri" pitchFamily="34" charset="-120"/>
                          <a:hlinkClick r:id="rId11" invalidUrl="" action="" tgtFrame="" tooltip="USAF AIB — F-35A, Eglin AFB, 23 Jun 2014 (F135 stator seal rub → Ti rotor crack; fan analojisi)" history="1" highlightClick="0" endSnd="0">
                            <a:extLst>
                              <a:ext uri="{A12FA001-AC4F-418D-AE19-62706E023703}">
                                <ahyp:hlinkClr xmlns:ahyp="http://schemas.microsoft.com/office/drawing/2018/hyperlinkcolor" val="tx"/>
                              </a:ext>
                            </a:extLst>
                          </a:hlinkClick>
                        </a:rPr>
                        <a:t>[23]</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Rub rig (her malzeme çifti); clearance probe; coating spallation</a:t>
                      </a:r>
                      <a:endParaRPr lang="en-US" sz="900" dirty="0">
                        <a:latin typeface="Calibri" charset="0"/>
                        <a:ea typeface="Calibri" charset="0"/>
                        <a:cs typeface="Calibri" charset="0"/>
                      </a:endParaRPr>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F2F5"/>
                    </a:solidFill>
                  </a:tcPr>
                </a:tc>
              </a:tr>
            </a:tbl>
          </a:graphicData>
        </a:graphic>
      </p:graphicFrame>
      <p:sp>
        <p:nvSpPr>
          <p:cNvPr id="25" name="Text 22"/>
          <p:cNvSpPr txBox="1"/>
          <p:nvPr/>
        </p:nvSpPr>
        <p:spPr>
          <a:xfrm>
            <a:off x="6812280" y="1170432"/>
            <a:ext cx="4983480" cy="310896"/>
          </a:xfrm>
          <a:prstGeom prst="rect">
            <a:avLst/>
          </a:prstGeom>
          <a:noFill/>
          <a:ln/>
        </p:spPr>
        <p:txBody>
          <a:bodyPr wrap="square" lIns="0" tIns="0" rIns="0" bIns="0" rtlCol="0" anchor="t"/>
          <a:lstStyle/>
          <a:p>
            <a:pPr indent="0" marL="0">
              <a:buNone/>
            </a:pPr>
            <a:r>
              <a:rPr lang="en-US" sz="1500" b="1" dirty="0">
                <a:solidFill>
                  <a:srgbClr val="3A3A3A"/>
                </a:solidFill>
                <a:latin typeface="Calibri" pitchFamily="34" charset="0"/>
                <a:ea typeface="Calibri" pitchFamily="34" charset="-122"/>
                <a:cs typeface="Calibri" pitchFamily="34" charset="-120"/>
              </a:rPr>
              <a:t>PDR İÇİN ÖNERİLER &amp; KARAR TALEPLERİ:</a:t>
            </a:r>
            <a:endParaRPr lang="en-US" sz="1500" dirty="0"/>
          </a:p>
        </p:txBody>
      </p:sp>
      <p:sp>
        <p:nvSpPr>
          <p:cNvPr id="26" name="Text 23"/>
          <p:cNvSpPr txBox="1"/>
          <p:nvPr/>
        </p:nvSpPr>
        <p:spPr>
          <a:xfrm>
            <a:off x="6812280" y="1517904"/>
            <a:ext cx="4983480" cy="2560320"/>
          </a:xfrm>
          <a:prstGeom prst="rect">
            <a:avLst/>
          </a:prstGeom>
          <a:noFill/>
          <a:ln/>
        </p:spPr>
        <p:txBody>
          <a:bodyPr wrap="square" lIns="0" tIns="0" rIns="0" bIns="0" rtlCol="0" anchor="t"/>
          <a:lstStyle/>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Kritik parça sınıflaması FMECA'dan, platform severity'si ile yapılsın; </a:t>
            </a:r>
            <a:r>
              <a:rPr lang="en-US" sz="1050" dirty="0">
                <a:solidFill>
                  <a:srgbClr val="333333"/>
                </a:solidFill>
                <a:latin typeface="Calibri" pitchFamily="34" charset="0"/>
                <a:ea typeface="Calibri" pitchFamily="34" charset="-122"/>
                <a:cs typeface="Calibri" pitchFamily="34" charset="-120"/>
              </a:rPr>
              <a:t>controls &amp; accessories dahil, parça / feature bazında.</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12"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13" invalidUrl="" action="" tgtFrame="" tooltip="MIL-STD-3024 — Propulsion System Integrity Program (PSIP), 2008" history="1" highlightClick="0" endSnd="0">
                  <a:extLst>
                    <a:ext uri="{A12FA001-AC4F-418D-AE19-62706E023703}">
                      <ahyp:hlinkClr xmlns:ahyp="http://schemas.microsoft.com/office/drawing/2018/hyperlinkcolor" val="tx"/>
                    </a:ext>
                  </a:extLst>
                </a:hlinkClick>
              </a:rPr>
              <a:t>[3]</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“Off-nominal geometry” design case listesi requirement olarak sabitlensin </a:t>
            </a:r>
            <a:r>
              <a:rPr lang="en-US" sz="1050" dirty="0">
                <a:solidFill>
                  <a:srgbClr val="333333"/>
                </a:solidFill>
                <a:latin typeface="Calibri" pitchFamily="34" charset="0"/>
                <a:ea typeface="Calibri" pitchFamily="34" charset="-122"/>
                <a:cs typeface="Calibri" pitchFamily="34" charset="-120"/>
              </a:rPr>
              <a:t>ve analiz → rig → engine test boyunca taşınsın.</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14" invalidUrl="" action="" tgtFrame="" tooltip="14 CFR 33.83 — Vibration test (vanes, variable-vane schedule tolerances)" history="1" highlightClick="0" endSnd="0">
                  <a:extLst>
                    <a:ext uri="{A12FA001-AC4F-418D-AE19-62706E023703}">
                      <ahyp:hlinkClr xmlns:ahyp="http://schemas.microsoft.com/office/drawing/2018/hyperlinkcolor" val="tx"/>
                    </a:ext>
                  </a:extLst>
                </a:hlinkClick>
              </a:rPr>
              <a:t>[10]</a:t>
            </a:r>
            <a:r>
              <a:rPr lang="en-US" sz="800" u="sng" dirty="0">
                <a:solidFill>
                  <a:srgbClr val="0B5F85"/>
                </a:solidFill>
                <a:latin typeface="Calibri" pitchFamily="34" charset="0"/>
                <a:ea typeface="Calibri" pitchFamily="34" charset="-122"/>
                <a:cs typeface="Calibri" pitchFamily="34" charset="-120"/>
                <a:hlinkClick r:id="rId15" invalidUrl="" action="" tgtFrame="" tooltip="EASA CS-E — Easy Access Rules for Engines (CS-E 510 / 515 / 640 / 650, AMC E 130)" history="1" highlightClick="0" endSnd="0">
                  <a:extLst>
                    <a:ext uri="{A12FA001-AC4F-418D-AE19-62706E023703}">
                      <ahyp:hlinkClr xmlns:ahyp="http://schemas.microsoft.com/office/drawing/2018/hyperlinkcolor" val="tx"/>
                    </a:ext>
                  </a:extLst>
                </a:hlinkClick>
              </a:rPr>
              <a:t>[11]</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Pressure-vessel kriteri seçilsin: </a:t>
            </a:r>
            <a:r>
              <a:rPr lang="en-US" sz="1050" dirty="0">
                <a:solidFill>
                  <a:srgbClr val="333333"/>
                </a:solidFill>
                <a:latin typeface="Calibri" pitchFamily="34" charset="0"/>
                <a:ea typeface="Calibri" pitchFamily="34" charset="-122"/>
                <a:cs typeface="Calibri" pitchFamily="34" charset="-120"/>
              </a:rPr>
              <a:t>ENSIP 2.0×MOP (+1.5 manevra, +1.5 termal) mi, 33.64 / CS-E 640 mı? ENSIP 3.1.22 ↔ Tablo XXI farkı dahil.</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16"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r>
              <a:rPr lang="en-US" sz="800" u="sng" dirty="0">
                <a:solidFill>
                  <a:srgbClr val="0B5F85"/>
                </a:solidFill>
                <a:latin typeface="Calibri" pitchFamily="34" charset="0"/>
                <a:ea typeface="Calibri" pitchFamily="34" charset="-122"/>
                <a:cs typeface="Calibri" pitchFamily="34" charset="-120"/>
                <a:hlinkClick r:id="rId17" invalidUrl="" action="" tgtFrame="" tooltip="14 CFR 33.64 — Pressurized engine static parts" history="1" highlightClick="0" endSnd="0">
                  <a:extLst>
                    <a:ext uri="{A12FA001-AC4F-418D-AE19-62706E023703}">
                      <ahyp:hlinkClr xmlns:ahyp="http://schemas.microsoft.com/office/drawing/2018/hyperlinkcolor" val="tx"/>
                    </a:ext>
                  </a:extLst>
                </a:hlinkClick>
              </a:rPr>
              <a:t>[6]</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Assembly error-proofing &amp; inspectability = tasarım gereksinimi: </a:t>
            </a:r>
            <a:r>
              <a:rPr lang="en-US" sz="1050" dirty="0">
                <a:solidFill>
                  <a:srgbClr val="333333"/>
                </a:solidFill>
                <a:latin typeface="Calibri" pitchFamily="34" charset="0"/>
                <a:ea typeface="Calibri" pitchFamily="34" charset="-122"/>
                <a:cs typeface="Calibri" pitchFamily="34" charset="-120"/>
              </a:rPr>
              <a:t>non-reversible sector, pozitif retention doğrulama, her stage'e borescope erişimi.</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18" invalidUrl="" action="" tgtFrame="" tooltip="USAF AIB — F-16CM 90-0771, Osan AB, 21 Mar 2012 (F110-GE-100, reversed stage-5 stator sector)" history="1" highlightClick="0" endSnd="0">
                  <a:extLst>
                    <a:ext uri="{A12FA001-AC4F-418D-AE19-62706E023703}">
                      <ahyp:hlinkClr xmlns:ahyp="http://schemas.microsoft.com/office/drawing/2018/hyperlinkcolor" val="tx"/>
                    </a:ext>
                  </a:extLst>
                </a:hlinkClick>
              </a:rPr>
              <a:t>[13]</a:t>
            </a:r>
            <a:r>
              <a:rPr lang="en-US" sz="800" u="sng" dirty="0">
                <a:solidFill>
                  <a:srgbClr val="0B5F85"/>
                </a:solidFill>
                <a:latin typeface="Calibri" pitchFamily="34" charset="0"/>
                <a:ea typeface="Calibri" pitchFamily="34" charset="-122"/>
                <a:cs typeface="Calibri" pitchFamily="34" charset="-120"/>
                <a:hlinkClick r:id="rId19" invalidUrl="" action="" tgtFrame="" tooltip="USAF AIB — F-16C 87-0358, Holloman AFB, 30 Apr 2024 (F100-PW-220, turned stage-5 VSV)" history="1" highlightClick="0" endSnd="0">
                  <a:extLst>
                    <a:ext uri="{A12FA001-AC4F-418D-AE19-62706E023703}">
                      <ahyp:hlinkClr xmlns:ahyp="http://schemas.microsoft.com/office/drawing/2018/hyperlinkcolor" val="tx"/>
                    </a:ext>
                  </a:extLst>
                </a:hlinkClick>
              </a:rPr>
              <a:t>[14]</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Ti-fire kararı erken verilsin: </a:t>
            </a:r>
            <a:r>
              <a:rPr lang="en-US" sz="1050" dirty="0">
                <a:solidFill>
                  <a:srgbClr val="333333"/>
                </a:solidFill>
                <a:latin typeface="Calibri" pitchFamily="34" charset="0"/>
                <a:ea typeface="Calibri" pitchFamily="34" charset="-122"/>
                <a:cs typeface="Calibri" pitchFamily="34" charset="-120"/>
              </a:rPr>
              <a:t>zone bazında case malzemesi, rotor–stator pairing, abradable derinliği.</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20" invalidUrl="" action="" tgtFrame="" tooltip="EASA CS-E — Easy Access Rules for Engines (CS-E 510 / 515 / 640 / 650, AMC E 130)" history="1" highlightClick="0" endSnd="0">
                  <a:extLst>
                    <a:ext uri="{A12FA001-AC4F-418D-AE19-62706E023703}">
                      <ahyp:hlinkClr xmlns:ahyp="http://schemas.microsoft.com/office/drawing/2018/hyperlinkcolor" val="tx"/>
                    </a:ext>
                  </a:extLst>
                </a:hlinkClick>
              </a:rPr>
              <a:t>[11]</a:t>
            </a:r>
            <a:r>
              <a:rPr lang="en-US" sz="800" u="sng" dirty="0">
                <a:solidFill>
                  <a:srgbClr val="0B5F85"/>
                </a:solidFill>
                <a:latin typeface="Calibri" pitchFamily="34" charset="0"/>
                <a:ea typeface="Calibri" pitchFamily="34" charset="-122"/>
                <a:cs typeface="Calibri" pitchFamily="34" charset="-120"/>
                <a:hlinkClick r:id="rId21" invalidUrl="" action="" tgtFrame="" tooltip="FAA AC 33-4 — Design Considerations: Titanium in Turbine Engines, 1983" history="1" highlightClick="0" endSnd="0">
                  <a:extLst>
                    <a:ext uri="{A12FA001-AC4F-418D-AE19-62706E023703}">
                      <ahyp:hlinkClr xmlns:ahyp="http://schemas.microsoft.com/office/drawing/2018/hyperlinkcolor" val="tx"/>
                    </a:ext>
                  </a:extLst>
                </a:hlinkClick>
              </a:rPr>
              <a:t>[12]</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Development engine enstrümantasyonu statik parçaları da kapsasın: </a:t>
            </a:r>
            <a:r>
              <a:rPr lang="en-US" sz="1050" dirty="0">
                <a:solidFill>
                  <a:srgbClr val="333333"/>
                </a:solidFill>
                <a:latin typeface="Calibri" pitchFamily="34" charset="0"/>
                <a:ea typeface="Calibri" pitchFamily="34" charset="-122"/>
                <a:cs typeface="Calibri" pitchFamily="34" charset="-120"/>
              </a:rPr>
              <a:t>case strain / TC, clearance probe, stage bazında VSV açı ölçümü.</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22" invalidUrl="" action="" tgtFrame="" tooltip="MIL-HDBK-1783B Chg 2 — Engine Structural Integrity Program (ENSIP), 2004" history="1" highlightClick="0" endSnd="0">
                  <a:extLst>
                    <a:ext uri="{A12FA001-AC4F-418D-AE19-62706E023703}">
                      <ahyp:hlinkClr xmlns:ahyp="http://schemas.microsoft.com/office/drawing/2018/hyperlinkcolor" val="tx"/>
                    </a:ext>
                  </a:extLst>
                </a:hlinkClick>
              </a:rPr>
              <a:t>[1]</a:t>
            </a:r>
            <a:endParaRPr lang="en-US" sz="1050" dirty="0"/>
          </a:p>
        </p:txBody>
      </p:sp>
      <p:sp>
        <p:nvSpPr>
          <p:cNvPr id="27" name="Text 24"/>
          <p:cNvSpPr txBox="1"/>
          <p:nvPr/>
        </p:nvSpPr>
        <p:spPr>
          <a:xfrm>
            <a:off x="6812280" y="4206240"/>
            <a:ext cx="4983480" cy="310896"/>
          </a:xfrm>
          <a:prstGeom prst="rect">
            <a:avLst/>
          </a:prstGeom>
          <a:noFill/>
          <a:ln/>
        </p:spPr>
        <p:txBody>
          <a:bodyPr wrap="square" lIns="0" tIns="0" rIns="0" bIns="0" rtlCol="0" anchor="t"/>
          <a:lstStyle/>
          <a:p>
            <a:pPr indent="0" marL="0">
              <a:buNone/>
            </a:pPr>
            <a:r>
              <a:rPr lang="en-US" sz="1500" b="1" dirty="0">
                <a:solidFill>
                  <a:srgbClr val="3A3A3A"/>
                </a:solidFill>
                <a:latin typeface="Calibri" pitchFamily="34" charset="0"/>
                <a:ea typeface="Calibri" pitchFamily="34" charset="-122"/>
                <a:cs typeface="Calibri" pitchFamily="34" charset="-120"/>
              </a:rPr>
              <a:t>AÇIK KONULAR &amp; KISITLAR:</a:t>
            </a:r>
            <a:endParaRPr lang="en-US" sz="1500" dirty="0"/>
          </a:p>
        </p:txBody>
      </p:sp>
      <p:sp>
        <p:nvSpPr>
          <p:cNvPr id="28" name="Text 25"/>
          <p:cNvSpPr txBox="1"/>
          <p:nvPr/>
        </p:nvSpPr>
        <p:spPr>
          <a:xfrm>
            <a:off x="6812280" y="4535424"/>
            <a:ext cx="4983480" cy="1819656"/>
          </a:xfrm>
          <a:prstGeom prst="rect">
            <a:avLst/>
          </a:prstGeom>
          <a:noFill/>
          <a:ln/>
        </p:spPr>
        <p:txBody>
          <a:bodyPr wrap="square" lIns="0" tIns="0" rIns="0" bIns="0" rtlCol="0" anchor="t"/>
          <a:lstStyle/>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Kaynaklar kamuya açık; </a:t>
            </a:r>
            <a:r>
              <a:rPr lang="en-US" sz="1050" dirty="0">
                <a:solidFill>
                  <a:srgbClr val="333333"/>
                </a:solidFill>
                <a:latin typeface="Calibri" pitchFamily="34" charset="0"/>
                <a:ea typeface="Calibri" pitchFamily="34" charset="-122"/>
                <a:cs typeface="Calibri" pitchFamily="34" charset="-120"/>
              </a:rPr>
              <a:t>F110 BOM / malzeme / limitleri public değil → dersler mekanizma seviyesinde geçerli, sayılar bizim tasarıma taşınamaz.</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Güncel JSSG-2007 Rev D ve MIL-STD-3024 Chg 2 kısıtlı dağıtım; </a:t>
            </a:r>
            <a:r>
              <a:rPr lang="en-US" sz="1050" dirty="0">
                <a:solidFill>
                  <a:srgbClr val="333333"/>
                </a:solidFill>
                <a:latin typeface="Calibri" pitchFamily="34" charset="0"/>
                <a:ea typeface="Calibri" pitchFamily="34" charset="-122"/>
                <a:cs typeface="Calibri" pitchFamily="34" charset="-120"/>
              </a:rPr>
              <a:t>CS-E Amdt 8 tam metin teyidi açık.</a:t>
            </a:r>
            <a:r>
              <a:rPr lang="en-US" sz="1050" dirty="0">
                <a:solidFill>
                  <a:srgbClr val="333333"/>
                </a:solidFill>
                <a:latin typeface="Calibri" pitchFamily="34" charset="0"/>
                <a:ea typeface="Calibri" pitchFamily="34" charset="-122"/>
                <a:cs typeface="Calibri" pitchFamily="34" charset="-120"/>
              </a:rPr>
              <a:t> </a:t>
            </a:r>
            <a:r>
              <a:rPr lang="en-US" sz="800" u="sng" dirty="0">
                <a:solidFill>
                  <a:srgbClr val="0B5F85"/>
                </a:solidFill>
                <a:latin typeface="Calibri" pitchFamily="34" charset="0"/>
                <a:ea typeface="Calibri" pitchFamily="34" charset="-122"/>
                <a:cs typeface="Calibri" pitchFamily="34" charset="-120"/>
                <a:hlinkClick r:id="rId23" invalidUrl="" action="" tgtFrame="" tooltip="DLA ASSIST — JSSG-2007 doküman durumu (Rev D, 2020; kısıtlı dağıtım)" history="1" highlightClick="0" endSnd="0">
                  <a:extLst>
                    <a:ext uri="{A12FA001-AC4F-418D-AE19-62706E023703}">
                      <ahyp:hlinkClr xmlns:ahyp="http://schemas.microsoft.com/office/drawing/2018/hyperlinkcolor" val="tx"/>
                    </a:ext>
                  </a:extLst>
                </a:hlinkClick>
              </a:rPr>
              <a:t>[27]</a:t>
            </a:r>
            <a:r>
              <a:rPr lang="en-US" sz="800" u="sng" dirty="0">
                <a:solidFill>
                  <a:srgbClr val="0B5F85"/>
                </a:solidFill>
                <a:latin typeface="Calibri" pitchFamily="34" charset="0"/>
                <a:ea typeface="Calibri" pitchFamily="34" charset="-122"/>
                <a:cs typeface="Calibri" pitchFamily="34" charset="-120"/>
                <a:hlinkClick r:id="rId24" invalidUrl="" action="" tgtFrame="" tooltip="EASA — CS-E Amendment 8 yayın sayfası (Nisan 2025; düzeltme Ocak 2026)" history="1" highlightClick="0" endSnd="0">
                  <a:extLst>
                    <a:ext uri="{A12FA001-AC4F-418D-AE19-62706E023703}">
                      <ahyp:hlinkClr xmlns:ahyp="http://schemas.microsoft.com/office/drawing/2018/hyperlinkcolor" val="tx"/>
                    </a:ext>
                  </a:extLst>
                </a:hlinkClick>
              </a:rPr>
              <a:t>[28]</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Doğrulanamayan “evrensel” sayılar kullanılmamalı </a:t>
            </a:r>
            <a:r>
              <a:rPr lang="en-US" sz="1050" dirty="0">
                <a:solidFill>
                  <a:srgbClr val="333333"/>
                </a:solidFill>
                <a:latin typeface="Calibri" pitchFamily="34" charset="0"/>
                <a:ea typeface="Calibri" pitchFamily="34" charset="-122"/>
                <a:cs typeface="Calibri" pitchFamily="34" charset="-120"/>
              </a:rPr>
              <a:t>(2.0–2.5× FAA burst, ±0.5° VSV toleransı, 450 °C Ti tutuşma eşiği vb.).</a:t>
            </a:r>
            <a:endParaRPr lang="en-US" sz="1050" dirty="0"/>
          </a:p>
          <a:p>
            <a:pPr marL="165100" indent="-165100">
              <a:spcAft>
                <a:spcPts val="500"/>
              </a:spcAft>
              <a:buSzPct val="100000"/>
              <a:buChar char="•"/>
            </a:pPr>
            <a:r>
              <a:rPr lang="en-US" sz="1050" b="1" dirty="0">
                <a:solidFill>
                  <a:srgbClr val="333333"/>
                </a:solidFill>
                <a:latin typeface="Calibri" pitchFamily="34" charset="0"/>
                <a:ea typeface="Calibri" pitchFamily="34" charset="-122"/>
                <a:cs typeface="Calibri" pitchFamily="34" charset="-120"/>
              </a:rPr>
              <a:t>FEA için gereken girdiler: </a:t>
            </a:r>
            <a:r>
              <a:rPr lang="en-US" sz="1050" dirty="0">
                <a:solidFill>
                  <a:srgbClr val="333333"/>
                </a:solidFill>
                <a:latin typeface="Calibri" pitchFamily="34" charset="0"/>
                <a:ea typeface="Calibri" pitchFamily="34" charset="-122"/>
                <a:cs typeface="Calibri" pitchFamily="34" charset="-120"/>
              </a:rPr>
              <a:t>mission / load spectrum, thermal map, MOP tanımı (control-failure dahil), min-property malzeme verisi, önceki ekibin raporları.</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66928"/>
          </a:xfrm>
          <a:prstGeom prst="rect">
            <a:avLst/>
          </a:prstGeom>
          <a:noFill/>
          <a:ln/>
        </p:spPr>
        <p:txBody>
          <a:bodyPr wrap="square" lIns="0" tIns="0" rIns="0" bIns="0" rtlCol="0" anchor="ctr"/>
          <a:lstStyle/>
          <a:p>
            <a:pPr indent="0" marL="0">
              <a:buNone/>
            </a:pPr>
            <a:r>
              <a:rPr lang="en-US" sz="3000" b="1" dirty="0">
                <a:solidFill>
                  <a:srgbClr val="3A3A3A"/>
                </a:solidFill>
                <a:latin typeface="Calibri" pitchFamily="34" charset="0"/>
                <a:ea typeface="Calibri" pitchFamily="34" charset="-122"/>
                <a:cs typeface="Calibri" pitchFamily="34" charset="-120"/>
              </a:rPr>
              <a:t>REFERANSLAR</a:t>
            </a:r>
            <a:endParaRPr lang="en-US" sz="3000" dirty="0"/>
          </a:p>
        </p:txBody>
      </p:sp>
      <p:sp>
        <p:nvSpPr>
          <p:cNvPr id="3" name="Text 1"/>
          <p:cNvSpPr txBox="1"/>
          <p:nvPr/>
        </p:nvSpPr>
        <p:spPr>
          <a:xfrm>
            <a:off x="429768" y="768096"/>
            <a:ext cx="11338560" cy="292608"/>
          </a:xfrm>
          <a:prstGeom prst="rect">
            <a:avLst/>
          </a:prstGeom>
          <a:noFill/>
          <a:ln/>
        </p:spPr>
        <p:txBody>
          <a:bodyPr wrap="square" lIns="0" tIns="0" rIns="0" bIns="0" rtlCol="0" anchor="ctr"/>
          <a:lstStyle/>
          <a:p>
            <a:pPr indent="0" marL="0">
              <a:buNone/>
            </a:pPr>
            <a:r>
              <a:rPr lang="en-US" sz="1350" i="1" dirty="0">
                <a:solidFill>
                  <a:srgbClr val="1F6678"/>
                </a:solidFill>
                <a:latin typeface="Calibri" pitchFamily="34" charset="0"/>
                <a:ea typeface="Calibri" pitchFamily="34" charset="-122"/>
                <a:cs typeface="Calibri" pitchFamily="34" charset="-120"/>
              </a:rPr>
              <a:t>Slaytlardaki [n] etiketleri ve aşağıdaki başlıklar tıklanabilir bağlantıdır  |  tüm kaynaklar kamuya açık</a:t>
            </a:r>
            <a:endParaRPr lang="en-US" sz="1350" dirty="0"/>
          </a:p>
        </p:txBody>
      </p:sp>
      <p:sp>
        <p:nvSpPr>
          <p:cNvPr id="4" name="Text 2"/>
          <p:cNvSpPr txBox="1"/>
          <p:nvPr/>
        </p:nvSpPr>
        <p:spPr>
          <a:xfrm>
            <a:off x="411480" y="6473952"/>
            <a:ext cx="8686800" cy="228600"/>
          </a:xfrm>
          <a:prstGeom prst="rect">
            <a:avLst/>
          </a:prstGeom>
          <a:noFill/>
          <a:ln/>
        </p:spPr>
        <p:txBody>
          <a:bodyPr wrap="square" lIns="0" tIns="0" rIns="0" bIns="0" rtlCol="0" anchor="ctr"/>
          <a:lstStyle/>
          <a:p>
            <a:pPr indent="0" marL="0">
              <a:buNone/>
            </a:pPr>
            <a:r>
              <a:rPr lang="en-US" sz="900" dirty="0">
                <a:solidFill>
                  <a:srgbClr val="6B7780"/>
                </a:solidFill>
                <a:latin typeface="Calibri" pitchFamily="34" charset="0"/>
                <a:ea typeface="Calibri" pitchFamily="34" charset="-122"/>
                <a:cs typeface="Calibri" pitchFamily="34" charset="-120"/>
              </a:rPr>
              <a:t>Sınıflandırma: </a:t>
            </a:r>
            <a:r>
              <a:rPr lang="en-US" sz="900" dirty="0">
                <a:solidFill>
                  <a:srgbClr val="1F6678"/>
                </a:solidFill>
                <a:latin typeface="Calibri" pitchFamily="34" charset="0"/>
                <a:ea typeface="Calibri" pitchFamily="34" charset="-122"/>
                <a:cs typeface="Calibri" pitchFamily="34" charset="-120"/>
              </a:rPr>
              <a:t>Tasnif Dışı</a:t>
            </a:r>
            <a:r>
              <a:rPr lang="en-US" sz="900" dirty="0">
                <a:solidFill>
                  <a:srgbClr val="6B7780"/>
                </a:solidFill>
                <a:latin typeface="Calibri" pitchFamily="34" charset="0"/>
                <a:ea typeface="Calibri" pitchFamily="34" charset="-122"/>
                <a:cs typeface="Calibri" pitchFamily="34" charset="-120"/>
              </a:rPr>
              <a:t>   |   Kaynak: kamuya açık literatür taraması – program bulgusu değildir</a:t>
            </a:r>
            <a:endParaRPr lang="en-US" sz="900" dirty="0"/>
          </a:p>
        </p:txBody>
      </p:sp>
      <p:sp>
        <p:nvSpPr>
          <p:cNvPr id="5" name="Text 3"/>
          <p:cNvSpPr txBox="1"/>
          <p:nvPr/>
        </p:nvSpPr>
        <p:spPr>
          <a:xfrm>
            <a:off x="11247120" y="6473952"/>
            <a:ext cx="548640" cy="228600"/>
          </a:xfrm>
          <a:prstGeom prst="rect">
            <a:avLst/>
          </a:prstGeom>
          <a:noFill/>
          <a:ln/>
        </p:spPr>
        <p:txBody>
          <a:bodyPr wrap="square" lIns="0" tIns="0" rIns="0" bIns="0" rtlCol="0" anchor="ctr"/>
          <a:lstStyle/>
          <a:p>
            <a:pPr algn="r" indent="0" marL="0">
              <a:buNone/>
            </a:pPr>
            <a:r>
              <a:rPr lang="en-US" sz="900" dirty="0">
                <a:solidFill>
                  <a:srgbClr val="6B7780"/>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411480" y="1188720"/>
            <a:ext cx="5532120" cy="4160520"/>
          </a:xfrm>
          <a:prstGeom prst="rect">
            <a:avLst/>
          </a:prstGeom>
          <a:noFill/>
          <a:ln/>
        </p:spPr>
        <p:txBody>
          <a:bodyPr wrap="square" lIns="0" tIns="0" rIns="0" bIns="0" rtlCol="0" anchor="t"/>
          <a:lstStyle/>
          <a:p>
            <a:pPr indent="0" marL="0">
              <a:spcAft>
                <a:spcPts val="400"/>
              </a:spcAft>
              <a:buNone/>
            </a:pPr>
            <a:r>
              <a:rPr lang="en-US" sz="1200" b="1" dirty="0">
                <a:solidFill>
                  <a:srgbClr val="1F6678"/>
                </a:solidFill>
                <a:latin typeface="Calibri" pitchFamily="34" charset="0"/>
                <a:ea typeface="Calibri" pitchFamily="34" charset="-122"/>
                <a:cs typeface="Calibri" pitchFamily="34" charset="-120"/>
              </a:rPr>
              <a:t>A — Standartlar &amp; regülasyon</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  </a:t>
            </a:r>
            <a:r>
              <a:rPr lang="en-US" sz="1000" u="sng" dirty="0">
                <a:solidFill>
                  <a:srgbClr val="0B5F85"/>
                </a:solidFill>
                <a:latin typeface="Calibri" pitchFamily="34" charset="0"/>
                <a:ea typeface="Calibri" pitchFamily="34" charset="-122"/>
                <a:cs typeface="Calibri" pitchFamily="34" charset="-120"/>
                <a:hlinkClick r:id="rId1" invalidUrl="" action="" tgtFrame="" tooltip="https://everyspec.com/MIL-HDBK/MIL-HDBK-1500-1799/MIL-HDBK-1783B_CHG-2_26101/" history="1" highlightClick="0" endSnd="0">
                  <a:extLst>
                    <a:ext uri="{A12FA001-AC4F-418D-AE19-62706E023703}">
                      <ahyp:hlinkClr xmlns:ahyp="http://schemas.microsoft.com/office/drawing/2018/hyperlinkcolor" val="tx"/>
                    </a:ext>
                  </a:extLst>
                </a:hlinkClick>
              </a:rPr>
              <a:t>MIL-HDBK-1783B Chg 2 — Engine Structural Integrity Program (ENSIP), 2004</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  </a:t>
            </a:r>
            <a:r>
              <a:rPr lang="en-US" sz="1000" u="sng" dirty="0">
                <a:solidFill>
                  <a:srgbClr val="0B5F85"/>
                </a:solidFill>
                <a:latin typeface="Calibri" pitchFamily="34" charset="0"/>
                <a:ea typeface="Calibri" pitchFamily="34" charset="-122"/>
                <a:cs typeface="Calibri" pitchFamily="34" charset="-120"/>
                <a:hlinkClick r:id="rId2" invalidUrl="" action="" tgtFrame="" tooltip="https://everyspec.com/USAF/USAF-General/JSSG-2007A_12946/" history="1" highlightClick="0" endSnd="0">
                  <a:extLst>
                    <a:ext uri="{A12FA001-AC4F-418D-AE19-62706E023703}">
                      <ahyp:hlinkClr xmlns:ahyp="http://schemas.microsoft.com/office/drawing/2018/hyperlinkcolor" val="tx"/>
                    </a:ext>
                  </a:extLst>
                </a:hlinkClick>
              </a:rPr>
              <a:t>JSSG-2007A — Engines, Aircraft, Turbine, 2004 (güncel Rev D kısıtlı dağıtım)</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[3]  </a:t>
            </a:r>
            <a:r>
              <a:rPr lang="en-US" sz="1000" u="sng" dirty="0">
                <a:solidFill>
                  <a:srgbClr val="0B5F85"/>
                </a:solidFill>
                <a:latin typeface="Calibri" pitchFamily="34" charset="0"/>
                <a:ea typeface="Calibri" pitchFamily="34" charset="-122"/>
                <a:cs typeface="Calibri" pitchFamily="34" charset="-120"/>
                <a:hlinkClick r:id="rId3" invalidUrl="" action="" tgtFrame="" tooltip="http://everyspec.com/MIL-STD/MIL-STD-3000-9999/MIL-STD-3024_6876/" history="1" highlightClick="0" endSnd="0">
                  <a:extLst>
                    <a:ext uri="{A12FA001-AC4F-418D-AE19-62706E023703}">
                      <ahyp:hlinkClr xmlns:ahyp="http://schemas.microsoft.com/office/drawing/2018/hyperlinkcolor" val="tx"/>
                    </a:ext>
                  </a:extLst>
                </a:hlinkClick>
              </a:rPr>
              <a:t>MIL-STD-3024 — Propulsion System Integrity Program (PSIP), 2008</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[4]  </a:t>
            </a:r>
            <a:r>
              <a:rPr lang="en-US" sz="1000" u="sng" dirty="0">
                <a:solidFill>
                  <a:srgbClr val="0B5F85"/>
                </a:solidFill>
                <a:latin typeface="Calibri" pitchFamily="34" charset="0"/>
                <a:ea typeface="Calibri" pitchFamily="34" charset="-122"/>
                <a:cs typeface="Calibri" pitchFamily="34" charset="-120"/>
                <a:hlinkClick r:id="rId4" invalidUrl="" action="" tgtFrame="" tooltip="https://everyspec.com/MIL-HDBK/MIL-HDBK-0500-0599/" history="1" highlightClick="0" endSnd="0">
                  <a:extLst>
                    <a:ext uri="{A12FA001-AC4F-418D-AE19-62706E023703}">
                      <ahyp:hlinkClr xmlns:ahyp="http://schemas.microsoft.com/office/drawing/2018/hyperlinkcolor" val="tx"/>
                    </a:ext>
                  </a:extLst>
                </a:hlinkClick>
              </a:rPr>
              <a:t>MIL-HDBK-516C — Airworthiness Certification Criteria, §7 Propulsion, 2014</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[5]  </a:t>
            </a:r>
            <a:r>
              <a:rPr lang="en-US" sz="1000" u="sng" dirty="0">
                <a:solidFill>
                  <a:srgbClr val="0B5F85"/>
                </a:solidFill>
                <a:latin typeface="Calibri" pitchFamily="34" charset="0"/>
                <a:ea typeface="Calibri" pitchFamily="34" charset="-122"/>
                <a:cs typeface="Calibri" pitchFamily="34" charset="-120"/>
                <a:hlinkClick r:id="rId5" invalidUrl="" action="" tgtFrame="" tooltip="http://everyspec.com/USN/NAVAIR/JALC_AVIATION_CSI_MGMT_HDBK_16MAR2011_42734/" history="1" highlightClick="0" endSnd="0">
                  <a:extLst>
                    <a:ext uri="{A12FA001-AC4F-418D-AE19-62706E023703}">
                      <ahyp:hlinkClr xmlns:ahyp="http://schemas.microsoft.com/office/drawing/2018/hyperlinkcolor" val="tx"/>
                    </a:ext>
                  </a:extLst>
                </a:hlinkClick>
              </a:rPr>
              <a:t>JALC — Aviation Critical Safety Item (CSI) Management Handbook, 2011</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[6]  </a:t>
            </a:r>
            <a:r>
              <a:rPr lang="en-US" sz="1000" u="sng" dirty="0">
                <a:solidFill>
                  <a:srgbClr val="0B5F85"/>
                </a:solidFill>
                <a:latin typeface="Calibri" pitchFamily="34" charset="0"/>
                <a:ea typeface="Calibri" pitchFamily="34" charset="-122"/>
                <a:cs typeface="Calibri" pitchFamily="34" charset="-120"/>
                <a:hlinkClick r:id="rId6" invalidUrl="" action="" tgtFrame="" tooltip="https://www.ecfr.gov/current/title-14/section-33.64" history="1" highlightClick="0" endSnd="0">
                  <a:extLst>
                    <a:ext uri="{A12FA001-AC4F-418D-AE19-62706E023703}">
                      <ahyp:hlinkClr xmlns:ahyp="http://schemas.microsoft.com/office/drawing/2018/hyperlinkcolor" val="tx"/>
                    </a:ext>
                  </a:extLst>
                </a:hlinkClick>
              </a:rPr>
              <a:t>14 CFR 33.64 — Pressurized engine static parts</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[7]  </a:t>
            </a:r>
            <a:r>
              <a:rPr lang="en-US" sz="1000" u="sng" dirty="0">
                <a:solidFill>
                  <a:srgbClr val="0B5F85"/>
                </a:solidFill>
                <a:latin typeface="Calibri" pitchFamily="34" charset="0"/>
                <a:ea typeface="Calibri" pitchFamily="34" charset="-122"/>
                <a:cs typeface="Calibri" pitchFamily="34" charset="-120"/>
                <a:hlinkClick r:id="rId7" invalidUrl="" action="" tgtFrame="" tooltip="https://www.ecfr.gov/current/title-14/section-33.70" history="1" highlightClick="0" endSnd="0">
                  <a:extLst>
                    <a:ext uri="{A12FA001-AC4F-418D-AE19-62706E023703}">
                      <ahyp:hlinkClr xmlns:ahyp="http://schemas.microsoft.com/office/drawing/2018/hyperlinkcolor" val="tx"/>
                    </a:ext>
                  </a:extLst>
                </a:hlinkClick>
              </a:rPr>
              <a:t>14 CFR 33.70 — Engine life-limited parts (major static structural parts)</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[8]  </a:t>
            </a:r>
            <a:r>
              <a:rPr lang="en-US" sz="1000" u="sng" dirty="0">
                <a:solidFill>
                  <a:srgbClr val="0B5F85"/>
                </a:solidFill>
                <a:latin typeface="Calibri" pitchFamily="34" charset="0"/>
                <a:ea typeface="Calibri" pitchFamily="34" charset="-122"/>
                <a:cs typeface="Calibri" pitchFamily="34" charset="-120"/>
                <a:hlinkClick r:id="rId8" invalidUrl="" action="" tgtFrame="" tooltip="https://www.faa.gov/documentLibrary/media/Advisory_Circular/AC_33_70-1.pdf" history="1" highlightClick="0" endSnd="0">
                  <a:extLst>
                    <a:ext uri="{A12FA001-AC4F-418D-AE19-62706E023703}">
                      <ahyp:hlinkClr xmlns:ahyp="http://schemas.microsoft.com/office/drawing/2018/hyperlinkcolor" val="tx"/>
                    </a:ext>
                  </a:extLst>
                </a:hlinkClick>
              </a:rPr>
              <a:t>FAA AC 33.70-1 — Guidance for Engine Life-Limited Parts, 2009</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[9]  </a:t>
            </a:r>
            <a:r>
              <a:rPr lang="en-US" sz="1000" u="sng" dirty="0">
                <a:solidFill>
                  <a:srgbClr val="0B5F85"/>
                </a:solidFill>
                <a:latin typeface="Calibri" pitchFamily="34" charset="0"/>
                <a:ea typeface="Calibri" pitchFamily="34" charset="-122"/>
                <a:cs typeface="Calibri" pitchFamily="34" charset="-120"/>
                <a:hlinkClick r:id="rId9" invalidUrl="" action="" tgtFrame="" tooltip="https://www.ecfr.gov/current/title-14/section-33.75" history="1" highlightClick="0" endSnd="0">
                  <a:extLst>
                    <a:ext uri="{A12FA001-AC4F-418D-AE19-62706E023703}">
                      <ahyp:hlinkClr xmlns:ahyp="http://schemas.microsoft.com/office/drawing/2018/hyperlinkcolor" val="tx"/>
                    </a:ext>
                  </a:extLst>
                </a:hlinkClick>
              </a:rPr>
              <a:t>14 CFR 33.75 — Safety analysis (thrust loss = Minor engine effect)</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[10]  </a:t>
            </a:r>
            <a:r>
              <a:rPr lang="en-US" sz="1000" u="sng" dirty="0">
                <a:solidFill>
                  <a:srgbClr val="0B5F85"/>
                </a:solidFill>
                <a:latin typeface="Calibri" pitchFamily="34" charset="0"/>
                <a:ea typeface="Calibri" pitchFamily="34" charset="-122"/>
                <a:cs typeface="Calibri" pitchFamily="34" charset="-120"/>
                <a:hlinkClick r:id="rId10" invalidUrl="" action="" tgtFrame="" tooltip="https://www.ecfr.gov/current/title-14/section-33.83" history="1" highlightClick="0" endSnd="0">
                  <a:extLst>
                    <a:ext uri="{A12FA001-AC4F-418D-AE19-62706E023703}">
                      <ahyp:hlinkClr xmlns:ahyp="http://schemas.microsoft.com/office/drawing/2018/hyperlinkcolor" val="tx"/>
                    </a:ext>
                  </a:extLst>
                </a:hlinkClick>
              </a:rPr>
              <a:t>14 CFR 33.83 — Vibration test (vanes, variable-vane schedule tolerances)</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[11]  </a:t>
            </a:r>
            <a:r>
              <a:rPr lang="en-US" sz="1000" u="sng" dirty="0">
                <a:solidFill>
                  <a:srgbClr val="0B5F85"/>
                </a:solidFill>
                <a:latin typeface="Calibri" pitchFamily="34" charset="0"/>
                <a:ea typeface="Calibri" pitchFamily="34" charset="-122"/>
                <a:cs typeface="Calibri" pitchFamily="34" charset="-120"/>
                <a:hlinkClick r:id="rId11" invalidUrl="" action="" tgtFrame="" tooltip="https://www.easa.europa.eu/sites/default/files/dfu/Easy%20Access%20Rules%20CS-E%20(Amendment%204).pdf" history="1" highlightClick="0" endSnd="0">
                  <a:extLst>
                    <a:ext uri="{A12FA001-AC4F-418D-AE19-62706E023703}">
                      <ahyp:hlinkClr xmlns:ahyp="http://schemas.microsoft.com/office/drawing/2018/hyperlinkcolor" val="tx"/>
                    </a:ext>
                  </a:extLst>
                </a:hlinkClick>
              </a:rPr>
              <a:t>EASA CS-E — Easy Access Rules for Engines (CS-E 510 / 515 / 640 / 650, AMC E 130)</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[12]  </a:t>
            </a:r>
            <a:r>
              <a:rPr lang="en-US" sz="1000" u="sng" dirty="0">
                <a:solidFill>
                  <a:srgbClr val="0B5F85"/>
                </a:solidFill>
                <a:latin typeface="Calibri" pitchFamily="34" charset="0"/>
                <a:ea typeface="Calibri" pitchFamily="34" charset="-122"/>
                <a:cs typeface="Calibri" pitchFamily="34" charset="-120"/>
                <a:hlinkClick r:id="rId12" invalidUrl="" action="" tgtFrame="" tooltip="https://www.govinfo.gov/content/pkg/GOVPUB-TD4-PURL-LPS106290/pdf/GOVPUB-TD4-PURL-LPS106290.pdf" history="1" highlightClick="0" endSnd="0">
                  <a:extLst>
                    <a:ext uri="{A12FA001-AC4F-418D-AE19-62706E023703}">
                      <ahyp:hlinkClr xmlns:ahyp="http://schemas.microsoft.com/office/drawing/2018/hyperlinkcolor" val="tx"/>
                    </a:ext>
                  </a:extLst>
                </a:hlinkClick>
              </a:rPr>
              <a:t>FAA AC 33-4 — Design Considerations: Titanium in Turbine Engines, 1983</a:t>
            </a:r>
            <a:endParaRPr lang="en-US" sz="1200" dirty="0"/>
          </a:p>
          <a:p>
            <a:pPr indent="0" marL="0">
              <a:spcBef>
                <a:spcPts val="1000"/>
              </a:spcBef>
              <a:spcAft>
                <a:spcPts val="400"/>
              </a:spcAft>
              <a:buNone/>
            </a:pPr>
            <a:r>
              <a:rPr lang="en-US" sz="1200" b="1" dirty="0">
                <a:solidFill>
                  <a:srgbClr val="1F6678"/>
                </a:solidFill>
                <a:latin typeface="Calibri" pitchFamily="34" charset="0"/>
                <a:ea typeface="Calibri" pitchFamily="34" charset="-122"/>
                <a:cs typeface="Calibri" pitchFamily="34" charset="-120"/>
              </a:rPr>
              <a:t>C — Teknik literatür &amp; doküman durumu</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[26]  </a:t>
            </a:r>
            <a:r>
              <a:rPr lang="en-US" sz="1000" u="sng" dirty="0">
                <a:solidFill>
                  <a:srgbClr val="0B5F85"/>
                </a:solidFill>
                <a:latin typeface="Calibri" pitchFamily="34" charset="0"/>
                <a:ea typeface="Calibri" pitchFamily="34" charset="-122"/>
                <a:cs typeface="Calibri" pitchFamily="34" charset="-120"/>
                <a:hlinkClick r:id="rId13" invalidUrl="" action="" tgtFrame="" tooltip="https://archive.org/stream/DTIC_ADA423347/DTIC_ADA423347_djvu.txt" history="1" highlightClick="0" endSnd="0">
                  <a:extLst>
                    <a:ext uri="{A12FA001-AC4F-418D-AE19-62706E023703}">
                      <ahyp:hlinkClr xmlns:ahyp="http://schemas.microsoft.com/office/drawing/2018/hyperlinkcolor" val="tx"/>
                    </a:ext>
                  </a:extLst>
                </a:hlinkClick>
              </a:rPr>
              <a:t>AFRL — HCF Science &amp; Technology Program 2002 Annual Report (HCF = %56, USAF Class A, 1982–96)</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[27]  </a:t>
            </a:r>
            <a:r>
              <a:rPr lang="en-US" sz="1000" u="sng" dirty="0">
                <a:solidFill>
                  <a:srgbClr val="0B5F85"/>
                </a:solidFill>
                <a:latin typeface="Calibri" pitchFamily="34" charset="0"/>
                <a:ea typeface="Calibri" pitchFamily="34" charset="-122"/>
                <a:cs typeface="Calibri" pitchFamily="34" charset="-120"/>
                <a:hlinkClick r:id="rId14" invalidUrl="" action="" tgtFrame="" tooltip="https://quicksearch.dla.mil/qsDocDetails.aspx?ident_number=204837" history="1" highlightClick="0" endSnd="0">
                  <a:extLst>
                    <a:ext uri="{A12FA001-AC4F-418D-AE19-62706E023703}">
                      <ahyp:hlinkClr xmlns:ahyp="http://schemas.microsoft.com/office/drawing/2018/hyperlinkcolor" val="tx"/>
                    </a:ext>
                  </a:extLst>
                </a:hlinkClick>
              </a:rPr>
              <a:t>DLA ASSIST — JSSG-2007 doküman durumu (Rev D, 2020; kısıtlı dağıtım)</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[28]  </a:t>
            </a:r>
            <a:r>
              <a:rPr lang="en-US" sz="1000" u="sng" dirty="0">
                <a:solidFill>
                  <a:srgbClr val="0B5F85"/>
                </a:solidFill>
                <a:latin typeface="Calibri" pitchFamily="34" charset="0"/>
                <a:ea typeface="Calibri" pitchFamily="34" charset="-122"/>
                <a:cs typeface="Calibri" pitchFamily="34" charset="-120"/>
                <a:hlinkClick r:id="rId15" invalidUrl="" action="" tgtFrame="" tooltip="https://www.easa.europa.eu/en/document-library/certification-specifications/cs-e-amendment-8" history="1" highlightClick="0" endSnd="0">
                  <a:extLst>
                    <a:ext uri="{A12FA001-AC4F-418D-AE19-62706E023703}">
                      <ahyp:hlinkClr xmlns:ahyp="http://schemas.microsoft.com/office/drawing/2018/hyperlinkcolor" val="tx"/>
                    </a:ext>
                  </a:extLst>
                </a:hlinkClick>
              </a:rPr>
              <a:t>EASA — CS-E Amendment 8 yayın sayfası (Nisan 2025; düzeltme Ocak 2026)</a:t>
            </a:r>
            <a:endParaRPr lang="en-US" sz="1200" dirty="0"/>
          </a:p>
        </p:txBody>
      </p:sp>
      <p:sp>
        <p:nvSpPr>
          <p:cNvPr id="7" name="Shape 5"/>
          <p:cNvSpPr/>
          <p:nvPr/>
        </p:nvSpPr>
        <p:spPr>
          <a:xfrm>
            <a:off x="6099048" y="1188720"/>
            <a:ext cx="0" cy="4160520"/>
          </a:xfrm>
          <a:prstGeom prst="line">
            <a:avLst/>
          </a:prstGeom>
          <a:noFill/>
          <a:ln w="38100">
            <a:solidFill>
              <a:srgbClr val="1F6678"/>
            </a:solidFill>
            <a:prstDash val="solid"/>
          </a:ln>
        </p:spPr>
      </p:sp>
      <p:sp>
        <p:nvSpPr>
          <p:cNvPr id="8" name="Text 6"/>
          <p:cNvSpPr txBox="1"/>
          <p:nvPr/>
        </p:nvSpPr>
        <p:spPr>
          <a:xfrm>
            <a:off x="6263640" y="1188720"/>
            <a:ext cx="5532120" cy="4160520"/>
          </a:xfrm>
          <a:prstGeom prst="rect">
            <a:avLst/>
          </a:prstGeom>
          <a:noFill/>
          <a:ln/>
        </p:spPr>
        <p:txBody>
          <a:bodyPr wrap="square" lIns="0" tIns="0" rIns="0" bIns="0" rtlCol="0" anchor="t"/>
          <a:lstStyle/>
          <a:p>
            <a:pPr indent="0" marL="0">
              <a:spcAft>
                <a:spcPts val="400"/>
              </a:spcAft>
              <a:buNone/>
            </a:pPr>
            <a:r>
              <a:rPr lang="en-US" sz="1200" b="1" dirty="0">
                <a:solidFill>
                  <a:srgbClr val="1F6678"/>
                </a:solidFill>
                <a:latin typeface="Calibri" pitchFamily="34" charset="0"/>
                <a:ea typeface="Calibri" pitchFamily="34" charset="-122"/>
                <a:cs typeface="Calibri" pitchFamily="34" charset="-120"/>
              </a:rPr>
              <a:t>B — Kaza / servis olayları</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[13]  </a:t>
            </a:r>
            <a:r>
              <a:rPr lang="en-US" sz="1000" u="sng" dirty="0">
                <a:solidFill>
                  <a:srgbClr val="0B5F85"/>
                </a:solidFill>
                <a:latin typeface="Calibri" pitchFamily="34" charset="0"/>
                <a:ea typeface="Calibri" pitchFamily="34" charset="-122"/>
                <a:cs typeface="Calibri" pitchFamily="34" charset="-120"/>
                <a:hlinkClick r:id="rId16" invalidUrl="" action="" tgtFrame="" tooltip="https://www.airandspaceforces.com/PDF/AircraftAccidentReports/Documents/2012/032112_F-16CM_Osan.pdf" history="1" highlightClick="0" endSnd="0">
                  <a:extLst>
                    <a:ext uri="{A12FA001-AC4F-418D-AE19-62706E023703}">
                      <ahyp:hlinkClr xmlns:ahyp="http://schemas.microsoft.com/office/drawing/2018/hyperlinkcolor" val="tx"/>
                    </a:ext>
                  </a:extLst>
                </a:hlinkClick>
              </a:rPr>
              <a:t>USAF AIB — F-16CM 90-0771, Osan AB, 21 Mar 2012 (F110-GE-100, reversed stage-5 stator sector)</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[14]  </a:t>
            </a:r>
            <a:r>
              <a:rPr lang="en-US" sz="1000" u="sng" dirty="0">
                <a:solidFill>
                  <a:srgbClr val="0B5F85"/>
                </a:solidFill>
                <a:latin typeface="Calibri" pitchFamily="34" charset="0"/>
                <a:ea typeface="Calibri" pitchFamily="34" charset="-122"/>
                <a:cs typeface="Calibri" pitchFamily="34" charset="-120"/>
                <a:hlinkClick r:id="rId17" invalidUrl="" action="" tgtFrame="" tooltip="https://www.airandspaceforces.com/app/uploads/2025/02/1.-30Apr2024-AETC-F-16-Holloman-AIB-Report-final.pdf" history="1" highlightClick="0" endSnd="0">
                  <a:extLst>
                    <a:ext uri="{A12FA001-AC4F-418D-AE19-62706E023703}">
                      <ahyp:hlinkClr xmlns:ahyp="http://schemas.microsoft.com/office/drawing/2018/hyperlinkcolor" val="tx"/>
                    </a:ext>
                  </a:extLst>
                </a:hlinkClick>
              </a:rPr>
              <a:t>USAF AIB — F-16C 87-0358, Holloman AFB, 30 Apr 2024 (F100-PW-220, turned stage-5 VSV)</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[15]  </a:t>
            </a:r>
            <a:r>
              <a:rPr lang="en-US" sz="1000" u="sng" dirty="0">
                <a:solidFill>
                  <a:srgbClr val="0B5F85"/>
                </a:solidFill>
                <a:latin typeface="Calibri" pitchFamily="34" charset="0"/>
                <a:ea typeface="Calibri" pitchFamily="34" charset="-122"/>
                <a:cs typeface="Calibri" pitchFamily="34" charset="-120"/>
                <a:hlinkClick r:id="rId18" invalidUrl="" action="" tgtFrame="" tooltip="https://www.mod.go.jp/asdf/news/20260424.pdf" history="1" highlightClick="0" endSnd="0">
                  <a:extLst>
                    <a:ext uri="{A12FA001-AC4F-418D-AE19-62706E023703}">
                      <ahyp:hlinkClr xmlns:ahyp="http://schemas.microsoft.com/office/drawing/2018/hyperlinkcolor" val="tx"/>
                    </a:ext>
                  </a:extLst>
                </a:hlinkClick>
              </a:rPr>
              <a:t>Japan MoD — JASDF F-2A, Hyakuri, 7 Aug 2025 (VSV lever-arm pin / connecting link)</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[16]  </a:t>
            </a:r>
            <a:r>
              <a:rPr lang="en-US" sz="1000" u="sng" dirty="0">
                <a:solidFill>
                  <a:srgbClr val="0B5F85"/>
                </a:solidFill>
                <a:latin typeface="Calibri" pitchFamily="34" charset="0"/>
                <a:ea typeface="Calibri" pitchFamily="34" charset="-122"/>
                <a:cs typeface="Calibri" pitchFamily="34" charset="-120"/>
                <a:hlinkClick r:id="rId19" invalidUrl="" action="" tgtFrame="" tooltip="https://data.ntsb.gov/carol-repgen/api/Aviation/ReportMain/GenerateNewestReport/99006/pdf" history="1" highlightClick="0" endSnd="0">
                  <a:extLst>
                    <a:ext uri="{A12FA001-AC4F-418D-AE19-62706E023703}">
                      <ahyp:hlinkClr xmlns:ahyp="http://schemas.microsoft.com/office/drawing/2018/hyperlinkcolor" val="tx"/>
                    </a:ext>
                  </a:extLst>
                </a:hlinkClick>
              </a:rPr>
              <a:t>NTSB ENG19IA013 Final Report — UAL 1768, CFM56-7B26 HPC, 21 Feb 2019</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[17]  </a:t>
            </a:r>
            <a:r>
              <a:rPr lang="en-US" sz="1000" u="sng" dirty="0">
                <a:solidFill>
                  <a:srgbClr val="0B5F85"/>
                </a:solidFill>
                <a:latin typeface="Calibri" pitchFamily="34" charset="0"/>
                <a:ea typeface="Calibri" pitchFamily="34" charset="-122"/>
                <a:cs typeface="Calibri" pitchFamily="34" charset="-120"/>
                <a:hlinkClick r:id="rId20" invalidUrl="" action="" tgtFrame="" tooltip="https://data.ntsb.gov/Docket/Document/docBLOB?ID=40482474&amp;FileExtension=.PDF&amp;FileName=Powerplants%20Group%20Chairman%27s%20Factual%20Report-Master.PDF" history="1" highlightClick="0" endSnd="0">
                  <a:extLst>
                    <a:ext uri="{A12FA001-AC4F-418D-AE19-62706E023703}">
                      <ahyp:hlinkClr xmlns:ahyp="http://schemas.microsoft.com/office/drawing/2018/hyperlinkcolor" val="tx"/>
                    </a:ext>
                  </a:extLst>
                </a:hlinkClick>
              </a:rPr>
              <a:t>NTSB ENG19IA013 — Powerplant Group Chairman's Factual Report, 2020</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[18]  </a:t>
            </a:r>
            <a:r>
              <a:rPr lang="en-US" sz="1000" u="sng" dirty="0">
                <a:solidFill>
                  <a:srgbClr val="0B5F85"/>
                </a:solidFill>
                <a:latin typeface="Calibri" pitchFamily="34" charset="0"/>
                <a:ea typeface="Calibri" pitchFamily="34" charset="-122"/>
                <a:cs typeface="Calibri" pitchFamily="34" charset="-120"/>
                <a:hlinkClick r:id="rId21" invalidUrl="" action="" tgtFrame="" tooltip="https://www.airandspaceforces.com/PDF/AircraftAccidentReports/Documents/2012/050312_F-15E_SWA_full.pdf" history="1" highlightClick="0" endSnd="0">
                  <a:extLst>
                    <a:ext uri="{A12FA001-AC4F-418D-AE19-62706E023703}">
                      <ahyp:hlinkClr xmlns:ahyp="http://schemas.microsoft.com/office/drawing/2018/hyperlinkcolor" val="tx"/>
                    </a:ext>
                  </a:extLst>
                </a:hlinkClick>
              </a:rPr>
              <a:t>USAF AIB — F-15E 90-0254, 3 May 2012 (titanium fire, ~360° case burn-through)</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[19]  </a:t>
            </a:r>
            <a:r>
              <a:rPr lang="en-US" sz="1000" u="sng" dirty="0">
                <a:solidFill>
                  <a:srgbClr val="0B5F85"/>
                </a:solidFill>
                <a:latin typeface="Calibri" pitchFamily="34" charset="0"/>
                <a:ea typeface="Calibri" pitchFamily="34" charset="-122"/>
                <a:cs typeface="Calibri" pitchFamily="34" charset="-120"/>
                <a:hlinkClick r:id="rId22" invalidUrl="" action="" tgtFrame="" tooltip="https://www.federalregister.gov/documents/2017/07/14/2017-14545/airworthiness-directives-cfm-international-sa-turbofan-engines" history="1" highlightClick="0" endSnd="0">
                  <a:extLst>
                    <a:ext uri="{A12FA001-AC4F-418D-AE19-62706E023703}">
                      <ahyp:hlinkClr xmlns:ahyp="http://schemas.microsoft.com/office/drawing/2018/hyperlinkcolor" val="tx"/>
                    </a:ext>
                  </a:extLst>
                </a:hlinkClick>
              </a:rPr>
              <a:t>FAA AD 2017-14-08 — CFM56-3 VSV bore corrosion, dual-engine loss of thrust control</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[20]  </a:t>
            </a:r>
            <a:r>
              <a:rPr lang="en-US" sz="1000" u="sng" dirty="0">
                <a:solidFill>
                  <a:srgbClr val="0B5F85"/>
                </a:solidFill>
                <a:latin typeface="Calibri" pitchFamily="34" charset="0"/>
                <a:ea typeface="Calibri" pitchFamily="34" charset="-122"/>
                <a:cs typeface="Calibri" pitchFamily="34" charset="-120"/>
                <a:hlinkClick r:id="rId23" invalidUrl="" action="" tgtFrame="" tooltip="https://www.govinfo.gov/content/pkg/FR-2022-04-14/html/2022-08037.htm" history="1" highlightClick="0" endSnd="0">
                  <a:extLst>
                    <a:ext uri="{A12FA001-AC4F-418D-AE19-62706E023703}">
                      <ahyp:hlinkClr xmlns:ahyp="http://schemas.microsoft.com/office/drawing/2018/hyperlinkcolor" val="tx"/>
                    </a:ext>
                  </a:extLst>
                </a:hlinkClick>
              </a:rPr>
              <a:t>FAA AD 2022-08-06 — CF34-8C/-8E variable-geometry corrosion, FADEC idle-lock</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[21]  </a:t>
            </a:r>
            <a:r>
              <a:rPr lang="en-US" sz="1000" u="sng" dirty="0">
                <a:solidFill>
                  <a:srgbClr val="0B5F85"/>
                </a:solidFill>
                <a:latin typeface="Calibri" pitchFamily="34" charset="0"/>
                <a:ea typeface="Calibri" pitchFamily="34" charset="-122"/>
                <a:cs typeface="Calibri" pitchFamily="34" charset="-120"/>
                <a:hlinkClick r:id="rId24" invalidUrl="" action="" tgtFrame="" tooltip="https://www.govinfo.gov/content/pkg/FR-2026-09-17/html/2026-19094.htm" history="1" highlightClick="0" endSnd="0">
                  <a:extLst>
                    <a:ext uri="{A12FA001-AC4F-418D-AE19-62706E023703}">
                      <ahyp:hlinkClr xmlns:ahyp="http://schemas.microsoft.com/office/drawing/2018/hyperlinkcolor" val="tx"/>
                    </a:ext>
                  </a:extLst>
                </a:hlinkClick>
              </a:rPr>
              <a:t>FAA NPRM FAA-2026-8816 — PW1500G/1900G VSV bushing wear → rotor rim contact, Sep 2026</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[22]  </a:t>
            </a:r>
            <a:r>
              <a:rPr lang="en-US" sz="1000" u="sng" dirty="0">
                <a:solidFill>
                  <a:srgbClr val="0B5F85"/>
                </a:solidFill>
                <a:latin typeface="Calibri" pitchFamily="34" charset="0"/>
                <a:ea typeface="Calibri" pitchFamily="34" charset="-122"/>
                <a:cs typeface="Calibri" pitchFamily="34" charset="-120"/>
                <a:hlinkClick r:id="rId25" invalidUrl="" action="" tgtFrame="" tooltip="https://data.ntsb.gov/carol-repgen/api/Aviation/ReportMain/GenerateNewestReport/193769/pdf" history="1" highlightClick="0" endSnd="0">
                  <a:extLst>
                    <a:ext uri="{A12FA001-AC4F-418D-AE19-62706E023703}">
                      <ahyp:hlinkClr xmlns:ahyp="http://schemas.microsoft.com/office/drawing/2018/hyperlinkcolor" val="tx"/>
                    </a:ext>
                  </a:extLst>
                </a:hlinkClick>
              </a:rPr>
              <a:t>NTSB ERA24FA110 — CL604 / CF34-3B, VSV spindle-bore corrosion, dual-engine stall, 2024</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[23]  </a:t>
            </a:r>
            <a:r>
              <a:rPr lang="en-US" sz="1000" u="sng" dirty="0">
                <a:solidFill>
                  <a:srgbClr val="0B5F85"/>
                </a:solidFill>
                <a:latin typeface="Calibri" pitchFamily="34" charset="0"/>
                <a:ea typeface="Calibri" pitchFamily="34" charset="-122"/>
                <a:cs typeface="Calibri" pitchFamily="34" charset="-120"/>
                <a:hlinkClick r:id="rId26" invalidUrl="" action="" tgtFrame="" tooltip="https://news.usni.org/wp-content/uploads/2015/06/F35-AIB-Final-Report-17-Mar-15.pdf" history="1" highlightClick="0" endSnd="0">
                  <a:extLst>
                    <a:ext uri="{A12FA001-AC4F-418D-AE19-62706E023703}">
                      <ahyp:hlinkClr xmlns:ahyp="http://schemas.microsoft.com/office/drawing/2018/hyperlinkcolor" val="tx"/>
                    </a:ext>
                  </a:extLst>
                </a:hlinkClick>
              </a:rPr>
              <a:t>USAF AIB — F-35A, Eglin AFB, 23 Jun 2014 (F135 stator seal rub → Ti rotor crack; fan analojisi)</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[24]  </a:t>
            </a:r>
            <a:r>
              <a:rPr lang="en-US" sz="1000" u="sng" dirty="0">
                <a:solidFill>
                  <a:srgbClr val="0B5F85"/>
                </a:solidFill>
                <a:latin typeface="Calibri" pitchFamily="34" charset="0"/>
                <a:ea typeface="Calibri" pitchFamily="34" charset="-122"/>
                <a:cs typeface="Calibri" pitchFamily="34" charset="-120"/>
                <a:hlinkClick r:id="rId27" invalidUrl="" action="" tgtFrame="" tooltip="https://govinfo.gov/content/pkg/FR-2005-11-09/html/05-22207.htm" history="1" highlightClick="0" endSnd="0">
                  <a:extLst>
                    <a:ext uri="{A12FA001-AC4F-418D-AE19-62706E023703}">
                      <ahyp:hlinkClr xmlns:ahyp="http://schemas.microsoft.com/office/drawing/2018/hyperlinkcolor" val="tx"/>
                    </a:ext>
                  </a:extLst>
                </a:hlinkClick>
              </a:rPr>
              <a:t>FAA AD 2005-23-09 — CF6-80E1 HPC case aft mount flange, bolt-hole spotface cracks</a:t>
            </a:r>
            <a:endParaRPr lang="en-US" sz="1200" dirty="0"/>
          </a:p>
          <a:p>
            <a:pPr indent="0" marL="0">
              <a:spcAft>
                <a:spcPts val="450"/>
              </a:spcAft>
              <a:buNone/>
            </a:pPr>
            <a:r>
              <a:rPr lang="en-US" sz="1000" b="1" dirty="0">
                <a:solidFill>
                  <a:srgbClr val="333333"/>
                </a:solidFill>
                <a:latin typeface="Calibri" pitchFamily="34" charset="0"/>
                <a:ea typeface="Calibri" pitchFamily="34" charset="-122"/>
                <a:cs typeface="Calibri" pitchFamily="34" charset="-120"/>
              </a:rPr>
              <a:t>[25]  </a:t>
            </a:r>
            <a:r>
              <a:rPr lang="en-US" sz="1000" u="sng" dirty="0">
                <a:solidFill>
                  <a:srgbClr val="0B5F85"/>
                </a:solidFill>
                <a:latin typeface="Calibri" pitchFamily="34" charset="0"/>
                <a:ea typeface="Calibri" pitchFamily="34" charset="-122"/>
                <a:cs typeface="Calibri" pitchFamily="34" charset="-120"/>
                <a:hlinkClick r:id="rId28" invalidUrl="" action="" tgtFrame="" tooltip="https://data.ntsb.gov/carol-repgen/api/Aviation/ReportMain/GenerateFactualReport/82022/pdf" history="1" highlightClick="0" endSnd="0">
                  <a:extLst>
                    <a:ext uri="{A12FA001-AC4F-418D-AE19-62706E023703}">
                      <ahyp:hlinkClr xmlns:ahyp="http://schemas.microsoft.com/office/drawing/2018/hyperlinkcolor" val="tx"/>
                    </a:ext>
                  </a:extLst>
                </a:hlinkClick>
              </a:rPr>
              <a:t>NTSB ENG12IA001 — PW2037 diffuser case M-flange bolt-hole rupture, 2011</a:t>
            </a:r>
            <a:endParaRPr lang="en-US" sz="1200" dirty="0"/>
          </a:p>
        </p:txBody>
      </p:sp>
      <p:sp>
        <p:nvSpPr>
          <p:cNvPr id="9" name="Shape 7"/>
          <p:cNvSpPr/>
          <p:nvPr/>
        </p:nvSpPr>
        <p:spPr>
          <a:xfrm>
            <a:off x="411480" y="5486400"/>
            <a:ext cx="11384280" cy="868680"/>
          </a:xfrm>
          <a:prstGeom prst="rect">
            <a:avLst/>
          </a:prstGeom>
          <a:solidFill>
            <a:srgbClr val="EAF2F5"/>
          </a:solidFill>
          <a:ln w="12700">
            <a:solidFill>
              <a:srgbClr val="EAF2F5"/>
            </a:solidFill>
            <a:prstDash val="solid"/>
          </a:ln>
        </p:spPr>
      </p:sp>
      <p:sp>
        <p:nvSpPr>
          <p:cNvPr id="10" name="Text 8"/>
          <p:cNvSpPr txBox="1"/>
          <p:nvPr/>
        </p:nvSpPr>
        <p:spPr>
          <a:xfrm>
            <a:off x="548640" y="5513832"/>
            <a:ext cx="11109960" cy="813816"/>
          </a:xfrm>
          <a:prstGeom prst="rect">
            <a:avLst/>
          </a:prstGeom>
          <a:noFill/>
          <a:ln/>
        </p:spPr>
        <p:txBody>
          <a:bodyPr wrap="square" lIns="0" tIns="0" rIns="0" bIns="0" rtlCol="0" anchor="ctr"/>
          <a:lstStyle/>
          <a:p>
            <a:pPr indent="0" marL="0">
              <a:buNone/>
            </a:pPr>
            <a:r>
              <a:rPr lang="en-US" sz="900" b="1" dirty="0">
                <a:solidFill>
                  <a:srgbClr val="1F6678"/>
                </a:solidFill>
                <a:latin typeface="Calibri" pitchFamily="34" charset="0"/>
                <a:ea typeface="Calibri" pitchFamily="34" charset="-122"/>
                <a:cs typeface="Calibri" pitchFamily="34" charset="-120"/>
              </a:rPr>
              <a:t>Bu özetin dayandığı iç literatür çalışmaları (21 Eylül 2026): </a:t>
            </a:r>
            <a:endParaRPr lang="en-US" sz="900" dirty="0"/>
          </a:p>
          <a:p>
            <a:pPr indent="0" marL="0">
              <a:buNone/>
            </a:pPr>
            <a:r>
              <a:rPr lang="en-US" sz="900" dirty="0">
                <a:solidFill>
                  <a:srgbClr val="333333"/>
                </a:solidFill>
                <a:latin typeface="Calibri" pitchFamily="34" charset="0"/>
                <a:ea typeface="Calibri" pitchFamily="34" charset="-122"/>
                <a:cs typeface="Calibri" pitchFamily="34" charset="-120"/>
              </a:rPr>
              <a:t>(1) HPC Static Parts Criticality Report – F110-class, 62 kaynak   (2) HPC Static Parts – What Is Critical and Why (r1)   (3) Static Compressor Parts Requiring Enhanced Substantiation   (4) Kompresör Statik Bileşenlerinin Kritiklik Analizi ve ENSIP Doğrulama Programı   (5) HPC Static Parts – Verified Consolidation (44 denetlenmiş iddia, 41 kaynak) + matris çalışma kitabı</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HPC Statik Parçalar – Kritiklik Özeti</dc:title>
  <dc:subject>PptxGenJS Presentation</dc:subject>
  <dc:creator>FEA / Yapısal Analiz</dc:creator>
  <cp:lastModifiedBy>FEA / Yapısal Analiz</cp:lastModifiedBy>
  <cp:revision>1</cp:revision>
  <dcterms:created xsi:type="dcterms:W3CDTF">2026-09-21T19:43:46Z</dcterms:created>
  <dcterms:modified xsi:type="dcterms:W3CDTF">2026-09-21T19:43:46Z</dcterms:modified>
</cp:coreProperties>
</file>
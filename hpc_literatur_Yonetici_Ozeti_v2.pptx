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TÜRKÇE  ════════════════</a:t>
            </a:r>
          </a:p>
          <a:p/>
          <a:p>
            <a:r>
              <a:t>KONUŞMA NOTLARI – SLAYT 1 · Kritiklik Özeti (hedef süre ≈ 5 dk)</a:t>
            </a:r>
          </a:p>
          <a:p/>
          <a:p>
            <a:r>
              <a:t>BU SLAYT NE İÇİN VAR</a:t>
            </a:r>
          </a:p>
          <a:p>
            <a:r>
              <a:t>• PDR'da alt sistem requirement'larını, yapılacak testleri ve parça kritikliğini konsolide ediyoruz; ekip de yeni kuruldu. Herkesin aynı resme bakması için parçalar arası ortak bir kritiklik haritası sunuyorum.</a:t>
            </a:r>
          </a:p>
          <a:p>
            <a:r>
              <a:t>• Parça sahipleri kendi bölümlerinde kendi parçalarını anlatacak; onları tekrar etmeyeceğim. Benim katkım parçaları birbirine bağlayan yapısal (FEA) bakış: hangi parça neden kritik ve hangi hasar hangi komşu parçaya sıçrıyor.</a:t>
            </a:r>
          </a:p>
          <a:p>
            <a:r>
              <a:t>• Bu, önceki ekibin çalışmasının bir değerlendirmesi DEĞİL. Tamamen dışarıdan, açık kaynaklardan yapılmış bir tarama: iki araştırma raporu (A – İngilizce, B – Türkçe), FAA Part 33, EASA CS-E, MIL-HDBK-1783B (ENSIP) ve kamuya açık kaza / AD kayıtları. İçinde bizim motorumuza ait veri yok; vakaların tamamı başka motorlardan (F110, CFM56, PW GTF).</a:t>
            </a:r>
          </a:p>
          <a:p>
            <a:r>
              <a:t>• Önceki ekipten devam eden arkadaşlara açık davet: bu tablo mevcut bilgiyle nerede örtüşüyor, nerede ayrışıyor? Sizin düzeltmeleriniz listeyi en hızlı olgunlaştıracak şey.</a:t>
            </a:r>
          </a:p>
          <a:p/>
          <a:p>
            <a:r>
              <a:t>ANA MESAJ (tek cümle)</a:t>
            </a:r>
          </a:p>
          <a:p>
            <a:r>
              <a:t>• "Statik parça" demek "düşük yorulma riski" demek değil. Kamuya açık en ağır vakaların neredeyse tamamı bağlaşık (coupled) arıza: dönmeyen parçadaki hasar rotora veya kompresör operabilitesine sıçrıyor.</a:t>
            </a:r>
          </a:p>
          <a:p/>
          <a:p>
            <a:r>
              <a:t>SOL ÜST – DÖRT ARIZA ZİNCİRİ (hepsini okumayın; birini anlatın, diğerlerine işaret edin)</a:t>
            </a:r>
          </a:p>
          <a:p>
            <a:r>
              <a:t>1) PW1500G / PW1900G – FAA NPRM, 17 Eylül 2026: altı atölye bulgusu. VSV bushing seti aşınıyor, vane öne yatıyor, inner locating ring HPC rotor rear rim'e değiyor. FAA bunun rotor arızasına ve uncontained release'e ilerleyebileceğini söylüyor. Henüz öneri (NPRM), nihai AD değil. Dikkat çekici olan: başlangıç noktası çatlak bir rotor değil, dönmeyen bir bushing.</a:t>
            </a:r>
          </a:p>
          <a:p>
            <a:r>
              <a:t>2) F-16CM, Kore, 21 Mart 2012 (F110-GE-100): USAF kaza raporu net – bakımda stage 5 stator sektörü hatalı takılmış, çevresel basınç dağılımı bozulmuş, iki adet stage 5 rotor blade HCF (yüksek çevrimli yorulma) ile kopmuş. Pilot sağ, uçak kayıp. Rapor, prosedür dokümanının hatanın nasıl oluşabileceğini ve riskin büyüklüğünü yeterince anlatmamasını katkı faktörü sayıyor.</a:t>
            </a:r>
          </a:p>
          <a:p>
            <a:r>
              <a:t>3) United B737-900, 21 Şubat 2019 (CFM56-7B): HPC stage 1'de tek bir VSV'nin pulu ve tespit somunu 2014 overhaul'unda takılmamış. Vane ≈31° off-schedule kalmış; sekiz stage 2 blade kopmuş, titanium fire başlamış, HPC case çevresinin ≈%60'ı yanarak delinmiş. Uçak güvenle indi.</a:t>
            </a:r>
          </a:p>
          <a:p>
            <a:r>
              <a:t>4) ENSIP saha dersi: MIL-HDBK-1783B, stator rezonans kırılmalarını beklenenden güçlü blade-passing wake + azalmış mekanik damping'e bağlıyor ve damping kaybının genellikle kalifikasyondan SONRA yapılan tasarım / imalat değişikliklerinden geldiğini not ediyor.</a:t>
            </a:r>
          </a:p>
          <a:p/>
          <a:p>
            <a:r>
              <a:t>TABLO – NASIL OKUNMALI</a:t>
            </a:r>
          </a:p>
          <a:p>
            <a:r>
              <a:t>• PDR'daki rolü: Statik Kritik Parça Listesi'nin taslak tohumu. Nihai sınıflandırma değil, tartışma başlangıcı.</a:t>
            </a:r>
          </a:p>
          <a:p>
            <a:r>
              <a:t>• Sıralama parça boyutu veya maliyetine göre değil; beş kritere göre: emniyet sonucu, bağlaşık arıza potansiyeli, tarihsel kanıt, tespit edilebilirlik / bakım, imalat-konfigürasyon duyarlılığı.</a:t>
            </a:r>
          </a:p>
          <a:p>
            <a:r>
              <a:t>• HPC casing için üç ayrı soru ayrı ayrı kapatılmalı: (1) basınç + dış yük mukavemeti, (2) çevrimsel bütünlük ve çatlak toleransı, (3) rotor arızası / rub sonuçları (containment, titanium fire).</a:t>
            </a:r>
          </a:p>
          <a:p>
            <a:r>
              <a:t>• VSV tek tek parça olarak değil SİSTEM olarak ele alınmalı; tehlike çoğu zaman kırılmadan değil, klerans büyümesi veya kısıtlı hareketten geliyor.</a:t>
            </a:r>
          </a:p>
          <a:p>
            <a:r>
              <a:t>• Flange cıvataları ve joint'ler ana yapının kritikliğini miras alır.</a:t>
            </a:r>
          </a:p>
          <a:p>
            <a:r>
              <a:t>• (**) İki rapor burada ayrışıyor: A, HPC case + VSV'yi Tier 1 koyuyor; B ise CDC ve ara gövdeyi Öncelik 1 yapıyor, çünkü tüm motor iskeletine bakıyor. Alt bölümümüzün sorumluluğunda hangi frame / gövdelerin olduğu netleşince bu satır ya düşer ya yükselir. Motor mimarimiz bu raporlardaki turbofan'dan farklıysa fan frame / front frame doğrudan geçerli olmayabilir.</a:t>
            </a:r>
          </a:p>
          <a:p>
            <a:r>
              <a:t>• Tier 3 satırı bizim VSV shroud / honeycomb assy / retention pin kalemleriyle birebir örtüşüyor: CFM56-5B SB 72-0921, anti-rotation pin aşınmasının honeycomb seal'in dönmesine ve bushing'in serbest kalmasına yol açtığını anlatan bir boroskop muayenesi.</a:t>
            </a:r>
          </a:p>
          <a:p/>
          <a:p>
            <a:r>
              <a:t>PDR'A BAĞLANTI – TARTIŞMAYA AÇILACAK ADAY REQUIREMENT'LAR</a:t>
            </a:r>
          </a:p>
          <a:p>
            <a:r>
              <a:t>• VSV vane açısı / rigging toleransı → güvenlik-kritik kontrollü karakteristik.</a:t>
            </a:r>
          </a:p>
          <a:p>
            <a:r>
              <a:t>• Stator sektörleri, VSV lever ve trunnion donanımı → ters / eksik montaj edilemezlik.</a:t>
            </a:r>
          </a:p>
          <a:p>
            <a:r>
              <a:t>• Casing → ultimate basınç + kombine yük faktörü; containment ve yangın bariyeri fonksiyonu.</a:t>
            </a:r>
          </a:p>
          <a:p>
            <a:r>
              <a:t>• FSV → frekans / HCF marjı; damping'in konfigürasyon kontrollü olması.</a:t>
            </a:r>
          </a:p>
          <a:p>
            <a:r>
              <a:t>• Shroud / pin / honeycomb → retention ve aşınma limiti; serbest kalan parçanın sonucu.</a:t>
            </a:r>
          </a:p>
          <a:p>
            <a:r>
              <a:t>• Hepsi için → kritik lokasyonlara muayene erişimi.</a:t>
            </a:r>
          </a:p>
          <a:p/>
          <a:p>
            <a:r>
              <a:t>RİSKLER – KISA EK</a:t>
            </a:r>
          </a:p>
          <a:p>
            <a:r>
              <a:t>• §33.83 vibrasyon survey'i vane'leri açıkça kapsıyor; statik mukavemet tek başına yeterli kanıt değil.</a:t>
            </a:r>
          </a:p>
          <a:p>
            <a:r>
              <a:t>• F-15E (3 Mayıs 2012): kaza raporu nedeni motor içindeki titanyum bileşenlerin tutuşması ve yıkıcı yangın olarak veriyor; yangın kritik hidrolikleri devre dışı bırakmış. Mürettebat sağ.</a:t>
            </a:r>
          </a:p>
          <a:p>
            <a:r>
              <a:t>• Son madde dürüstlük maddesi: kamuya açık kaynaklarda F110'a özgü gerilme, ömür, frekans ve tamir limiti yok. Bu slayt önceliklendirme ve yöntem veriyor; sayılar bizim yük tanımımızdan ve testlerimizden gelecek.</a:t>
            </a:r>
          </a:p>
          <a:p/>
          <a:p>
            <a:r>
              <a:t>OLASI SORULAR</a:t>
            </a:r>
          </a:p>
          <a:p>
            <a:r>
              <a:t>• "Bu vakalar bizim motorda yaşandı mı?" → Hayır. Hepsi başka motorlar; amaç mekanizmayı göstermek.</a:t>
            </a:r>
          </a:p>
          <a:p>
            <a:r>
              <a:t>• "Önceki çalışmada bunlara bakılmış mıydı?" → Bir sonraki slayttaki ilk adım tam olarak bu: miras çalışmaların envanteri. Önceki ekipten arkadaşların katkısıyla netleşecek.</a:t>
            </a:r>
          </a:p>
          <a:p>
            <a:r>
              <a:t>• "Basınç faktörleri?" → ENSIP: ultimate = tek başına 2× maksimum çalışma basıncı VEYA 1.5× + manevra + termal; case bütün kalmalı, kalıcı deformasyona izin var. FAA §33.64: kalıcı distorsiyon / kaçak yok → 1.1× max working veya 1.33× normal working; burst yok → 1.15× max possible veya 1.5× max working. Not: Rapor B'de FAA'ya atfedilen "1.5× proof / 2.0–2.5× burst" değerleri §33.64 metniyle örtüşmüyor; FAA gereksinimi diye sunulmamalı.</a:t>
            </a:r>
          </a:p>
          <a:p/>
          <a:p>
            <a:r>
              <a:t>════════════════  ENGLISH  ════════════════</a:t>
            </a:r>
          </a:p>
          <a:p/>
          <a:p>
            <a:r>
              <a:t>SPEAKER NOTES – SLIDE 1 · Criticality Summary (target ≈ 5 min)</a:t>
            </a:r>
          </a:p>
          <a:p/>
          <a:p>
            <a:r>
              <a:t>WHY THIS SLIDE EXISTS</a:t>
            </a:r>
          </a:p>
          <a:p>
            <a:r>
              <a:t>• At PDR we are consolidating sub-system requirements, the tests to run and part criticality – and the team has only recently been formed. This slide gives everyone one shared, cross-part criticality map.</a:t>
            </a:r>
          </a:p>
          <a:p>
            <a:r>
              <a:t>• The part owners will cover their own hardware in their own sections; I will not repeat them. My contribution is the structural (FEA) view that links the parts: why each one matters and which damage jumps to which neighbour.</a:t>
            </a:r>
          </a:p>
          <a:p>
            <a:r>
              <a:t>• This is NOT a review of the previous team's work. It is an outside-in survey of public sources only: two research reports (A – English, B – Turkish), FAA Part 33, EASA CS-E, MIL-HDBK-1783B (ENSIP) and public accident / AD records. It contains no data from our own engine; every case is from another engine (F110, CFM56, PW GTF).</a:t>
            </a:r>
          </a:p>
          <a:p>
            <a:r>
              <a:t>• Open invitation to colleagues who carried over from the previous team: where does this table match what is already known, and where does it differ? Your corrections are the fastest way to mature the list.</a:t>
            </a:r>
          </a:p>
          <a:p/>
          <a:p>
            <a:r>
              <a:t>KEY MESSAGE (one sentence)</a:t>
            </a:r>
          </a:p>
          <a:p>
            <a:r>
              <a:t>• "Static" does not mean "low fatigue risk". Nearly all of the worst public cases are coupled failures: damage in a non-rotating part propagates into the rotor or into compressor operability.</a:t>
            </a:r>
          </a:p>
          <a:p/>
          <a:p>
            <a:r>
              <a:t>TOP LEFT – FOUR FAILURE CHAINS (do not read all four; tell one, point at the rest)</a:t>
            </a:r>
          </a:p>
          <a:p>
            <a:r>
              <a:t>1) PW1500G / PW1900G – FAA NPRM, 17 Sep 2026: six shop findings. The VSV bushing set wears, the vane rocks forward, the inner locating ring touches the HPC rotor rear rim. FAA states this could progress to rotor failure and uncontained release. Still a proposal (NPRM), not a final AD. The striking point: the initiator is not a cracked rotor but a non-rotating bushing.</a:t>
            </a:r>
          </a:p>
          <a:p>
            <a:r>
              <a:t>2) F-16CM, Korea, 21 Mar 2012 (F110-GE-100): the USAF accident report is unambiguous – a stage 5 stator sector was installed incorrectly during maintenance, the circumferential pressure field became uneven, and two stage 5 rotor blades failed in HCF (high-cycle fatigue). Pilot safe, aircraft lost. The report lists as a contributing factor that the procedure did not explain how the error could occur or how severe its consequence was.</a:t>
            </a:r>
          </a:p>
          <a:p>
            <a:r>
              <a:t>3) United B737-900, 21 Feb 2019 (CFM56-7B): one HPC stage 1 VSV was missing its washer and retaining nut since a 2014 overhaul. The vane sat ≈31° off-schedule; eight stage 2 blades separated, a titanium fire started and ≈60 % of the HPC case circumference burned through. The aircraft landed safely.</a:t>
            </a:r>
          </a:p>
          <a:p>
            <a:r>
              <a:t>4) ENSIP lesson learned: MIL-HDBK-1783B attributes stator resonant failures to stronger-than-expected blade-passing wakes combined with reduced mechanical damping, and notes that the damping loss generally came from design / manufacturing changes made AFTER qualification.</a:t>
            </a:r>
          </a:p>
          <a:p/>
          <a:p>
            <a:r>
              <a:t>THE TABLE – HOW TO READ IT</a:t>
            </a:r>
          </a:p>
          <a:p>
            <a:r>
              <a:t>• Its PDR role: the seed of the Static Critical Parts List. A starting point for discussion, not a final classification.</a:t>
            </a:r>
          </a:p>
          <a:p>
            <a:r>
              <a:t>• Ranking is not by part size or cost but by five criteria: safety consequence, coupled-failure potential, historical evidence, detectability / maintainability, manufacturing-configuration sensitivity.</a:t>
            </a:r>
          </a:p>
          <a:p>
            <a:r>
              <a:t>• The HPC casing needs three separate questions closed separately: (1) pressure + external load strength, (2) cyclic integrity and crack tolerance, (3) consequences of rotor failure / rub (containment, titanium fire).</a:t>
            </a:r>
          </a:p>
          <a:p>
            <a:r>
              <a:t>• VSV must be treated as a SYSTEM, not piece parts; the hazard usually comes from clearance growth or restricted motion, not from fracture.</a:t>
            </a:r>
          </a:p>
          <a:p>
            <a:r>
              <a:t>• Flange bolts and joints inherit the criticality of the parent structure.</a:t>
            </a:r>
          </a:p>
          <a:p>
            <a:r>
              <a:t>• (**) The two reports disagree here: A puts HPC case + VSV in Tier 1; B makes the CDC and intermediate casing Priority 1 because it looks at the whole engine skeleton. Once it is clear which frames / casings belong to our sub-section, this row either drops or rises. If our engine architecture differs from the turbofans in these reports, fan frame / front frame may not apply directly.</a:t>
            </a:r>
          </a:p>
          <a:p>
            <a:r>
              <a:t>• The Tier 3 row maps one-to-one onto our VSV shroud / honeycomb assy / retention pin items: CFM56-5B SB 72-0921 is a borescope inspection addressing anti-rotation pin wear that lets the honeycomb seal rotate and a bushing liberate.</a:t>
            </a:r>
          </a:p>
          <a:p/>
          <a:p>
            <a:r>
              <a:t>LINK TO PDR – CANDIDATE REQUIREMENTS TO PUT ON THE TABLE</a:t>
            </a:r>
          </a:p>
          <a:p>
            <a:r>
              <a:t>• VSV vane angle / rigging tolerance → safety-critical controlled characteristic.</a:t>
            </a:r>
          </a:p>
          <a:p>
            <a:r>
              <a:t>• Stator sectors, VSV lever and trunnion hardware → cannot be assembled reversed or incomplete.</a:t>
            </a:r>
          </a:p>
          <a:p>
            <a:r>
              <a:t>• Casing → ultimate pressure + combined load factor; containment and fire-barrier function.</a:t>
            </a:r>
          </a:p>
          <a:p>
            <a:r>
              <a:t>• FSV → frequency / HCF margin; damping under configuration control.</a:t>
            </a:r>
          </a:p>
          <a:p>
            <a:r>
              <a:t>• Shroud / pin / honeycomb → retention and wear limits; consequence of a liberated piece.</a:t>
            </a:r>
          </a:p>
          <a:p>
            <a:r>
              <a:t>• All of them → inspection access to the critical locations.</a:t>
            </a:r>
          </a:p>
          <a:p/>
          <a:p>
            <a:r>
              <a:t>RISKS – SHORT ADD-ONS</a:t>
            </a:r>
          </a:p>
          <a:p>
            <a:r>
              <a:t>• The §33.83 vibration survey explicitly covers vanes; static strength alone is not sufficient evidence.</a:t>
            </a:r>
          </a:p>
          <a:p>
            <a:r>
              <a:t>• F-15E (3 May 2012): the accident report gives the cause as ignition of titanium components inside the engine and a destructive fire that took out critical hydraulics. Crew safe.</a:t>
            </a:r>
          </a:p>
          <a:p>
            <a:r>
              <a:t>• The last bullet is the honesty bullet: public sources contain no F110-specific stresses, lives, frequencies or repair limits. This slide gives prioritisation and method; the numbers must come from our own loads definition and tests.</a:t>
            </a:r>
          </a:p>
          <a:p/>
          <a:p>
            <a:r>
              <a:t>LIKELY QUESTIONS</a:t>
            </a:r>
          </a:p>
          <a:p>
            <a:r>
              <a:t>• "Did these events happen on our engine?" → No. All are other engines; the point is the mechanism.</a:t>
            </a:r>
          </a:p>
          <a:p>
            <a:r>
              <a:t>• "Did the earlier work look at these?" → That is exactly the first step on the next slide: an inventory of the legacy work. It will become clear with input from colleagues who were on the previous team.</a:t>
            </a:r>
          </a:p>
          <a:p>
            <a:r>
              <a:t>• "Pressure factors?" → ENSIP: ultimate = 2× maximum operating pressure alone OR 1.5× + maneuver + thermal; case must stay intact, permanent deformation allowed. FAA §33.64: no permanent distortion / leakage at 1.1× max working or 1.33× normal working; no burst at 1.15× max possible or 1.5× max working. Note: the "1.5× proof / 2.0–2.5× burst" figures that Report B attributes to the FAA do not match the §33.64 text and should not be presented as an FAA requirement.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TÜRKÇE  ════════════════</a:t>
            </a:r>
          </a:p>
          <a:p/>
          <a:p>
            <a:r>
              <a:t>KONUŞMA NOTLARI – SLAYT 2 · Doğrulama Yaklaşımı ve Öneriler (hedef süre ≈ 5 dk)</a:t>
            </a:r>
          </a:p>
          <a:p/>
          <a:p>
            <a:r>
              <a:t>GEÇİŞ CÜMLESİ</a:t>
            </a:r>
          </a:p>
          <a:p>
            <a:r>
              <a:t>• "Önceki slayt NEYİN kritik olduğunu söyledi; bu slayt bunu NASIL kanıtlayacağımızı ve PDR'dan hangi kararlarla çıkmamız gerektiğini söylüyor."</a:t>
            </a:r>
          </a:p>
          <a:p/>
          <a:p>
            <a:r>
              <a:t>SOL ÜST – KANIT ZİNCİRİ</a:t>
            </a:r>
          </a:p>
          <a:p>
            <a:r>
              <a:t>• Rapor A'nın önerdiği sıra: görev / yük tanımı → sınıflandırma → analiz → malzeme-proses ve NDI → coupon → rig → modül / motor testi → teardown → korelasyon → ömür / muayene / tamir limitleri.</a:t>
            </a:r>
          </a:p>
          <a:p>
            <a:r>
              <a:t>• Turkuaz kutular FEA ekibinin doğrudan sahip olduğu adımlar. Kriter sağlanmazsa döngü redesign / proses / muayene değişikliğiyle yük modeline geri döner.</a:t>
            </a:r>
          </a:p>
          <a:p>
            <a:r>
              <a:t>• Kilit fikir: fizik-özel belirsizlikler (case yük transferi, VSV sürtünme / aşınma ve rigging, stator modal davranışı, shroud retention / rub) motor testine bırakılmamalı. Motor testi bu konularda zayıf enstrümantasyon ve belirsiz atıf verir; özel rig daha ucuz ve daha nettir.</a:t>
            </a:r>
          </a:p>
          <a:p>
            <a:r>
              <a:t>• "Motor başarıyla durdu" kalifikasyonun sonu değil: FAA §33.93 endurance sonrası tam teardown ister. Bizdeki karşılığı boyutsal ölçüm, NDT, aşınma haritası ve SAYISAL model korelasyonu olmalı.</a:t>
            </a:r>
          </a:p>
          <a:p/>
          <a:p>
            <a:r>
              <a:t>PDR'DA NEYE KARAR VERİLİR, NE SONRAYA KALIR (Rapor A'nın program kapılarına göre)</a:t>
            </a:r>
          </a:p>
          <a:p>
            <a:r>
              <a:t>• Şimdi – requirements / ön tasarım kapısı: Statik Kritik Parça Listesi; ön FMEA / FTA; yük ve ortam tanımı; ve "testle doğrulanması gereken varsayımlar" listesi. Pratikte buna her requirement için doğrulama yönteminin (analiz / rig / motor testi / muayene) atanması ve uzun tedarik süreli rig kararları da eklenir.</a:t>
            </a:r>
          </a:p>
          <a:p>
            <a:r>
              <a:t>• Sonra – detay tasarım kapısı: analiz yöntemlerinin, malzeme / proses temelinin, tasarım kullanım spektrumunun ve korelasyon planının dondurulması; ardından malzeme-proses kalifikasyonu, NDI POD gösterimi, rig ve motor testleri.</a:t>
            </a:r>
          </a:p>
          <a:p/>
          <a:p>
            <a:r>
              <a:t>TABLO – PARÇA BAZINDA ANALİZ / TEST (PDR'daki rolü: doğrulama matrisinin tohumu)</a:t>
            </a:r>
          </a:p>
          <a:p>
            <a:r>
              <a:t>• HPC casing: ENSIP yapısal süreksizliklerin yeterli detayda FE ile temsilini, termal modelin gerilme analizinde doğrudan kullanılmasını ve statik yapı testlerinde strain-gage korelasyonunu öneriyor. ENSIP saha dersi: emniyet katsayısı ≈2 olan case'lerde rupture, LCF ve burn-through problemleri azalmış.</a:t>
            </a:r>
          </a:p>
          <a:p>
            <a:r>
              <a:t>• VSV: akademik triboloji çalışmaları motor-temsilî sıcaklık, yük ve salınım hareketini üreten özel rig kullanıyor; çünkü bushing aşınması malzeme coupon'undan çıkarılamıyor. Aşınma testi hedeflenen servis aralığının TAMAMINI kapsamalı ve "aşınmış statik parça aşağı akımda neye değebilir" sorusu sorulmalı (PW dersi).</a:t>
            </a:r>
          </a:p>
          <a:p>
            <a:r>
              <a:t>• FSV: substantiation frekans ayrımına veya damping'e dayanıyorsa üretimden modal örnekleme düşünülmeli. Boyutsal değiştirilebilirlik dinamik eşdeğerliği kanıtlamaz.</a:t>
            </a:r>
          </a:p>
          <a:p>
            <a:r>
              <a:t>• Shroud / seal / honeycomb / pin: nominal gerilmeleri düşük görünse de rotora yakınlar; serbest kalan parçanın sonucu analiz kapsamına girmeli.</a:t>
            </a:r>
          </a:p>
          <a:p/>
          <a:p>
            <a:r>
              <a:t>ÖNERİLER – KISA EK</a:t>
            </a:r>
          </a:p>
          <a:p>
            <a:r>
              <a:t>1) Kritik Parça Listesi: FAA'nın safety analysis modeli faydalı, çünkü yalnızca başlatan parçayı değil sonuç ve gizli (latent) arızaları da kapsıyor. Piece-part FMEA fiziksel girişimi tüm kademe boyunca izlemezse PW tipi zinciri hafife alır.</a:t>
            </a:r>
          </a:p>
          <a:p>
            <a:r>
              <a:t>2) Tier-1 iş paketi: pratik anlamı – bu iki grup analiz derinliği, test bütçesi ve gözden geçirme sıklığında öncelik alır.</a:t>
            </a:r>
          </a:p>
          <a:p>
            <a:r>
              <a:t>3) Poka-yoke: F-16CM ve B737 vakalarının dersi. Bakım / montaj hatası yapısal substantiation'ın parçasıdır; keying, rigging kontrolü ve bağımsız muayene requirement olarak yazılmalı.</a:t>
            </a:r>
          </a:p>
          <a:p>
            <a:r>
              <a:t>4) Damage tolerance: yüksek gerilmeli süreksizliklerde başlangıç kusuru varsay, büyümesini hesapla, muayene kabiliyetini geometriyle birlikte tasarla. Rapor B hedef olarak %90 tespit / %95 güven POD veriyor. Muayene erişimi, ulaşması kolay yüzeylere göre değil analizin gösterdiği kritik lokasyonlara göre tasarlanmalı – bu PDR'da karar verilmezse sonradan çok pahalı.</a:t>
            </a:r>
          </a:p>
          <a:p>
            <a:r>
              <a:t>5) Konfigürasyon kapısı: döküm rotası, braze, damping arayüzü, bushing malzeme / kaplaması, case-bore prosesi gibi değişiklikler orijinal varsayımlara karşı taranmalı.</a:t>
            </a:r>
          </a:p>
          <a:p>
            <a:r>
              <a:t>6) Titanium fire: Rapor B, Ti → IN718 geçişinin sıkıştırma sıcaklığı + olası rub enerjisine göre seçilmesini ve rub ihtimali olan yüzeylerin tutuşmayan abradable / bariyerle izole edilmesini öneriyor.</a:t>
            </a:r>
          </a:p>
          <a:p/>
          <a:p>
            <a:r>
              <a:t>FEA TARAFI – KISA EK</a:t>
            </a:r>
          </a:p>
          <a:p>
            <a:r>
              <a:t>• Miras çalışmaların envanteri ilk adım: hangi FEA modelleri var, hangi yük / sınır şartı varsayımıyla kuruldu, hangi testler yapıldı, hangi sonuçlar korele edildi? Amaç geçmişi sorgulamak değil; tekrar iş yapmamak ve varsayımları bilinçli devralmak. Önceki ekipten arkadaşların bilgisi burada en değerli girdi.</a:t>
            </a:r>
          </a:p>
          <a:p>
            <a:r>
              <a:t>• Design Usage &amp; Loads dokümanı FEA sınır şartlarının tek kaynağı olmalı; parça bazında ayrı ayrı yük varsayımı üretmek ileride korelasyonu imkânsız kılar.</a:t>
            </a:r>
          </a:p>
          <a:p>
            <a:r>
              <a:t>• Parça sahiplerinden istenen veri: tolerans zinciri, cıvata preload dağılımı, bushing / bore kleransları ve üretim rotasını temsil eden malzeme allowable'ları.</a:t>
            </a:r>
          </a:p>
          <a:p>
            <a:r>
              <a:t>• Bu slaytta yer almayan ama ileride gündeme gelecek konu: geliştirme testlerinde yaşanan şiddetli surge / stall olayları enstrümante edilmeli ve ardından teardown yapılmalı (ENSIP önerisi).</a:t>
            </a:r>
          </a:p>
          <a:p/>
          <a:p>
            <a:r>
              <a:t>KAPANIŞ CÜMLESİ</a:t>
            </a:r>
          </a:p>
          <a:p>
            <a:r>
              <a:t>• "Ortak payda: en ağır statik-kompresör arızaları izole statik aşırı gerilme değil; casing → containment, VSV aşınması → rotor teması, vane hizasızlığı → blade HCF, stator damping'i → rezonans gibi bağlaşık arızalar. Requirement'larımız ve doğrulama planımız bu zincirleri kapatacak şekilde yazılmalı."</a:t>
            </a:r>
          </a:p>
          <a:p/>
          <a:p>
            <a:r>
              <a:t>YÖNETİCİDEN BEKLENEN KARARLAR (sözlü)</a:t>
            </a:r>
          </a:p>
          <a:p>
            <a:r>
              <a:t>• Kritik Parça Listesi çalışmasının başlatılması ve sahibinin belirlenmesi.</a:t>
            </a:r>
          </a:p>
          <a:p>
            <a:r>
              <a:t>• Miras çalışma envanteri için önceki ekipten bir-iki kişinin zamanının ayrılması.</a:t>
            </a:r>
          </a:p>
          <a:p>
            <a:r>
              <a:t>• Frame / CDC kapsam-arayüz teyidi (slayt 1 dipnotu).</a:t>
            </a:r>
          </a:p>
          <a:p>
            <a:r>
              <a:t>• Uzun tedarikli rig'lerin test planına ve bütçeye girmesi.</a:t>
            </a:r>
          </a:p>
          <a:p/>
          <a:p>
            <a:r>
              <a:t>════════════════  ENGLISH  ════════════════</a:t>
            </a:r>
          </a:p>
          <a:p/>
          <a:p>
            <a:r>
              <a:t>SPEAKER NOTES – SLIDE 2 · Verification Approach and Recommendations (target ≈ 5 min)</a:t>
            </a:r>
          </a:p>
          <a:p/>
          <a:p>
            <a:r>
              <a:t>TRANSITION LINE</a:t>
            </a:r>
          </a:p>
          <a:p>
            <a:r>
              <a:t>• "The previous slide said WHAT is critical; this one says HOW we prove it and which decisions we need to leave PDR with."</a:t>
            </a:r>
          </a:p>
          <a:p/>
          <a:p>
            <a:r>
              <a:t>TOP LEFT – EVIDENCE CHAIN</a:t>
            </a:r>
          </a:p>
          <a:p>
            <a:r>
              <a:t>• Sequence proposed by Report A: mission / loads → classification → analysis → material-process and NDI → coupons → rigs → module / engine test → teardown → correlation → life / inspection / repair limits.</a:t>
            </a:r>
          </a:p>
          <a:p>
            <a:r>
              <a:t>• The teal boxes are the steps the FEA team owns directly. If criteria are not met, the loop returns to the loads model via redesign / process change / inspection change.</a:t>
            </a:r>
          </a:p>
          <a:p>
            <a:r>
              <a:t>• Key idea: physics-specific uncertainty (case load transfer, VSV friction / wear and rigging, stator modal behaviour, shroud retention / rub) should not be left to the engine test. The engine gives poor instrumentation and ambiguous attribution for these; a dedicated rig is cheaper and clearer.</a:t>
            </a:r>
          </a:p>
          <a:p>
            <a:r>
              <a:t>• "The engine shut down successfully" is not the end of qualification: FAA §33.93 requires a full post-endurance teardown. Our equivalent should be dimensional inspection, NDT, wear mapping and QUANTITATIVE model correlation.</a:t>
            </a:r>
          </a:p>
          <a:p/>
          <a:p>
            <a:r>
              <a:t>WHAT IS DECIDED AT PDR AND WHAT COMES LATER (following Report A's programme gates)</a:t>
            </a:r>
          </a:p>
          <a:p>
            <a:r>
              <a:t>• Now – requirements / preliminary design gate: the Static Critical Parts List; preliminary FMEA / FTA; loads and environment definition; and a list of "assumptions requiring test validation". In practice this also means assigning a verification method (analysis / rig / engine test / inspection) to each requirement and deciding on long-lead rigs.</a:t>
            </a:r>
          </a:p>
          <a:p>
            <a:r>
              <a:t>• Later – detailed design gate: freeze analysis methods, the material / process basis, the design usage spectrum and the correlation plan; then material-process qualification, NDI POD demonstration, rig and engine tests.</a:t>
            </a:r>
          </a:p>
          <a:p/>
          <a:p>
            <a:r>
              <a:t>THE TABLE – ANALYSIS / TEST BY PART (its PDR role: the seed of the verification matrix)</a:t>
            </a:r>
          </a:p>
          <a:p>
            <a:r>
              <a:t>• HPC casing: ENSIP recommends detailed FE representation of structural discontinuities, direct use of the thermal model in the stress analysis and strain-gage correlation in static-structure tests. ENSIP lesson learned: cases designed to a factor of safety ≈2 showed fewer rupture, LCF and burn-through problems.</a:t>
            </a:r>
          </a:p>
          <a:p>
            <a:r>
              <a:t>• VSV: the academic tribology work uses dedicated rigs reproducing engine-representative temperature, load and oscillating motion, because bushing wear cannot be inferred from material coupons. The wear test must cover the FULL intended service interval and must ask "what can worn static hardware physically touch downstream?" (the PW lesson).</a:t>
            </a:r>
          </a:p>
          <a:p>
            <a:r>
              <a:t>• FSV: if substantiation leans on frequency separation or damping, consider modal sampling of production hardware. Dimensional interchangeability does not prove dynamic equivalence.</a:t>
            </a:r>
          </a:p>
          <a:p>
            <a:r>
              <a:t>• Shroud / seal / honeycomb / pin: nominal stresses look modest, but these parts sit next to the rotor; the consequence of a liberated piece belongs in the analysis scope.</a:t>
            </a:r>
          </a:p>
          <a:p/>
          <a:p>
            <a:r>
              <a:t>RECOMMENDATIONS – SHORT ADD-ONS</a:t>
            </a:r>
          </a:p>
          <a:p>
            <a:r>
              <a:t>1) Critical Parts List: the FAA safety-analysis model is useful because it covers consequential and latent failures, not only the initiating part. A piece-part FMEA that does not follow physical interference through the whole stage will undervalue a PW-type chain.</a:t>
            </a:r>
          </a:p>
          <a:p>
            <a:r>
              <a:t>2) Tier-1 work package: in practice, these two groups get priority in analysis depth, test budget and review frequency.</a:t>
            </a:r>
          </a:p>
          <a:p>
            <a:r>
              <a:t>3) Poka-yoke: the lesson of the F-16CM and B737 cases. Maintenance / assembly error is part of structural substantiation; keying, rigging checks and independent inspection should be written as requirements.</a:t>
            </a:r>
          </a:p>
          <a:p>
            <a:r>
              <a:t>4) Damage tolerance: assume initial flaws at highly stressed discontinuities, predict growth, and design inspection capability together with the geometry. Report B quotes a POD target of 90 % detection / 95 % confidence. Inspection access should be designed around the critical locations the analysis identifies, not around whichever surfaces are easy to reach – if this is not decided at PDR it becomes very expensive later.</a:t>
            </a:r>
          </a:p>
          <a:p>
            <a:r>
              <a:t>5) Configuration gate: changes in casting route, braze, damping interface, bushing material / coating or case-bore process should be screened against the original substantiation assumptions.</a:t>
            </a:r>
          </a:p>
          <a:p>
            <a:r>
              <a:t>6) Titanium fire: Report B recommends choosing the Ti → IN718 transition station from compression temperature plus plausible rub energy, and isolating rub-prone surfaces with non-igniting abradable / barrier coatings.</a:t>
            </a:r>
          </a:p>
          <a:p/>
          <a:p>
            <a:r>
              <a:t>FEA SIDE – SHORT ADD-ONS</a:t>
            </a:r>
          </a:p>
          <a:p>
            <a:r>
              <a:t>• The legacy-work inventory is step one: which FE models exist, with which loads / boundary-condition assumptions were they built, which tests were run, which results were correlated? The aim is not to question the past; it is to avoid redoing work and to inherit assumptions knowingly. The knowledge of colleagues from the previous team is the most valuable input here.</a:t>
            </a:r>
          </a:p>
          <a:p>
            <a:r>
              <a:t>• The Design Usage &amp; Loads document should be the single source of FEA boundary conditions; generating separate load assumptions part by part makes later correlation impossible.</a:t>
            </a:r>
          </a:p>
          <a:p>
            <a:r>
              <a:t>• Data needed from part owners: tolerance stack, bolt preload scatter, bushing / bore clearances, and material allowables representative of the production route.</a:t>
            </a:r>
          </a:p>
          <a:p>
            <a:r>
              <a:t>• Not on the slide but coming later: severe surge / stall events during development testing should be instrumented and followed by teardown (ENSIP recommendation).</a:t>
            </a:r>
          </a:p>
          <a:p/>
          <a:p>
            <a:r>
              <a:t>CLOSING LINE</a:t>
            </a:r>
          </a:p>
          <a:p>
            <a:r>
              <a:t>• "The common thread: the most consequential static-compressor failures are not isolated static overstress but coupled failures – casing → containment, VSV wear → rotor contact, vane misalignment → blade HCF, stator damping → resonance. Our requirements and our verification plan should be written to close those chains."</a:t>
            </a:r>
          </a:p>
          <a:p/>
          <a:p>
            <a:r>
              <a:t>DECISIONS ASKED OF THE MANAGER (verbal)</a:t>
            </a:r>
          </a:p>
          <a:p>
            <a:r>
              <a:t>• Launch the Critical Parts List activity and name its owner.</a:t>
            </a:r>
          </a:p>
          <a:p>
            <a:r>
              <a:t>• Release some time from one or two previous-team members for the legacy-work inventory.</a:t>
            </a:r>
          </a:p>
          <a:p>
            <a:r>
              <a:t>• Confirm the frame / CDC scope and interface (slide 1 footnote).</a:t>
            </a:r>
          </a:p>
          <a:p>
            <a:r>
              <a:t>• Get the long-lead rigs into the test plan and budget.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TÜRKÇE  ════════════════</a:t>
            </a:r>
          </a:p>
          <a:p/>
          <a:p>
            <a:r>
              <a:t>KONUŞMA NOTLARI – SLAYT 3 · Referanslar ve Kısaltmalar (sunulmaz; yedek sayfa)</a:t>
            </a:r>
          </a:p>
          <a:p/>
          <a:p>
            <a:r>
              <a:t>• Bu sayfa sunulmak için değil, yedek olarak duruyor. Soru gelirse ilgili kaynağa tıklayıp açabilirsiniz; slayt 1–2'deki köşeli parantezli numaralar da aynı bağlantılara gidiyor.</a:t>
            </a:r>
          </a:p>
          <a:p>
            <a:r>
              <a:t>• Ekibe yeni katılanlar için iyi bir okuma sırası: önce [11] ve [12] (iki kısa, somut vaka), sonra [2]'nin statik yapılar ve HCF bölümleri, en son [1] ve [3].</a:t>
            </a:r>
          </a:p>
          <a:p>
            <a:r>
              <a:t>• Birincil kaynaktan doğrulananlar: §33.64 basınç faktörleri; MIL-HDBK-1783B ultimate yük tanımı, stator rezonans saha dersleri ve F110-GE-129 IPE atfı; F-16CM ve F-15E kaza raporlarının neden ifadeleri; B737 N30401 vakası; FAA NPRM 2026-19094 özeti; CFM56-5B SB 72-0921 kapsamı.</a:t>
            </a:r>
          </a:p>
          <a:p>
            <a:r>
              <a:t>• [10] henüz NPRM (öneri) aşamasında; nihai AD yayımlanırsa atıf güncellenmeli. Uygulanabilirlik PW1500G / PW1900G.</a:t>
            </a:r>
          </a:p>
          <a:p>
            <a:r>
              <a:t>• [14] üçüncü taraf bir kopyadır (OEM portalı değil); resmi dokümana erişim varsa o referans gösterilmeli.</a:t>
            </a:r>
          </a:p>
          <a:p>
            <a:r>
              <a:t>• federalregister.gov ve ecfr.gov otomatik erişimi engelliyor ama tarayıcıda normal açılıyor.</a:t>
            </a:r>
          </a:p>
          <a:p>
            <a:r>
              <a:t>• Askeri programda Part 33 / CS-E bağlayıcı değil; kıyas noktası olarak kullanıldı. Bağlayıcı temel tedarik makamının belirlediği uçuşa elverişlilik gereksinimleridir; MIL-HDBK-1783B de kendiliğinden sözleşme gereksinimi değil, rehberdir.</a:t>
            </a:r>
          </a:p>
          <a:p/>
          <a:p>
            <a:r>
              <a:t>KISALTMALAR (slayttakilerin açılımı)</a:t>
            </a:r>
          </a:p>
          <a:p>
            <a:r>
              <a:t>• LLP: ömür sınırlı parça · ENSIP: USAF motor yapısal bütünlük programı · LCF / HCF / TMF: düşük çevrimli / yüksek çevrimli / termo-mekanik yorulma · BPF: blade passing frequency (rotor blade sayısı × devir) · EO: engine order · LOTC: itki kontrolünün kaybı · DOD / FOD: iç / yabancı madde hasarı · NDI / POD: tahribatsız muayene / tespit olasılığı · FAI: ilk ürün muayenesi · CDC: kompresör çıkış gövdesi · VSV / FSV: değişken / sabit stator vane · FBO: fan blade-out · AD / NPRM: uçuşa elverişlilik direktifi / kural önerisi · AIB: USAF kaza soruşturma heyeti · SB: servis bülteni · MOP: maksimum çalışma basıncı.</a:t>
            </a:r>
          </a:p>
          <a:p/>
          <a:p>
            <a:r>
              <a:t>════════════════  ENGLISH  ════════════════</a:t>
            </a:r>
          </a:p>
          <a:p/>
          <a:p>
            <a:r>
              <a:t>SPEAKER NOTES – SLIDE 3 · References and Abbreviations (backup, not presented)</a:t>
            </a:r>
          </a:p>
          <a:p/>
          <a:p>
            <a:r>
              <a:t>• This page is a backup, not a presented slide. If a question comes up you can click straight through; the bracketed numbers on slides 1–2 point to the same links.</a:t>
            </a:r>
          </a:p>
          <a:p>
            <a:r>
              <a:t>• A good reading order for people new to the team: first [11] and [12] (two short, concrete cases), then the static-structure and HCF sections of [2], and finally [1] and [3].</a:t>
            </a:r>
          </a:p>
          <a:p>
            <a:r>
              <a:t>• Verified against primary sources: the §33.64 pressure factors; the MIL-HDBK-1783B ultimate-load definition, stator-resonance lessons learned and F110-GE-129 IPE mention; the cause statements of the F-16CM and F-15E accident reports; the B737 N30401 case; the FAA NPRM 2026-19094 summary; the scope of CFM56-5B SB 72-0921.</a:t>
            </a:r>
          </a:p>
          <a:p>
            <a:r>
              <a:t>• [10] is still an NPRM (proposal); update the citation if a final AD is issued. Applicability is PW1500G / PW1900G.</a:t>
            </a:r>
          </a:p>
          <a:p>
            <a:r>
              <a:t>• [14] is a third-party copy (not the OEM portal); cite the official document if you have access to it.</a:t>
            </a:r>
          </a:p>
          <a:p>
            <a:r>
              <a:t>• federalregister.gov and ecfr.gov block automated access but open normally in a browser.</a:t>
            </a:r>
          </a:p>
          <a:p>
            <a:r>
              <a:t>• Part 33 / CS-E are not binding on a military programme; they are used here as a benchmark. The binding basis is the airworthiness requirement set by the procuring authority; MIL-HDBK-1783B is guidance, not automatically a contractual requirement.</a:t>
            </a:r>
          </a:p>
          <a:p/>
          <a:p>
            <a:r>
              <a:t>ABBREVIATIONS (as used on the slides)</a:t>
            </a:r>
          </a:p>
          <a:p>
            <a:r>
              <a:t>• LLP: life-limited part · ENSIP: USAF Engine Structural Integrity Program · LCF / HCF / TMF: low-cycle / high-cycle / thermo-mechanical fatigue · BPF: blade passing frequency (rotor blade count × speed) · EO: engine order · LOTC: loss of thrust control · DOD / FOD: domestic / foreign object damage · NDI / POD: non-destructive inspection / probability of detection · FAI: first article inspection · CDC: compressor discharge casing · VSV / FSV: variable / fixed stator vane · FBO: fan blade-out · AD / NPRM: airworthiness directive / notice of proposed rulemaking · AIB: USAF Accident Investigation Board · SB: service bulletin · MOP: maximum operating pressure.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ederalregister.gov/documents/2026/09/17/2026-19094/airworthiness-directives-pratt-and-whitney-engines" TargetMode="External"/><Relationship Id="rId3" Type="http://schemas.openxmlformats.org/officeDocument/2006/relationships/hyperlink" Target="https://www.airandspaceforces.com/PDF/AircraftAccidentReports/Documents/2012/032112_F-16CM_Osan.pdf" TargetMode="External"/><Relationship Id="rId4" Type="http://schemas.openxmlformats.org/officeDocument/2006/relationships/hyperlink" Target="https://aerossurance.com/safety-management/cfm56-titanium-fire-error/" TargetMode="External"/><Relationship Id="rId5" Type="http://schemas.openxmlformats.org/officeDocument/2006/relationships/hyperlink" Target="https://quicksearch.dla.mil/WMX/Default.aspx?token=449683" TargetMode="External"/><Relationship Id="rId6" Type="http://schemas.openxmlformats.org/officeDocument/2006/relationships/hyperlink" Target="https://www.scribd.com/document/649123377/CFM56-5B-SB-REV-72-0921-TSN-03-N-20181030" TargetMode="External"/><Relationship Id="rId7" Type="http://schemas.openxmlformats.org/officeDocument/2006/relationships/hyperlink" Target="https://www.ecfr.gov/current/title-14/chapter-I/subchapter-C/part-33" TargetMode="External"/><Relationship Id="rId8" Type="http://schemas.openxmlformats.org/officeDocument/2006/relationships/hyperlink" Target="https://www.faa.gov/documentLibrary/media/Advisory_Circular/AC_33_70-1.pdf" TargetMode="External"/><Relationship Id="rId9" Type="http://schemas.openxmlformats.org/officeDocument/2006/relationships/hyperlink" Target="https://www.safety.af.mil/Portals/71/documents/Magazines/FSM/1990s/199602.199603%20-%20FlyingSafetyMagazine.pdf?ver=fT1x1s0W5noXEObH0osyZA%3D%3D" TargetMode="External"/><Relationship Id="rId10" Type="http://schemas.openxmlformats.org/officeDocument/2006/relationships/hyperlink" Target="https://www.federalregister.gov/documents/2017/07/14/2017-14545/airworthiness-directives-cfm-international-sa-turbofan-engines" TargetMode="External"/><Relationship Id="rId11" Type="http://schemas.openxmlformats.org/officeDocument/2006/relationships/hyperlink" Target="https://www.faa.gov/regulations_policies/advisory_circulars/index.cfm/go/document.information/documentID/1041611" TargetMode="External"/><Relationship Id="rId12" Type="http://schemas.openxmlformats.org/officeDocument/2006/relationships/hyperlink" Target="https://www.airandspaceforces.com/PDF/AircraftAccidentReports/Documents/2012/050312_F-15E_SWA_full.pdf" TargetMode="External"/><Relationship Id="rId1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ecfr.gov/current/title-14/chapter-I/subchapter-C/part-33" TargetMode="External"/><Relationship Id="rId3" Type="http://schemas.openxmlformats.org/officeDocument/2006/relationships/hyperlink" Target="https://quicksearch.dla.mil/WMX/Default.aspx?token=449683" TargetMode="External"/><Relationship Id="rId4" Type="http://schemas.openxmlformats.org/officeDocument/2006/relationships/hyperlink" Target="https://www.federalregister.gov/documents/2017/07/14/2017-14545/airworthiness-directives-cfm-international-sa-turbofan-engines" TargetMode="External"/><Relationship Id="rId5" Type="http://schemas.openxmlformats.org/officeDocument/2006/relationships/hyperlink" Target="https://www.mdpi.com/2076-3417/15/24/13077" TargetMode="External"/><Relationship Id="rId6" Type="http://schemas.openxmlformats.org/officeDocument/2006/relationships/hyperlink" Target="https://www.sciencedirect.com/science/article/abs/pii/S0301679X2100428X" TargetMode="External"/><Relationship Id="rId7" Type="http://schemas.openxmlformats.org/officeDocument/2006/relationships/hyperlink" Target="https://www.faa.gov/regulations_policies/advisory_circulars/index.cfm/go/document.information/documentID/1041611" TargetMode="External"/><Relationship Id="rId8" Type="http://schemas.openxmlformats.org/officeDocument/2006/relationships/hyperlink" Target="https://www.scribd.com/document/649123377/CFM56-5B-SB-REV-72-0921-TSN-03-N-20181030" TargetMode="External"/><Relationship Id="rId9" Type="http://schemas.openxmlformats.org/officeDocument/2006/relationships/hyperlink" Target="https://www.faa.gov/documentLibrary/media/Advisory_Circular/AC_33_75-1A_with_Chg_1.pdf" TargetMode="External"/><Relationship Id="rId10" Type="http://schemas.openxmlformats.org/officeDocument/2006/relationships/hyperlink" Target="https://www.airandspaceforces.com/PDF/AircraftAccidentReports/Documents/2012/032112_F-16CM_Osan.pdf" TargetMode="External"/><Relationship Id="rId11" Type="http://schemas.openxmlformats.org/officeDocument/2006/relationships/hyperlink" Target="https://aerossurance.com/safety-management/cfm56-titanium-fire-error/" TargetMode="External"/><Relationship Id="rId12" Type="http://schemas.openxmlformats.org/officeDocument/2006/relationships/hyperlink" Target="https://www.faa.gov/documentLibrary/media/Advisory_Circular/AC_33_70-1.pdf" TargetMode="External"/><Relationship Id="rId13" Type="http://schemas.openxmlformats.org/officeDocument/2006/relationships/hyperlink" Target="https://www.airandspaceforces.com/PDF/AircraftAccidentReports/Documents/2012/050312_F-15E_SWA_full.pdf" TargetMode="Externa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ecfr.gov/current/title-14/chapter-I/subchapter-C/part-33" TargetMode="External"/><Relationship Id="rId3" Type="http://schemas.openxmlformats.org/officeDocument/2006/relationships/hyperlink" Target="https://quicksearch.dla.mil/WMX/Default.aspx?token=449683" TargetMode="External"/><Relationship Id="rId4" Type="http://schemas.openxmlformats.org/officeDocument/2006/relationships/hyperlink" Target="https://www.faa.gov/documentLibrary/media/Advisory_Circular/AC_33_70-1.pdf" TargetMode="External"/><Relationship Id="rId5" Type="http://schemas.openxmlformats.org/officeDocument/2006/relationships/hyperlink" Target="https://www.faa.gov/regulations_policies/advisory_circulars/index.cfm/go/document.information/documentID/1041611" TargetMode="External"/><Relationship Id="rId6" Type="http://schemas.openxmlformats.org/officeDocument/2006/relationships/hyperlink" Target="https://www.faa.gov/documentLibrary/media/Advisory_Circular/AC_33_75-1A_with_Chg_1.pdf" TargetMode="External"/><Relationship Id="rId7" Type="http://schemas.openxmlformats.org/officeDocument/2006/relationships/hyperlink" Target="https://www.easa.europa.eu/en/document-library/certification-specifications/group/cs-e-engines" TargetMode="External"/><Relationship Id="rId8" Type="http://schemas.openxmlformats.org/officeDocument/2006/relationships/hyperlink" Target="https://www.mdpi.com/2076-3417/15/24/13077" TargetMode="External"/><Relationship Id="rId9" Type="http://schemas.openxmlformats.org/officeDocument/2006/relationships/hyperlink" Target="https://www.sciencedirect.com/science/article/abs/pii/S0301679X2100428X" TargetMode="External"/><Relationship Id="rId10" Type="http://schemas.openxmlformats.org/officeDocument/2006/relationships/hyperlink" Target="https://www.rand.org/pubs/notes/N3618.html" TargetMode="External"/><Relationship Id="rId11" Type="http://schemas.openxmlformats.org/officeDocument/2006/relationships/hyperlink" Target="https://www.safety.af.mil/Portals/71/documents/Magazines/FSM/1990s/199602.199603%20-%20FlyingSafetyMagazine.pdf?ver=fT1x1s0W5noXEObH0osyZA%3D%3D" TargetMode="External"/><Relationship Id="rId12" Type="http://schemas.openxmlformats.org/officeDocument/2006/relationships/hyperlink" Target="https://www.safety.af.mil/Portals/71/documents/Magazines/FSM/fsmmar03.pdf?ver=2017-03-28-101121-763" TargetMode="External"/><Relationship Id="rId13" Type="http://schemas.openxmlformats.org/officeDocument/2006/relationships/hyperlink" Target="https://www.federalregister.gov/documents/2017/07/14/2017-14545/airworthiness-directives-cfm-international-sa-turbofan-engines" TargetMode="External"/><Relationship Id="rId14" Type="http://schemas.openxmlformats.org/officeDocument/2006/relationships/hyperlink" Target="https://www.federalregister.gov/documents/2026/09/17/2026-19094/airworthiness-directives-pratt-and-whitney-engines" TargetMode="External"/><Relationship Id="rId15" Type="http://schemas.openxmlformats.org/officeDocument/2006/relationships/hyperlink" Target="https://www.airandspaceforces.com/PDF/AircraftAccidentReports/Documents/2012/032112_F-16CM_Osan.pdf" TargetMode="External"/><Relationship Id="rId16" Type="http://schemas.openxmlformats.org/officeDocument/2006/relationships/hyperlink" Target="https://aerossurance.com/safety-management/cfm56-titanium-fire-error/" TargetMode="External"/><Relationship Id="rId17" Type="http://schemas.openxmlformats.org/officeDocument/2006/relationships/hyperlink" Target="https://www.airandspaceforces.com/PDF/AircraftAccidentReports/Documents/2012/050312_F-15E_SWA_full.pdf" TargetMode="External"/><Relationship Id="rId18" Type="http://schemas.openxmlformats.org/officeDocument/2006/relationships/hyperlink" Target="https://www.scribd.com/document/649123377/CFM56-5B-SB-REV-72-0921-TSN-03-N-20181030" TargetMode="External"/><Relationship Id="rId19"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566928"/>
          </a:xfrm>
          <a:prstGeom prst="rect">
            <a:avLst/>
          </a:prstGeom>
          <a:noFill/>
        </p:spPr>
        <p:txBody>
          <a:bodyPr wrap="square" anchor="t" lIns="0" rIns="0" tIns="0" bIns="0">
            <a:spAutoFit/>
          </a:bodyPr>
          <a:lstStyle/>
          <a:p>
            <a:r>
              <a:rPr sz="3000" b="0" i="0">
                <a:solidFill>
                  <a:srgbClr val="262626"/>
                </a:solidFill>
                <a:latin typeface="Calibri"/>
              </a:rPr>
              <a:t>Kompresör Statik Parçaları – Kritiklik Özeti</a:t>
            </a:r>
          </a:p>
        </p:txBody>
      </p:sp>
      <p:sp>
        <p:nvSpPr>
          <p:cNvPr id="3" name="TextBox 2"/>
          <p:cNvSpPr txBox="1"/>
          <p:nvPr/>
        </p:nvSpPr>
        <p:spPr>
          <a:xfrm>
            <a:off x="521207" y="804672"/>
            <a:ext cx="11155680" cy="310896"/>
          </a:xfrm>
          <a:prstGeom prst="rect">
            <a:avLst/>
          </a:prstGeom>
          <a:noFill/>
        </p:spPr>
        <p:txBody>
          <a:bodyPr wrap="square" anchor="t" lIns="0" rIns="0" tIns="0" bIns="0">
            <a:spAutoFit/>
          </a:bodyPr>
          <a:lstStyle/>
          <a:p>
            <a:r>
              <a:rPr sz="1400" b="0" i="1">
                <a:solidFill>
                  <a:srgbClr val="2A8C9C"/>
                </a:solidFill>
                <a:latin typeface="Calibri"/>
              </a:rPr>
              <a:t>PDR aşaması için yapısal analiz (FEA) bakışı · regülasyon, ENSIP ve saha vakaları taraması</a:t>
            </a:r>
          </a:p>
        </p:txBody>
      </p:sp>
      <p:sp>
        <p:nvSpPr>
          <p:cNvPr id="4" name="TextBox 3"/>
          <p:cNvSpPr txBox="1"/>
          <p:nvPr/>
        </p:nvSpPr>
        <p:spPr>
          <a:xfrm>
            <a:off x="822960" y="6473952"/>
            <a:ext cx="4572000" cy="228600"/>
          </a:xfrm>
          <a:prstGeom prst="rect">
            <a:avLst/>
          </a:prstGeom>
          <a:noFill/>
        </p:spPr>
        <p:txBody>
          <a:bodyPr wrap="square" anchor="t" lIns="0" rIns="0" tIns="0" bIns="0">
            <a:spAutoFit/>
          </a:bodyPr>
          <a:lstStyle/>
          <a:p>
            <a:r>
              <a:rPr sz="900" b="0" i="0">
                <a:solidFill>
                  <a:srgbClr val="262626"/>
                </a:solidFill>
                <a:latin typeface="Calibri"/>
              </a:rPr>
              <a:t>Sınıflandırma: </a:t>
            </a:r>
            <a:r>
              <a:rPr sz="900" b="0" i="0">
                <a:solidFill>
                  <a:srgbClr val="2A8C9C"/>
                </a:solidFill>
                <a:latin typeface="Calibri"/>
              </a:rPr>
              <a:t>Tasnif Dışı</a:t>
            </a:r>
          </a:p>
        </p:txBody>
      </p:sp>
      <p:sp>
        <p:nvSpPr>
          <p:cNvPr id="5" name="TextBox 4"/>
          <p:cNvSpPr txBox="1"/>
          <p:nvPr/>
        </p:nvSpPr>
        <p:spPr>
          <a:xfrm>
            <a:off x="11155680" y="6446520"/>
            <a:ext cx="548640" cy="228600"/>
          </a:xfrm>
          <a:prstGeom prst="rect">
            <a:avLst/>
          </a:prstGeom>
          <a:noFill/>
        </p:spPr>
        <p:txBody>
          <a:bodyPr wrap="square" anchor="t" lIns="0" rIns="0" tIns="0" bIns="0">
            <a:spAutoFit/>
          </a:bodyPr>
          <a:lstStyle/>
          <a:p>
            <a:pPr algn="r"/>
            <a:fld id="{B6F15528-21DE-4FAA-801E-634DDDAF4B2B}" type="slidenum">
              <a:rPr lang="tr-TR" sz="1000">
                <a:solidFill>
                  <a:srgbClr val="2A8C9C"/>
                </a:solidFill>
                <a:latin typeface="Calibri"/>
              </a:rPr>
              <a:t>‹#›</a:t>
            </a:fld>
          </a:p>
        </p:txBody>
      </p:sp>
      <p:sp>
        <p:nvSpPr>
          <p:cNvPr id="6" name="Rectangle 5"/>
          <p:cNvSpPr/>
          <p:nvPr/>
        </p:nvSpPr>
        <p:spPr>
          <a:xfrm>
            <a:off x="502920" y="1261872"/>
            <a:ext cx="5760720" cy="2304288"/>
          </a:xfrm>
          <a:prstGeom prst="rect">
            <a:avLst/>
          </a:prstGeom>
          <a:solidFill>
            <a:srgbClr val="3343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25880"/>
            <a:ext cx="5486400" cy="237744"/>
          </a:xfrm>
          <a:prstGeom prst="rect">
            <a:avLst/>
          </a:prstGeom>
          <a:noFill/>
        </p:spPr>
        <p:txBody>
          <a:bodyPr wrap="square" anchor="t" lIns="0" rIns="0" tIns="0" bIns="0">
            <a:spAutoFit/>
          </a:bodyPr>
          <a:lstStyle/>
          <a:p>
            <a:r>
              <a:rPr sz="1050" b="1" i="0">
                <a:solidFill>
                  <a:srgbClr val="FFFFFF"/>
                </a:solidFill>
                <a:latin typeface="Calibri"/>
              </a:rPr>
              <a:t>BAĞLAŞIK (COUPLED) ARIZA ZİNCİRLERİ</a:t>
            </a:r>
            <a:r>
              <a:rPr sz="900" b="0" i="1">
                <a:solidFill>
                  <a:srgbClr val="C9D6DB"/>
                </a:solidFill>
                <a:latin typeface="Calibri"/>
              </a:rPr>
              <a:t>   statik parça hasarı → rotor / operabilite</a:t>
            </a:r>
          </a:p>
        </p:txBody>
      </p:sp>
      <p:sp>
        <p:nvSpPr>
          <p:cNvPr id="8" name="TextBox 7">
            <a:hlinkClick r:id="rId2"/>
          </p:cNvPr>
          <p:cNvSpPr txBox="1"/>
          <p:nvPr/>
        </p:nvSpPr>
        <p:spPr>
          <a:xfrm>
            <a:off x="612648" y="1627631"/>
            <a:ext cx="1024128" cy="420624"/>
          </a:xfrm>
          <a:prstGeom prst="rect">
            <a:avLst/>
          </a:prstGeom>
          <a:noFill/>
        </p:spPr>
        <p:txBody>
          <a:bodyPr wrap="square" anchor="ctr" lIns="0" rIns="0" tIns="0" bIns="0">
            <a:spAutoFit/>
          </a:bodyPr>
          <a:lstStyle/>
          <a:p>
            <a:pPr>
              <a:lnSpc>
                <a:spcPct val="90000"/>
              </a:lnSpc>
            </a:pPr>
            <a:r>
              <a:rPr sz="800" b="1" i="0">
                <a:solidFill>
                  <a:srgbClr val="D9E4E8"/>
                </a:solidFill>
                <a:latin typeface="Calibri"/>
              </a:rPr>
              <a:t>PW1500G / PW1900G</a:t>
            </a:r>
          </a:p>
          <a:p>
            <a:pPr>
              <a:lnSpc>
                <a:spcPct val="90000"/>
              </a:lnSpc>
            </a:pPr>
            <a:r>
              <a:rPr sz="800" b="0" i="0">
                <a:solidFill>
                  <a:srgbClr val="D9E4E8"/>
                </a:solidFill>
                <a:latin typeface="Calibri"/>
              </a:rPr>
              <a:t>NPRM 2026 [10]</a:t>
            </a:r>
          </a:p>
        </p:txBody>
      </p:sp>
      <p:sp>
        <p:nvSpPr>
          <p:cNvPr id="9" name="Rounded Rectangle 8"/>
          <p:cNvSpPr/>
          <p:nvPr/>
        </p:nvSpPr>
        <p:spPr>
          <a:xfrm>
            <a:off x="1673352" y="1627631"/>
            <a:ext cx="987552" cy="420624"/>
          </a:xfrm>
          <a:prstGeom prst="roundRect">
            <a:avLst>
              <a:gd name="adj" fmla="val 18000"/>
            </a:avLst>
          </a:prstGeom>
          <a:solidFill>
            <a:srgbClr val="2A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3716" bIns="13716"/>
          <a:lstStyle/>
          <a:p>
            <a:pPr algn="ctr">
              <a:lnSpc>
                <a:spcPct val="90000"/>
              </a:lnSpc>
            </a:pPr>
            <a:r>
              <a:rPr sz="800" b="0" i="0">
                <a:solidFill>
                  <a:srgbClr val="FFFFFF"/>
                </a:solidFill>
                <a:latin typeface="Calibri"/>
              </a:rPr>
              <a:t>VSV bushing aşınması</a:t>
            </a:r>
          </a:p>
        </p:txBody>
      </p:sp>
      <p:sp>
        <p:nvSpPr>
          <p:cNvPr id="10" name="Right Arrow 9"/>
          <p:cNvSpPr/>
          <p:nvPr/>
        </p:nvSpPr>
        <p:spPr>
          <a:xfrm>
            <a:off x="2688336" y="1778507"/>
            <a:ext cx="137160" cy="118872"/>
          </a:xfrm>
          <a:prstGeom prst="rightArrow">
            <a:avLst/>
          </a:prstGeom>
          <a:solidFill>
            <a:srgbClr val="B8C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52928" y="1627631"/>
            <a:ext cx="987552" cy="420624"/>
          </a:xfrm>
          <a:prstGeom prst="roundRect">
            <a:avLst>
              <a:gd name="adj" fmla="val 18000"/>
            </a:avLst>
          </a:prstGeom>
          <a:solidFill>
            <a:srgbClr val="4E62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3716" bIns="13716"/>
          <a:lstStyle/>
          <a:p>
            <a:pPr algn="ctr">
              <a:lnSpc>
                <a:spcPct val="90000"/>
              </a:lnSpc>
            </a:pPr>
            <a:r>
              <a:rPr sz="800" b="0" i="0">
                <a:solidFill>
                  <a:srgbClr val="FFFFFF"/>
                </a:solidFill>
                <a:latin typeface="Calibri"/>
              </a:rPr>
              <a:t>Vane öne yatıyor (rocking)</a:t>
            </a:r>
          </a:p>
        </p:txBody>
      </p:sp>
      <p:sp>
        <p:nvSpPr>
          <p:cNvPr id="12" name="Right Arrow 11"/>
          <p:cNvSpPr/>
          <p:nvPr/>
        </p:nvSpPr>
        <p:spPr>
          <a:xfrm>
            <a:off x="3867912" y="1778507"/>
            <a:ext cx="137160" cy="118872"/>
          </a:xfrm>
          <a:prstGeom prst="rightArrow">
            <a:avLst/>
          </a:prstGeom>
          <a:solidFill>
            <a:srgbClr val="B8C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032504" y="1627631"/>
            <a:ext cx="987552" cy="420624"/>
          </a:xfrm>
          <a:prstGeom prst="roundRect">
            <a:avLst>
              <a:gd name="adj" fmla="val 18000"/>
            </a:avLst>
          </a:prstGeom>
          <a:solidFill>
            <a:srgbClr val="4E62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3716" bIns="13716"/>
          <a:lstStyle/>
          <a:p>
            <a:pPr algn="ctr">
              <a:lnSpc>
                <a:spcPct val="90000"/>
              </a:lnSpc>
            </a:pPr>
            <a:r>
              <a:rPr sz="800" b="0" i="0">
                <a:solidFill>
                  <a:srgbClr val="FFFFFF"/>
                </a:solidFill>
                <a:latin typeface="Calibri"/>
              </a:rPr>
              <a:t>Locating ring – rotor rim teması</a:t>
            </a:r>
          </a:p>
        </p:txBody>
      </p:sp>
      <p:sp>
        <p:nvSpPr>
          <p:cNvPr id="14" name="Right Arrow 13"/>
          <p:cNvSpPr/>
          <p:nvPr/>
        </p:nvSpPr>
        <p:spPr>
          <a:xfrm>
            <a:off x="5047488" y="1778507"/>
            <a:ext cx="137160" cy="118872"/>
          </a:xfrm>
          <a:prstGeom prst="rightArrow">
            <a:avLst/>
          </a:prstGeom>
          <a:solidFill>
            <a:srgbClr val="B8C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12080" y="1627631"/>
            <a:ext cx="987552" cy="420624"/>
          </a:xfrm>
          <a:prstGeom prst="roundRect">
            <a:avLst>
              <a:gd name="adj" fmla="val 18000"/>
            </a:avLst>
          </a:prstGeom>
          <a:solidFill>
            <a:srgbClr val="B548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3716" bIns="13716"/>
          <a:lstStyle/>
          <a:p>
            <a:pPr algn="ctr">
              <a:lnSpc>
                <a:spcPct val="90000"/>
              </a:lnSpc>
            </a:pPr>
            <a:r>
              <a:rPr sz="800" b="0" i="0">
                <a:solidFill>
                  <a:srgbClr val="FFFFFF"/>
                </a:solidFill>
                <a:latin typeface="Calibri"/>
              </a:rPr>
              <a:t>Uncontained rotor riski</a:t>
            </a:r>
          </a:p>
        </p:txBody>
      </p:sp>
      <p:sp>
        <p:nvSpPr>
          <p:cNvPr id="16" name="TextBox 15">
            <a:hlinkClick r:id="rId3"/>
          </p:cNvPr>
          <p:cNvSpPr txBox="1"/>
          <p:nvPr/>
        </p:nvSpPr>
        <p:spPr>
          <a:xfrm>
            <a:off x="612648" y="2112263"/>
            <a:ext cx="1024128" cy="420624"/>
          </a:xfrm>
          <a:prstGeom prst="rect">
            <a:avLst/>
          </a:prstGeom>
          <a:noFill/>
        </p:spPr>
        <p:txBody>
          <a:bodyPr wrap="square" anchor="ctr" lIns="0" rIns="0" tIns="0" bIns="0">
            <a:spAutoFit/>
          </a:bodyPr>
          <a:lstStyle/>
          <a:p>
            <a:pPr>
              <a:lnSpc>
                <a:spcPct val="90000"/>
              </a:lnSpc>
            </a:pPr>
            <a:r>
              <a:rPr sz="800" b="1" i="0">
                <a:solidFill>
                  <a:srgbClr val="D9E4E8"/>
                </a:solidFill>
                <a:latin typeface="Calibri"/>
              </a:rPr>
              <a:t>F-16CM · F110-GE-100</a:t>
            </a:r>
          </a:p>
          <a:p>
            <a:pPr>
              <a:lnSpc>
                <a:spcPct val="90000"/>
              </a:lnSpc>
            </a:pPr>
            <a:r>
              <a:rPr sz="800" b="0" i="0">
                <a:solidFill>
                  <a:srgbClr val="D9E4E8"/>
                </a:solidFill>
                <a:latin typeface="Calibri"/>
              </a:rPr>
              <a:t>2012 [11]</a:t>
            </a:r>
          </a:p>
        </p:txBody>
      </p:sp>
      <p:sp>
        <p:nvSpPr>
          <p:cNvPr id="17" name="Rounded Rectangle 16"/>
          <p:cNvSpPr/>
          <p:nvPr/>
        </p:nvSpPr>
        <p:spPr>
          <a:xfrm>
            <a:off x="1673352" y="2112263"/>
            <a:ext cx="987552" cy="420624"/>
          </a:xfrm>
          <a:prstGeom prst="roundRect">
            <a:avLst>
              <a:gd name="adj" fmla="val 18000"/>
            </a:avLst>
          </a:prstGeom>
          <a:solidFill>
            <a:srgbClr val="2A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3716" bIns="13716"/>
          <a:lstStyle/>
          <a:p>
            <a:pPr algn="ctr">
              <a:lnSpc>
                <a:spcPct val="90000"/>
              </a:lnSpc>
            </a:pPr>
            <a:r>
              <a:rPr sz="800" b="0" i="0">
                <a:solidFill>
                  <a:srgbClr val="FFFFFF"/>
                </a:solidFill>
                <a:latin typeface="Calibri"/>
              </a:rPr>
              <a:t>Stage 5 stator sektörü hatalı montaj</a:t>
            </a:r>
          </a:p>
        </p:txBody>
      </p:sp>
      <p:sp>
        <p:nvSpPr>
          <p:cNvPr id="18" name="Right Arrow 17"/>
          <p:cNvSpPr/>
          <p:nvPr/>
        </p:nvSpPr>
        <p:spPr>
          <a:xfrm>
            <a:off x="2688336" y="2263139"/>
            <a:ext cx="137160" cy="118872"/>
          </a:xfrm>
          <a:prstGeom prst="rightArrow">
            <a:avLst/>
          </a:prstGeom>
          <a:solidFill>
            <a:srgbClr val="B8C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852928" y="2112263"/>
            <a:ext cx="987552" cy="420624"/>
          </a:xfrm>
          <a:prstGeom prst="roundRect">
            <a:avLst>
              <a:gd name="adj" fmla="val 18000"/>
            </a:avLst>
          </a:prstGeom>
          <a:solidFill>
            <a:srgbClr val="4E62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3716" bIns="13716"/>
          <a:lstStyle/>
          <a:p>
            <a:pPr algn="ctr">
              <a:lnSpc>
                <a:spcPct val="90000"/>
              </a:lnSpc>
            </a:pPr>
            <a:r>
              <a:rPr sz="800" b="0" i="0">
                <a:solidFill>
                  <a:srgbClr val="FFFFFF"/>
                </a:solidFill>
                <a:latin typeface="Calibri"/>
              </a:rPr>
              <a:t>Çevresel basınç asimetrisi</a:t>
            </a:r>
          </a:p>
        </p:txBody>
      </p:sp>
      <p:sp>
        <p:nvSpPr>
          <p:cNvPr id="20" name="Right Arrow 19"/>
          <p:cNvSpPr/>
          <p:nvPr/>
        </p:nvSpPr>
        <p:spPr>
          <a:xfrm>
            <a:off x="3867912" y="2263139"/>
            <a:ext cx="137160" cy="118872"/>
          </a:xfrm>
          <a:prstGeom prst="rightArrow">
            <a:avLst/>
          </a:prstGeom>
          <a:solidFill>
            <a:srgbClr val="B8C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032504" y="2112263"/>
            <a:ext cx="987552" cy="420624"/>
          </a:xfrm>
          <a:prstGeom prst="roundRect">
            <a:avLst>
              <a:gd name="adj" fmla="val 18000"/>
            </a:avLst>
          </a:prstGeom>
          <a:solidFill>
            <a:srgbClr val="4E62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3716" bIns="13716"/>
          <a:lstStyle/>
          <a:p>
            <a:pPr algn="ctr">
              <a:lnSpc>
                <a:spcPct val="90000"/>
              </a:lnSpc>
            </a:pPr>
            <a:r>
              <a:rPr sz="800" b="0" i="0">
                <a:solidFill>
                  <a:srgbClr val="FFFFFF"/>
                </a:solidFill>
                <a:latin typeface="Calibri"/>
              </a:rPr>
              <a:t>Rotor blade HCF – 2 blade koptu</a:t>
            </a:r>
          </a:p>
        </p:txBody>
      </p:sp>
      <p:sp>
        <p:nvSpPr>
          <p:cNvPr id="22" name="Right Arrow 21"/>
          <p:cNvSpPr/>
          <p:nvPr/>
        </p:nvSpPr>
        <p:spPr>
          <a:xfrm>
            <a:off x="5047488" y="2263139"/>
            <a:ext cx="137160" cy="118872"/>
          </a:xfrm>
          <a:prstGeom prst="rightArrow">
            <a:avLst/>
          </a:prstGeom>
          <a:solidFill>
            <a:srgbClr val="B8C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12080" y="2112263"/>
            <a:ext cx="987552" cy="420624"/>
          </a:xfrm>
          <a:prstGeom prst="roundRect">
            <a:avLst>
              <a:gd name="adj" fmla="val 18000"/>
            </a:avLst>
          </a:prstGeom>
          <a:solidFill>
            <a:srgbClr val="B548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3716" bIns="13716"/>
          <a:lstStyle/>
          <a:p>
            <a:pPr algn="ctr">
              <a:lnSpc>
                <a:spcPct val="90000"/>
              </a:lnSpc>
            </a:pPr>
            <a:r>
              <a:rPr sz="800" b="0" i="0">
                <a:solidFill>
                  <a:srgbClr val="FFFFFF"/>
                </a:solidFill>
                <a:latin typeface="Calibri"/>
              </a:rPr>
              <a:t>Motor ve uçak kaybı</a:t>
            </a:r>
          </a:p>
        </p:txBody>
      </p:sp>
      <p:sp>
        <p:nvSpPr>
          <p:cNvPr id="24" name="TextBox 23">
            <a:hlinkClick r:id="rId4"/>
          </p:cNvPr>
          <p:cNvSpPr txBox="1"/>
          <p:nvPr/>
        </p:nvSpPr>
        <p:spPr>
          <a:xfrm>
            <a:off x="612648" y="2596896"/>
            <a:ext cx="1024128" cy="420624"/>
          </a:xfrm>
          <a:prstGeom prst="rect">
            <a:avLst/>
          </a:prstGeom>
          <a:noFill/>
        </p:spPr>
        <p:txBody>
          <a:bodyPr wrap="square" anchor="ctr" lIns="0" rIns="0" tIns="0" bIns="0">
            <a:spAutoFit/>
          </a:bodyPr>
          <a:lstStyle/>
          <a:p>
            <a:pPr>
              <a:lnSpc>
                <a:spcPct val="90000"/>
              </a:lnSpc>
            </a:pPr>
            <a:r>
              <a:rPr sz="800" b="1" i="0">
                <a:solidFill>
                  <a:srgbClr val="D9E4E8"/>
                </a:solidFill>
                <a:latin typeface="Calibri"/>
              </a:rPr>
              <a:t>B737 · CFM56-7B</a:t>
            </a:r>
          </a:p>
          <a:p>
            <a:pPr>
              <a:lnSpc>
                <a:spcPct val="90000"/>
              </a:lnSpc>
            </a:pPr>
            <a:r>
              <a:rPr sz="800" b="0" i="0">
                <a:solidFill>
                  <a:srgbClr val="D9E4E8"/>
                </a:solidFill>
                <a:latin typeface="Calibri"/>
              </a:rPr>
              <a:t>2019 [12]</a:t>
            </a:r>
          </a:p>
        </p:txBody>
      </p:sp>
      <p:sp>
        <p:nvSpPr>
          <p:cNvPr id="25" name="Rounded Rectangle 24"/>
          <p:cNvSpPr/>
          <p:nvPr/>
        </p:nvSpPr>
        <p:spPr>
          <a:xfrm>
            <a:off x="1673352" y="2596896"/>
            <a:ext cx="987552" cy="420624"/>
          </a:xfrm>
          <a:prstGeom prst="roundRect">
            <a:avLst>
              <a:gd name="adj" fmla="val 18000"/>
            </a:avLst>
          </a:prstGeom>
          <a:solidFill>
            <a:srgbClr val="2A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3716" bIns="13716"/>
          <a:lstStyle/>
          <a:p>
            <a:pPr algn="ctr">
              <a:lnSpc>
                <a:spcPct val="90000"/>
              </a:lnSpc>
            </a:pPr>
            <a:r>
              <a:rPr sz="800" b="0" i="0">
                <a:solidFill>
                  <a:srgbClr val="FFFFFF"/>
                </a:solidFill>
                <a:latin typeface="Calibri"/>
              </a:rPr>
              <a:t>VSV S1 somun + pul eksik</a:t>
            </a:r>
          </a:p>
        </p:txBody>
      </p:sp>
      <p:sp>
        <p:nvSpPr>
          <p:cNvPr id="26" name="Right Arrow 25"/>
          <p:cNvSpPr/>
          <p:nvPr/>
        </p:nvSpPr>
        <p:spPr>
          <a:xfrm>
            <a:off x="2688336" y="2747772"/>
            <a:ext cx="137160" cy="118872"/>
          </a:xfrm>
          <a:prstGeom prst="rightArrow">
            <a:avLst/>
          </a:prstGeom>
          <a:solidFill>
            <a:srgbClr val="B8C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852928" y="2596896"/>
            <a:ext cx="987552" cy="420624"/>
          </a:xfrm>
          <a:prstGeom prst="roundRect">
            <a:avLst>
              <a:gd name="adj" fmla="val 18000"/>
            </a:avLst>
          </a:prstGeom>
          <a:solidFill>
            <a:srgbClr val="4E62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3716" bIns="13716"/>
          <a:lstStyle/>
          <a:p>
            <a:pPr algn="ctr">
              <a:lnSpc>
                <a:spcPct val="90000"/>
              </a:lnSpc>
            </a:pPr>
            <a:r>
              <a:rPr sz="800" b="0" i="0">
                <a:solidFill>
                  <a:srgbClr val="FFFFFF"/>
                </a:solidFill>
                <a:latin typeface="Calibri"/>
              </a:rPr>
              <a:t>Vane ~31° off-schedule</a:t>
            </a:r>
          </a:p>
        </p:txBody>
      </p:sp>
      <p:sp>
        <p:nvSpPr>
          <p:cNvPr id="28" name="Right Arrow 27"/>
          <p:cNvSpPr/>
          <p:nvPr/>
        </p:nvSpPr>
        <p:spPr>
          <a:xfrm>
            <a:off x="3867912" y="2747772"/>
            <a:ext cx="137160" cy="118872"/>
          </a:xfrm>
          <a:prstGeom prst="rightArrow">
            <a:avLst/>
          </a:prstGeom>
          <a:solidFill>
            <a:srgbClr val="B8C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032504" y="2596896"/>
            <a:ext cx="987552" cy="420624"/>
          </a:xfrm>
          <a:prstGeom prst="roundRect">
            <a:avLst>
              <a:gd name="adj" fmla="val 18000"/>
            </a:avLst>
          </a:prstGeom>
          <a:solidFill>
            <a:srgbClr val="4E62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3716" bIns="13716"/>
          <a:lstStyle/>
          <a:p>
            <a:pPr algn="ctr">
              <a:lnSpc>
                <a:spcPct val="90000"/>
              </a:lnSpc>
            </a:pPr>
            <a:r>
              <a:rPr sz="800" b="0" i="0">
                <a:solidFill>
                  <a:srgbClr val="FFFFFF"/>
                </a:solidFill>
                <a:latin typeface="Calibri"/>
              </a:rPr>
              <a:t>S2 blade kopması → titanium fire</a:t>
            </a:r>
          </a:p>
        </p:txBody>
      </p:sp>
      <p:sp>
        <p:nvSpPr>
          <p:cNvPr id="30" name="Right Arrow 29"/>
          <p:cNvSpPr/>
          <p:nvPr/>
        </p:nvSpPr>
        <p:spPr>
          <a:xfrm>
            <a:off x="5047488" y="2747772"/>
            <a:ext cx="137160" cy="118872"/>
          </a:xfrm>
          <a:prstGeom prst="rightArrow">
            <a:avLst/>
          </a:prstGeom>
          <a:solidFill>
            <a:srgbClr val="B8C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5212080" y="2596896"/>
            <a:ext cx="987552" cy="420624"/>
          </a:xfrm>
          <a:prstGeom prst="roundRect">
            <a:avLst>
              <a:gd name="adj" fmla="val 18000"/>
            </a:avLst>
          </a:prstGeom>
          <a:solidFill>
            <a:srgbClr val="B548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3716" bIns="13716"/>
          <a:lstStyle/>
          <a:p>
            <a:pPr algn="ctr">
              <a:lnSpc>
                <a:spcPct val="90000"/>
              </a:lnSpc>
            </a:pPr>
            <a:r>
              <a:rPr sz="800" b="0" i="0">
                <a:solidFill>
                  <a:srgbClr val="FFFFFF"/>
                </a:solidFill>
                <a:latin typeface="Calibri"/>
              </a:rPr>
              <a:t>Casing ~%60 burn-through</a:t>
            </a:r>
          </a:p>
        </p:txBody>
      </p:sp>
      <p:sp>
        <p:nvSpPr>
          <p:cNvPr id="32" name="TextBox 31">
            <a:hlinkClick r:id="rId5"/>
          </p:cNvPr>
          <p:cNvSpPr txBox="1"/>
          <p:nvPr/>
        </p:nvSpPr>
        <p:spPr>
          <a:xfrm>
            <a:off x="612648" y="3081528"/>
            <a:ext cx="1024128" cy="420624"/>
          </a:xfrm>
          <a:prstGeom prst="rect">
            <a:avLst/>
          </a:prstGeom>
          <a:noFill/>
        </p:spPr>
        <p:txBody>
          <a:bodyPr wrap="square" anchor="ctr" lIns="0" rIns="0" tIns="0" bIns="0">
            <a:spAutoFit/>
          </a:bodyPr>
          <a:lstStyle/>
          <a:p>
            <a:pPr>
              <a:lnSpc>
                <a:spcPct val="90000"/>
              </a:lnSpc>
            </a:pPr>
            <a:r>
              <a:rPr sz="800" b="1" i="0">
                <a:solidFill>
                  <a:srgbClr val="D9E4E8"/>
                </a:solidFill>
                <a:latin typeface="Calibri"/>
              </a:rPr>
              <a:t>ENSIP saha dersi</a:t>
            </a:r>
          </a:p>
          <a:p>
            <a:pPr>
              <a:lnSpc>
                <a:spcPct val="90000"/>
              </a:lnSpc>
            </a:pPr>
            <a:r>
              <a:rPr sz="800" b="0" i="0">
                <a:solidFill>
                  <a:srgbClr val="D9E4E8"/>
                </a:solidFill>
                <a:latin typeface="Calibri"/>
              </a:rPr>
              <a:t>[2]</a:t>
            </a:r>
          </a:p>
        </p:txBody>
      </p:sp>
      <p:sp>
        <p:nvSpPr>
          <p:cNvPr id="33" name="Rounded Rectangle 32"/>
          <p:cNvSpPr/>
          <p:nvPr/>
        </p:nvSpPr>
        <p:spPr>
          <a:xfrm>
            <a:off x="1673352" y="3081528"/>
            <a:ext cx="987552" cy="420624"/>
          </a:xfrm>
          <a:prstGeom prst="roundRect">
            <a:avLst>
              <a:gd name="adj" fmla="val 18000"/>
            </a:avLst>
          </a:prstGeom>
          <a:solidFill>
            <a:srgbClr val="2A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3716" bIns="13716"/>
          <a:lstStyle/>
          <a:p>
            <a:pPr algn="ctr">
              <a:lnSpc>
                <a:spcPct val="90000"/>
              </a:lnSpc>
            </a:pPr>
            <a:r>
              <a:rPr sz="800" b="0" i="0">
                <a:solidFill>
                  <a:srgbClr val="FFFFFF"/>
                </a:solidFill>
                <a:latin typeface="Calibri"/>
              </a:rPr>
              <a:t>Kalifikasyon sonrası imalat değişikliği</a:t>
            </a:r>
          </a:p>
        </p:txBody>
      </p:sp>
      <p:sp>
        <p:nvSpPr>
          <p:cNvPr id="34" name="Right Arrow 33"/>
          <p:cNvSpPr/>
          <p:nvPr/>
        </p:nvSpPr>
        <p:spPr>
          <a:xfrm>
            <a:off x="2688336" y="3232404"/>
            <a:ext cx="137160" cy="118872"/>
          </a:xfrm>
          <a:prstGeom prst="rightArrow">
            <a:avLst/>
          </a:prstGeom>
          <a:solidFill>
            <a:srgbClr val="B8C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2852928" y="3081528"/>
            <a:ext cx="987552" cy="420624"/>
          </a:xfrm>
          <a:prstGeom prst="roundRect">
            <a:avLst>
              <a:gd name="adj" fmla="val 18000"/>
            </a:avLst>
          </a:prstGeom>
          <a:solidFill>
            <a:srgbClr val="4E62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3716" bIns="13716"/>
          <a:lstStyle/>
          <a:p>
            <a:pPr algn="ctr">
              <a:lnSpc>
                <a:spcPct val="90000"/>
              </a:lnSpc>
            </a:pPr>
            <a:r>
              <a:rPr sz="800" b="0" i="0">
                <a:solidFill>
                  <a:srgbClr val="FFFFFF"/>
                </a:solidFill>
                <a:latin typeface="Calibri"/>
              </a:rPr>
              <a:t>Stator mekanik damping azalır</a:t>
            </a:r>
          </a:p>
        </p:txBody>
      </p:sp>
      <p:sp>
        <p:nvSpPr>
          <p:cNvPr id="36" name="Right Arrow 35"/>
          <p:cNvSpPr/>
          <p:nvPr/>
        </p:nvSpPr>
        <p:spPr>
          <a:xfrm>
            <a:off x="3867912" y="3232404"/>
            <a:ext cx="137160" cy="118872"/>
          </a:xfrm>
          <a:prstGeom prst="rightArrow">
            <a:avLst/>
          </a:prstGeom>
          <a:solidFill>
            <a:srgbClr val="B8C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032504" y="3081528"/>
            <a:ext cx="987552" cy="420624"/>
          </a:xfrm>
          <a:prstGeom prst="roundRect">
            <a:avLst>
              <a:gd name="adj" fmla="val 18000"/>
            </a:avLst>
          </a:prstGeom>
          <a:solidFill>
            <a:srgbClr val="4E62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3716" bIns="13716"/>
          <a:lstStyle/>
          <a:p>
            <a:pPr algn="ctr">
              <a:lnSpc>
                <a:spcPct val="90000"/>
              </a:lnSpc>
            </a:pPr>
            <a:r>
              <a:rPr sz="800" b="0" i="0">
                <a:solidFill>
                  <a:srgbClr val="FFFFFF"/>
                </a:solidFill>
                <a:latin typeface="Calibri"/>
              </a:rPr>
              <a:t>BPF wake ile stator rezonansı</a:t>
            </a:r>
          </a:p>
        </p:txBody>
      </p:sp>
      <p:sp>
        <p:nvSpPr>
          <p:cNvPr id="38" name="Right Arrow 37"/>
          <p:cNvSpPr/>
          <p:nvPr/>
        </p:nvSpPr>
        <p:spPr>
          <a:xfrm>
            <a:off x="5047488" y="3232404"/>
            <a:ext cx="137160" cy="118872"/>
          </a:xfrm>
          <a:prstGeom prst="rightArrow">
            <a:avLst/>
          </a:prstGeom>
          <a:solidFill>
            <a:srgbClr val="B8C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5212080" y="3081528"/>
            <a:ext cx="987552" cy="420624"/>
          </a:xfrm>
          <a:prstGeom prst="roundRect">
            <a:avLst>
              <a:gd name="adj" fmla="val 18000"/>
            </a:avLst>
          </a:prstGeom>
          <a:solidFill>
            <a:srgbClr val="B548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3716" bIns="13716"/>
          <a:lstStyle/>
          <a:p>
            <a:pPr algn="ctr">
              <a:lnSpc>
                <a:spcPct val="90000"/>
              </a:lnSpc>
            </a:pPr>
            <a:r>
              <a:rPr sz="800" b="0" i="0">
                <a:solidFill>
                  <a:srgbClr val="FFFFFF"/>
                </a:solidFill>
                <a:latin typeface="Calibri"/>
              </a:rPr>
              <a:t>Vane HCF kırılması</a:t>
            </a:r>
          </a:p>
        </p:txBody>
      </p:sp>
      <p:graphicFrame>
        <p:nvGraphicFramePr>
          <p:cNvPr id="40" name="Table 39"/>
          <p:cNvGraphicFramePr>
            <a:graphicFrameLocks noGrp="1"/>
          </p:cNvGraphicFramePr>
          <p:nvPr/>
        </p:nvGraphicFramePr>
        <p:xfrm>
          <a:off x="502920" y="3685032"/>
          <a:ext cx="5760720" cy="2221992"/>
        </p:xfrm>
        <a:graphic>
          <a:graphicData uri="http://schemas.openxmlformats.org/drawingml/2006/table">
            <a:tbl>
              <a:tblPr firstRow="0" bandRow="0">
                <a:tableStyleId>{5C22544A-7EE6-4342-B048-85BDC9FD1C3A}</a:tableStyleId>
              </a:tblPr>
              <a:tblGrid>
                <a:gridCol w="1572768"/>
                <a:gridCol w="960120"/>
                <a:gridCol w="1810512"/>
                <a:gridCol w="1417320"/>
              </a:tblGrid>
              <a:tr h="246888">
                <a:tc>
                  <a:txBody>
                    <a:bodyPr wrap="square"/>
                    <a:lstStyle/>
                    <a:p>
                      <a:pPr>
                        <a:lnSpc>
                          <a:spcPct val="92000"/>
                        </a:lnSpc>
                      </a:pPr>
                      <a:r>
                        <a:rPr sz="900" b="1" i="0">
                          <a:solidFill>
                            <a:srgbClr val="FFFFFF"/>
                          </a:solidFill>
                          <a:latin typeface="Calibri"/>
                        </a:rPr>
                        <a:t>PARÇA GRUBU</a:t>
                      </a:r>
                    </a:p>
                  </a:txBody>
                  <a:tcPr marL="54864" marR="54864" marT="22860" marB="22860" anchor="ctr">
                    <a:solidFill>
                      <a:srgbClr val="2A8C9C"/>
                    </a:solidFill>
                  </a:tcPr>
                </a:tc>
                <a:tc>
                  <a:txBody>
                    <a:bodyPr wrap="square"/>
                    <a:lstStyle/>
                    <a:p>
                      <a:pPr>
                        <a:lnSpc>
                          <a:spcPct val="92000"/>
                        </a:lnSpc>
                      </a:pPr>
                      <a:r>
                        <a:rPr sz="900" b="1" i="0">
                          <a:solidFill>
                            <a:srgbClr val="FFFFFF"/>
                          </a:solidFill>
                          <a:latin typeface="Calibri"/>
                        </a:rPr>
                        <a:t>KRİTİKLİK</a:t>
                      </a:r>
                    </a:p>
                  </a:txBody>
                  <a:tcPr marL="54864" marR="54864" marT="22860" marB="22860" anchor="ctr">
                    <a:solidFill>
                      <a:srgbClr val="2A8C9C"/>
                    </a:solidFill>
                  </a:tcPr>
                </a:tc>
                <a:tc>
                  <a:txBody>
                    <a:bodyPr wrap="square"/>
                    <a:lstStyle/>
                    <a:p>
                      <a:pPr>
                        <a:lnSpc>
                          <a:spcPct val="92000"/>
                        </a:lnSpc>
                      </a:pPr>
                      <a:r>
                        <a:rPr sz="900" b="1" i="0">
                          <a:solidFill>
                            <a:srgbClr val="FFFFFF"/>
                          </a:solidFill>
                          <a:latin typeface="Calibri"/>
                        </a:rPr>
                        <a:t>BASKIN HASAR MODLARI</a:t>
                      </a:r>
                    </a:p>
                  </a:txBody>
                  <a:tcPr marL="54864" marR="54864" marT="22860" marB="22860" anchor="ctr">
                    <a:solidFill>
                      <a:srgbClr val="2A8C9C"/>
                    </a:solidFill>
                  </a:tcPr>
                </a:tc>
                <a:tc>
                  <a:txBody>
                    <a:bodyPr wrap="square"/>
                    <a:lstStyle/>
                    <a:p>
                      <a:pPr>
                        <a:lnSpc>
                          <a:spcPct val="92000"/>
                        </a:lnSpc>
                      </a:pPr>
                      <a:r>
                        <a:rPr sz="900" b="1" i="0">
                          <a:solidFill>
                            <a:srgbClr val="FFFFFF"/>
                          </a:solidFill>
                          <a:latin typeface="Calibri"/>
                        </a:rPr>
                        <a:t>SİSTEMİK ETKİ</a:t>
                      </a:r>
                    </a:p>
                  </a:txBody>
                  <a:tcPr marL="54864" marR="54864" marT="22860" marB="22860" anchor="ctr">
                    <a:solidFill>
                      <a:srgbClr val="2A8C9C"/>
                    </a:solidFill>
                  </a:tcPr>
                </a:tc>
              </a:tr>
              <a:tr h="329184">
                <a:tc>
                  <a:txBody>
                    <a:bodyPr wrap="square"/>
                    <a:lstStyle/>
                    <a:p>
                      <a:pPr>
                        <a:lnSpc>
                          <a:spcPct val="92000"/>
                        </a:lnSpc>
                      </a:pPr>
                      <a:r>
                        <a:rPr sz="850" b="0" i="0">
                          <a:solidFill>
                            <a:srgbClr val="262626"/>
                          </a:solidFill>
                          <a:latin typeface="Calibri"/>
                        </a:rPr>
                        <a:t>HPC casing (split flange, boss, VSV bore)</a:t>
                      </a:r>
                    </a:p>
                  </a:txBody>
                  <a:tcPr marL="54864" marR="54864" marT="22860" marB="22860" anchor="ctr">
                    <a:solidFill>
                      <a:srgbClr val="DCE6E9"/>
                    </a:solidFill>
                  </a:tcPr>
                </a:tc>
                <a:tc>
                  <a:txBody>
                    <a:bodyPr wrap="square"/>
                    <a:lstStyle/>
                    <a:p>
                      <a:pPr>
                        <a:lnSpc>
                          <a:spcPct val="92000"/>
                        </a:lnSpc>
                      </a:pPr>
                      <a:r>
                        <a:rPr sz="850" b="0" i="0">
                          <a:solidFill>
                            <a:srgbClr val="262626"/>
                          </a:solidFill>
                          <a:latin typeface="Calibri"/>
                        </a:rPr>
                        <a:t>Tier 1 · güvenlik-kritik</a:t>
                      </a:r>
                    </a:p>
                  </a:txBody>
                  <a:tcPr marL="54864" marR="54864" marT="22860" marB="22860" anchor="ctr">
                    <a:solidFill>
                      <a:srgbClr val="DCE6E9"/>
                    </a:solidFill>
                  </a:tcPr>
                </a:tc>
                <a:tc>
                  <a:txBody>
                    <a:bodyPr wrap="square"/>
                    <a:lstStyle/>
                    <a:p>
                      <a:pPr>
                        <a:lnSpc>
                          <a:spcPct val="92000"/>
                        </a:lnSpc>
                      </a:pPr>
                      <a:r>
                        <a:rPr sz="850" b="0" i="0">
                          <a:solidFill>
                            <a:srgbClr val="262626"/>
                          </a:solidFill>
                          <a:latin typeface="Calibri"/>
                        </a:rPr>
                        <a:t>LCF/TMF çatlağı, basınç yırtılması, ovalleşme, Ti fire burn-through</a:t>
                      </a:r>
                    </a:p>
                  </a:txBody>
                  <a:tcPr marL="54864" marR="54864" marT="22860" marB="22860" anchor="ctr">
                    <a:solidFill>
                      <a:srgbClr val="DCE6E9"/>
                    </a:solidFill>
                  </a:tcPr>
                </a:tc>
                <a:tc>
                  <a:txBody>
                    <a:bodyPr wrap="square"/>
                    <a:lstStyle/>
                    <a:p>
                      <a:pPr>
                        <a:lnSpc>
                          <a:spcPct val="92000"/>
                        </a:lnSpc>
                      </a:pPr>
                      <a:r>
                        <a:rPr sz="850" b="0" i="0">
                          <a:solidFill>
                            <a:srgbClr val="262626"/>
                          </a:solidFill>
                          <a:latin typeface="Calibri"/>
                        </a:rPr>
                        <a:t>Containment kaybı, rotor rub, kontrolsüz yangın</a:t>
                      </a:r>
                    </a:p>
                  </a:txBody>
                  <a:tcPr marL="54864" marR="54864" marT="22860" marB="22860" anchor="ctr">
                    <a:solidFill>
                      <a:srgbClr val="DCE6E9"/>
                    </a:solidFill>
                  </a:tcPr>
                </a:tc>
              </a:tr>
              <a:tr h="329184">
                <a:tc>
                  <a:txBody>
                    <a:bodyPr wrap="square"/>
                    <a:lstStyle/>
                    <a:p>
                      <a:pPr>
                        <a:lnSpc>
                          <a:spcPct val="92000"/>
                        </a:lnSpc>
                      </a:pPr>
                      <a:r>
                        <a:rPr sz="850" b="0" i="0">
                          <a:solidFill>
                            <a:srgbClr val="262626"/>
                          </a:solidFill>
                          <a:latin typeface="Calibri"/>
                        </a:rPr>
                        <a:t>VSV sistemi (vane, trunnion, bushing, lever, ring)</a:t>
                      </a:r>
                    </a:p>
                  </a:txBody>
                  <a:tcPr marL="54864" marR="54864" marT="22860" marB="22860" anchor="ctr">
                    <a:solidFill>
                      <a:srgbClr val="EEF3F5"/>
                    </a:solidFill>
                  </a:tcPr>
                </a:tc>
                <a:tc>
                  <a:txBody>
                    <a:bodyPr wrap="square"/>
                    <a:lstStyle/>
                    <a:p>
                      <a:pPr>
                        <a:lnSpc>
                          <a:spcPct val="92000"/>
                        </a:lnSpc>
                      </a:pPr>
                      <a:r>
                        <a:rPr sz="850" b="0" i="0">
                          <a:solidFill>
                            <a:srgbClr val="262626"/>
                          </a:solidFill>
                          <a:latin typeface="Calibri"/>
                        </a:rPr>
                        <a:t>Tier 1 · güvenlik / görev-kritik</a:t>
                      </a:r>
                    </a:p>
                  </a:txBody>
                  <a:tcPr marL="54864" marR="54864" marT="22860" marB="22860" anchor="ctr">
                    <a:solidFill>
                      <a:srgbClr val="EEF3F5"/>
                    </a:solidFill>
                  </a:tcPr>
                </a:tc>
                <a:tc>
                  <a:txBody>
                    <a:bodyPr wrap="square"/>
                    <a:lstStyle/>
                    <a:p>
                      <a:pPr>
                        <a:lnSpc>
                          <a:spcPct val="92000"/>
                        </a:lnSpc>
                      </a:pPr>
                      <a:r>
                        <a:rPr sz="850" b="0" i="0">
                          <a:solidFill>
                            <a:srgbClr val="262626"/>
                          </a:solidFill>
                          <a:latin typeface="Calibri"/>
                        </a:rPr>
                        <a:t>Bushing aşınması, korozyon / sıkışma, lever HCF, yanlış montaj</a:t>
                      </a:r>
                    </a:p>
                  </a:txBody>
                  <a:tcPr marL="54864" marR="54864" marT="22860" marB="22860" anchor="ctr">
                    <a:solidFill>
                      <a:srgbClr val="EEF3F5"/>
                    </a:solidFill>
                  </a:tcPr>
                </a:tc>
                <a:tc>
                  <a:txBody>
                    <a:bodyPr wrap="square"/>
                    <a:lstStyle/>
                    <a:p>
                      <a:pPr>
                        <a:lnSpc>
                          <a:spcPct val="92000"/>
                        </a:lnSpc>
                      </a:pPr>
                      <a:r>
                        <a:rPr sz="850" b="0" i="0">
                          <a:solidFill>
                            <a:srgbClr val="262626"/>
                          </a:solidFill>
                          <a:latin typeface="Calibri"/>
                        </a:rPr>
                        <a:t>Stall / LOTC, rotor teması, blade HCF</a:t>
                      </a:r>
                    </a:p>
                  </a:txBody>
                  <a:tcPr marL="54864" marR="54864" marT="22860" marB="22860" anchor="ctr">
                    <a:solidFill>
                      <a:srgbClr val="EEF3F5"/>
                    </a:solidFill>
                  </a:tcPr>
                </a:tc>
              </a:tr>
              <a:tr h="329184">
                <a:tc>
                  <a:txBody>
                    <a:bodyPr wrap="square"/>
                    <a:lstStyle/>
                    <a:p>
                      <a:pPr>
                        <a:lnSpc>
                          <a:spcPct val="92000"/>
                        </a:lnSpc>
                      </a:pPr>
                      <a:r>
                        <a:rPr sz="850" b="0" i="0">
                          <a:solidFill>
                            <a:srgbClr val="262626"/>
                          </a:solidFill>
                          <a:latin typeface="Calibri"/>
                        </a:rPr>
                        <a:t>Fixed stator vane sektörleri (FSV)</a:t>
                      </a:r>
                    </a:p>
                  </a:txBody>
                  <a:tcPr marL="54864" marR="54864" marT="22860" marB="22860" anchor="ctr">
                    <a:solidFill>
                      <a:srgbClr val="DCE6E9"/>
                    </a:solidFill>
                  </a:tcPr>
                </a:tc>
                <a:tc>
                  <a:txBody>
                    <a:bodyPr wrap="square"/>
                    <a:lstStyle/>
                    <a:p>
                      <a:pPr>
                        <a:lnSpc>
                          <a:spcPct val="92000"/>
                        </a:lnSpc>
                      </a:pPr>
                      <a:r>
                        <a:rPr sz="850" b="0" i="0">
                          <a:solidFill>
                            <a:srgbClr val="262626"/>
                          </a:solidFill>
                          <a:latin typeface="Calibri"/>
                        </a:rPr>
                        <a:t>Tier 2 · dayanıklılık-kritik *</a:t>
                      </a:r>
                    </a:p>
                  </a:txBody>
                  <a:tcPr marL="54864" marR="54864" marT="22860" marB="22860" anchor="ctr">
                    <a:solidFill>
                      <a:srgbClr val="DCE6E9"/>
                    </a:solidFill>
                  </a:tcPr>
                </a:tc>
                <a:tc>
                  <a:txBody>
                    <a:bodyPr wrap="square"/>
                    <a:lstStyle/>
                    <a:p>
                      <a:pPr>
                        <a:lnSpc>
                          <a:spcPct val="92000"/>
                        </a:lnSpc>
                      </a:pPr>
                      <a:r>
                        <a:rPr sz="850" b="0" i="0">
                          <a:solidFill>
                            <a:srgbClr val="262626"/>
                          </a:solidFill>
                          <a:latin typeface="Calibri"/>
                        </a:rPr>
                        <a:t>BPF kaynaklı HCF, hook fretting, damping kaybı, ters montaj</a:t>
                      </a:r>
                    </a:p>
                  </a:txBody>
                  <a:tcPr marL="54864" marR="54864" marT="22860" marB="22860" anchor="ctr">
                    <a:solidFill>
                      <a:srgbClr val="DCE6E9"/>
                    </a:solidFill>
                  </a:tcPr>
                </a:tc>
                <a:tc>
                  <a:txBody>
                    <a:bodyPr wrap="square"/>
                    <a:lstStyle/>
                    <a:p>
                      <a:pPr>
                        <a:lnSpc>
                          <a:spcPct val="92000"/>
                        </a:lnSpc>
                      </a:pPr>
                      <a:r>
                        <a:rPr sz="850" b="0" i="0">
                          <a:solidFill>
                            <a:srgbClr val="262626"/>
                          </a:solidFill>
                          <a:latin typeface="Calibri"/>
                        </a:rPr>
                        <a:t>Vane liberation → DOD, kompresör kararsızlığı</a:t>
                      </a:r>
                    </a:p>
                  </a:txBody>
                  <a:tcPr marL="54864" marR="54864" marT="22860" marB="22860" anchor="ctr">
                    <a:solidFill>
                      <a:srgbClr val="DCE6E9"/>
                    </a:solidFill>
                  </a:tcPr>
                </a:tc>
              </a:tr>
              <a:tr h="329184">
                <a:tc>
                  <a:txBody>
                    <a:bodyPr wrap="square"/>
                    <a:lstStyle/>
                    <a:p>
                      <a:pPr>
                        <a:lnSpc>
                          <a:spcPct val="92000"/>
                        </a:lnSpc>
                      </a:pPr>
                      <a:r>
                        <a:rPr sz="850" b="0" i="0">
                          <a:solidFill>
                            <a:srgbClr val="262626"/>
                          </a:solidFill>
                          <a:latin typeface="Calibri"/>
                        </a:rPr>
                        <a:t>Frame'ler ve CDC (ara gövde, difüzör gövdesi)</a:t>
                      </a:r>
                    </a:p>
                  </a:txBody>
                  <a:tcPr marL="54864" marR="54864" marT="22860" marB="22860" anchor="ctr">
                    <a:solidFill>
                      <a:srgbClr val="EEF3F5"/>
                    </a:solidFill>
                  </a:tcPr>
                </a:tc>
                <a:tc>
                  <a:txBody>
                    <a:bodyPr wrap="square"/>
                    <a:lstStyle/>
                    <a:p>
                      <a:pPr>
                        <a:lnSpc>
                          <a:spcPct val="92000"/>
                        </a:lnSpc>
                      </a:pPr>
                      <a:r>
                        <a:rPr sz="850" b="0" i="0">
                          <a:solidFill>
                            <a:srgbClr val="262626"/>
                          </a:solidFill>
                          <a:latin typeface="Calibri"/>
                        </a:rPr>
                        <a:t>Tier 1–2 · kırılma-kritik **</a:t>
                      </a:r>
                    </a:p>
                  </a:txBody>
                  <a:tcPr marL="54864" marR="54864" marT="22860" marB="22860" anchor="ctr">
                    <a:solidFill>
                      <a:srgbClr val="EEF3F5"/>
                    </a:solidFill>
                  </a:tcPr>
                </a:tc>
                <a:tc>
                  <a:txBody>
                    <a:bodyPr wrap="square"/>
                    <a:lstStyle/>
                    <a:p>
                      <a:pPr>
                        <a:lnSpc>
                          <a:spcPct val="92000"/>
                        </a:lnSpc>
                      </a:pPr>
                      <a:r>
                        <a:rPr sz="850" b="0" i="0">
                          <a:solidFill>
                            <a:srgbClr val="262626"/>
                          </a:solidFill>
                          <a:latin typeface="Calibri"/>
                        </a:rPr>
                        <a:t>LCF/TMF, yatak yuvası ovalleşmesi, blade-off dengesizlik yükü</a:t>
                      </a:r>
                    </a:p>
                  </a:txBody>
                  <a:tcPr marL="54864" marR="54864" marT="22860" marB="22860" anchor="ctr">
                    <a:solidFill>
                      <a:srgbClr val="EEF3F5"/>
                    </a:solidFill>
                  </a:tcPr>
                </a:tc>
                <a:tc>
                  <a:txBody>
                    <a:bodyPr wrap="square"/>
                    <a:lstStyle/>
                    <a:p>
                      <a:pPr>
                        <a:lnSpc>
                          <a:spcPct val="92000"/>
                        </a:lnSpc>
                      </a:pPr>
                      <a:r>
                        <a:rPr sz="850" b="0" i="0">
                          <a:solidFill>
                            <a:srgbClr val="262626"/>
                          </a:solidFill>
                          <a:latin typeface="Calibri"/>
                        </a:rPr>
                        <a:t>Rotor merkez hattı kaybı, basınçlı kap patlaması</a:t>
                      </a:r>
                    </a:p>
                  </a:txBody>
                  <a:tcPr marL="54864" marR="54864" marT="22860" marB="22860" anchor="ctr">
                    <a:solidFill>
                      <a:srgbClr val="EEF3F5"/>
                    </a:solidFill>
                  </a:tcPr>
                </a:tc>
              </a:tr>
              <a:tr h="329184">
                <a:tc>
                  <a:txBody>
                    <a:bodyPr wrap="square"/>
                    <a:lstStyle/>
                    <a:p>
                      <a:pPr>
                        <a:lnSpc>
                          <a:spcPct val="92000"/>
                        </a:lnSpc>
                      </a:pPr>
                      <a:r>
                        <a:rPr sz="850" b="0" i="0">
                          <a:solidFill>
                            <a:srgbClr val="262626"/>
                          </a:solidFill>
                          <a:latin typeface="Calibri"/>
                        </a:rPr>
                        <a:t>Shroud, seal carrier, honeycomb, retention pin</a:t>
                      </a:r>
                    </a:p>
                  </a:txBody>
                  <a:tcPr marL="54864" marR="54864" marT="22860" marB="22860" anchor="ctr">
                    <a:solidFill>
                      <a:srgbClr val="DCE6E9"/>
                    </a:solidFill>
                  </a:tcPr>
                </a:tc>
                <a:tc>
                  <a:txBody>
                    <a:bodyPr wrap="square"/>
                    <a:lstStyle/>
                    <a:p>
                      <a:pPr>
                        <a:lnSpc>
                          <a:spcPct val="92000"/>
                        </a:lnSpc>
                      </a:pPr>
                      <a:r>
                        <a:rPr sz="850" b="0" i="0">
                          <a:solidFill>
                            <a:srgbClr val="262626"/>
                          </a:solidFill>
                          <a:latin typeface="Calibri"/>
                        </a:rPr>
                        <a:t>Tier 3</a:t>
                      </a:r>
                    </a:p>
                  </a:txBody>
                  <a:tcPr marL="54864" marR="54864" marT="22860" marB="22860" anchor="ctr">
                    <a:solidFill>
                      <a:srgbClr val="DCE6E9"/>
                    </a:solidFill>
                  </a:tcPr>
                </a:tc>
                <a:tc>
                  <a:txBody>
                    <a:bodyPr wrap="square"/>
                    <a:lstStyle/>
                    <a:p>
                      <a:pPr>
                        <a:lnSpc>
                          <a:spcPct val="92000"/>
                        </a:lnSpc>
                      </a:pPr>
                      <a:r>
                        <a:rPr sz="850" b="0" i="0">
                          <a:solidFill>
                            <a:srgbClr val="262626"/>
                          </a:solidFill>
                          <a:latin typeface="Calibri"/>
                        </a:rPr>
                        <a:t>Anti-rotation pin aşınması, segment liberation, braze hasarı, rub </a:t>
                      </a:r>
                      <a:r>
                        <a:rPr sz="700" b="0" i="0">
                          <a:solidFill>
                            <a:srgbClr val="1F6B7A"/>
                          </a:solidFill>
                          <a:latin typeface="Calibri"/>
                          <a:hlinkClick r:id="rId6"/>
                        </a:rPr>
                        <a:t>[14]</a:t>
                      </a:r>
                    </a:p>
                  </a:txBody>
                  <a:tcPr marL="54864" marR="54864" marT="22860" marB="22860" anchor="ctr">
                    <a:solidFill>
                      <a:srgbClr val="DCE6E9"/>
                    </a:solidFill>
                  </a:tcPr>
                </a:tc>
                <a:tc>
                  <a:txBody>
                    <a:bodyPr wrap="square"/>
                    <a:lstStyle/>
                    <a:p>
                      <a:pPr>
                        <a:lnSpc>
                          <a:spcPct val="92000"/>
                        </a:lnSpc>
                      </a:pPr>
                      <a:r>
                        <a:rPr sz="850" b="0" i="0">
                          <a:solidFill>
                            <a:srgbClr val="262626"/>
                          </a:solidFill>
                          <a:latin typeface="Calibri"/>
                        </a:rPr>
                        <a:t>Rotor yoluna serbest parça → DOD</a:t>
                      </a:r>
                    </a:p>
                  </a:txBody>
                  <a:tcPr marL="54864" marR="54864" marT="22860" marB="22860" anchor="ctr">
                    <a:solidFill>
                      <a:srgbClr val="DCE6E9"/>
                    </a:solidFill>
                  </a:tcPr>
                </a:tc>
              </a:tr>
              <a:tr h="329184">
                <a:tc>
                  <a:txBody>
                    <a:bodyPr wrap="square"/>
                    <a:lstStyle/>
                    <a:p>
                      <a:pPr>
                        <a:lnSpc>
                          <a:spcPct val="92000"/>
                        </a:lnSpc>
                      </a:pPr>
                      <a:r>
                        <a:rPr sz="850" b="0" i="0">
                          <a:solidFill>
                            <a:srgbClr val="262626"/>
                          </a:solidFill>
                          <a:latin typeface="Calibri"/>
                        </a:rPr>
                        <a:t>Bleed port / manifold yapıları</a:t>
                      </a:r>
                    </a:p>
                  </a:txBody>
                  <a:tcPr marL="54864" marR="54864" marT="22860" marB="22860" anchor="ctr">
                    <a:solidFill>
                      <a:srgbClr val="EEF3F5"/>
                    </a:solidFill>
                  </a:tcPr>
                </a:tc>
                <a:tc>
                  <a:txBody>
                    <a:bodyPr wrap="square"/>
                    <a:lstStyle/>
                    <a:p>
                      <a:pPr>
                        <a:lnSpc>
                          <a:spcPct val="92000"/>
                        </a:lnSpc>
                      </a:pPr>
                      <a:r>
                        <a:rPr sz="850" b="0" i="0">
                          <a:solidFill>
                            <a:srgbClr val="262626"/>
                          </a:solidFill>
                          <a:latin typeface="Calibri"/>
                        </a:rPr>
                        <a:t>Tier 3</a:t>
                      </a:r>
                    </a:p>
                  </a:txBody>
                  <a:tcPr marL="54864" marR="54864" marT="22860" marB="22860" anchor="ctr">
                    <a:solidFill>
                      <a:srgbClr val="EEF3F5"/>
                    </a:solidFill>
                  </a:tcPr>
                </a:tc>
                <a:tc>
                  <a:txBody>
                    <a:bodyPr wrap="square"/>
                    <a:lstStyle/>
                    <a:p>
                      <a:pPr>
                        <a:lnSpc>
                          <a:spcPct val="92000"/>
                        </a:lnSpc>
                      </a:pPr>
                      <a:r>
                        <a:rPr sz="850" b="0" i="0">
                          <a:solidFill>
                            <a:srgbClr val="262626"/>
                          </a:solidFill>
                          <a:latin typeface="Calibri"/>
                        </a:rPr>
                        <a:t>Port kenarı çatlağı, basınç-termal yorulma, kaçak</a:t>
                      </a:r>
                    </a:p>
                  </a:txBody>
                  <a:tcPr marL="54864" marR="54864" marT="22860" marB="22860" anchor="ctr">
                    <a:solidFill>
                      <a:srgbClr val="EEF3F5"/>
                    </a:solidFill>
                  </a:tcPr>
                </a:tc>
                <a:tc>
                  <a:txBody>
                    <a:bodyPr wrap="square"/>
                    <a:lstStyle/>
                    <a:p>
                      <a:pPr>
                        <a:lnSpc>
                          <a:spcPct val="92000"/>
                        </a:lnSpc>
                      </a:pPr>
                      <a:r>
                        <a:rPr sz="850" b="0" i="0">
                          <a:solidFill>
                            <a:srgbClr val="262626"/>
                          </a:solidFill>
                          <a:latin typeface="Calibri"/>
                        </a:rPr>
                        <a:t>Lokal casing distorsiyonu, surge / stall katkısı</a:t>
                      </a:r>
                    </a:p>
                  </a:txBody>
                  <a:tcPr marL="54864" marR="54864" marT="22860" marB="22860" anchor="ctr">
                    <a:solidFill>
                      <a:srgbClr val="EEF3F5"/>
                    </a:solidFill>
                  </a:tcPr>
                </a:tc>
              </a:tr>
            </a:tbl>
          </a:graphicData>
        </a:graphic>
      </p:graphicFrame>
      <p:sp>
        <p:nvSpPr>
          <p:cNvPr id="41" name="TextBox 40"/>
          <p:cNvSpPr txBox="1"/>
          <p:nvPr/>
        </p:nvSpPr>
        <p:spPr>
          <a:xfrm>
            <a:off x="502920" y="5989320"/>
            <a:ext cx="5760720" cy="292608"/>
          </a:xfrm>
          <a:prstGeom prst="rect">
            <a:avLst/>
          </a:prstGeom>
          <a:noFill/>
        </p:spPr>
        <p:txBody>
          <a:bodyPr wrap="square" anchor="t" lIns="0" rIns="0" tIns="0" bIns="0">
            <a:spAutoFit/>
          </a:bodyPr>
          <a:lstStyle/>
          <a:p>
            <a:pPr>
              <a:lnSpc>
                <a:spcPct val="90000"/>
              </a:lnSpc>
            </a:pPr>
            <a:r>
              <a:rPr sz="800" b="0" i="1">
                <a:solidFill>
                  <a:srgbClr val="595959"/>
                </a:solidFill>
                <a:latin typeface="Calibri"/>
              </a:rPr>
              <a:t>* Montaj hatasında doğrudan güvenlik riski </a:t>
            </a:r>
            <a:r>
              <a:rPr sz="750" b="0" i="0">
                <a:solidFill>
                  <a:srgbClr val="1F6B7A"/>
                </a:solidFill>
                <a:latin typeface="Calibri"/>
                <a:hlinkClick r:id="rId3"/>
              </a:rPr>
              <a:t>[11]</a:t>
            </a:r>
            <a:r>
              <a:rPr sz="800" b="0" i="1">
                <a:solidFill>
                  <a:srgbClr val="595959"/>
                </a:solidFill>
                <a:latin typeface="Calibri"/>
              </a:rPr>
              <a:t>.   ** İkinci raporda Öncelik 1; modül sahipliği mimariye bağlı – alt bölüm kapsamı / arayüzü teyit edilmeli.</a:t>
            </a:r>
          </a:p>
        </p:txBody>
      </p:sp>
      <p:cxnSp>
        <p:nvCxnSpPr>
          <p:cNvPr id="42" name="Connector 41"/>
          <p:cNvCxnSpPr/>
          <p:nvPr/>
        </p:nvCxnSpPr>
        <p:spPr>
          <a:xfrm>
            <a:off x="6537960" y="1188720"/>
            <a:ext cx="0" cy="5166360"/>
          </a:xfrm>
          <a:prstGeom prst="line">
            <a:avLst/>
          </a:prstGeom>
          <a:ln w="38100">
            <a:solidFill>
              <a:srgbClr val="1F6B7A"/>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812280" y="1188720"/>
            <a:ext cx="4937760" cy="274320"/>
          </a:xfrm>
          <a:prstGeom prst="rect">
            <a:avLst/>
          </a:prstGeom>
          <a:noFill/>
        </p:spPr>
        <p:txBody>
          <a:bodyPr wrap="square" anchor="t" lIns="0" rIns="0" tIns="0" bIns="0">
            <a:spAutoFit/>
          </a:bodyPr>
          <a:lstStyle/>
          <a:p>
            <a:r>
              <a:rPr sz="1400" b="0" i="0">
                <a:solidFill>
                  <a:srgbClr val="262626"/>
                </a:solidFill>
                <a:latin typeface="Calibri"/>
              </a:rPr>
              <a:t>GÜNDEM &amp; KRİTİK KONULAR:</a:t>
            </a:r>
          </a:p>
        </p:txBody>
      </p:sp>
      <p:sp>
        <p:nvSpPr>
          <p:cNvPr id="44" name="TextBox 43"/>
          <p:cNvSpPr txBox="1"/>
          <p:nvPr/>
        </p:nvSpPr>
        <p:spPr>
          <a:xfrm>
            <a:off x="6949440" y="1517904"/>
            <a:ext cx="4800600" cy="2185416"/>
          </a:xfrm>
          <a:prstGeom prst="rect">
            <a:avLst/>
          </a:prstGeom>
          <a:noFill/>
        </p:spPr>
        <p:txBody>
          <a:bodyPr wrap="square" anchor="t" lIns="0" rIns="0" tIns="0" bIns="0">
            <a:spAutoFit/>
          </a:bodyPr>
          <a:lstStyle/>
          <a:p>
            <a:pPr marL="155448" indent="-155448">
              <a:lnSpc>
                <a:spcPct val="95000"/>
              </a:lnSpc>
              <a:spcAft>
                <a:spcPts val="350"/>
              </a:spcAft>
              <a:buChar char="•"/>
            </a:pPr>
            <a:r>
              <a:rPr sz="1050" b="1" i="0">
                <a:solidFill>
                  <a:srgbClr val="262626"/>
                </a:solidFill>
                <a:latin typeface="Calibri"/>
              </a:rPr>
              <a:t>“Statik” ≠ düşük risk:</a:t>
            </a:r>
            <a:r>
              <a:rPr sz="1050" b="0" i="0">
                <a:solidFill>
                  <a:srgbClr val="262626"/>
                </a:solidFill>
                <a:latin typeface="Calibri"/>
              </a:rPr>
              <a:t> en ağır vakalar bağlaşık arızalar – statik parça hasarı rotor temasına, stall'a veya blade HCF'e dönüşüyor </a:t>
            </a:r>
            <a:r>
              <a:rPr sz="800" b="0" i="0">
                <a:solidFill>
                  <a:srgbClr val="1F6B7A"/>
                </a:solidFill>
                <a:latin typeface="Calibri"/>
                <a:hlinkClick r:id="rId5"/>
              </a:rPr>
              <a:t>[2]</a:t>
            </a:r>
            <a:r>
              <a:rPr sz="800" b="0" i="0">
                <a:solidFill>
                  <a:srgbClr val="1F6B7A"/>
                </a:solidFill>
                <a:latin typeface="Calibri"/>
                <a:hlinkClick r:id="rId2"/>
              </a:rPr>
              <a:t>[10]</a:t>
            </a:r>
          </a:p>
          <a:p>
            <a:pPr marL="155448" indent="-155448">
              <a:lnSpc>
                <a:spcPct val="95000"/>
              </a:lnSpc>
              <a:spcAft>
                <a:spcPts val="350"/>
              </a:spcAft>
              <a:buChar char="•"/>
            </a:pPr>
            <a:r>
              <a:rPr sz="1050" b="1" i="0">
                <a:solidFill>
                  <a:srgbClr val="262626"/>
                </a:solidFill>
                <a:latin typeface="Calibri"/>
              </a:rPr>
              <a:t>Tier 1 – HPC casing + VSV sistemi:</a:t>
            </a:r>
            <a:r>
              <a:rPr sz="1050" b="0" i="0">
                <a:solidFill>
                  <a:srgbClr val="262626"/>
                </a:solidFill>
                <a:latin typeface="Calibri"/>
              </a:rPr>
              <a:t> casing aynı anda basınçlı kap, ana yük yolu ve containment; FAA §33.70 HP casing'i statik LLP örneği sayıyor </a:t>
            </a:r>
            <a:r>
              <a:rPr sz="800" b="0" i="0">
                <a:solidFill>
                  <a:srgbClr val="1F6B7A"/>
                </a:solidFill>
                <a:latin typeface="Calibri"/>
                <a:hlinkClick r:id="rId7"/>
              </a:rPr>
              <a:t>[1]</a:t>
            </a:r>
            <a:r>
              <a:rPr sz="800" b="0" i="0">
                <a:solidFill>
                  <a:srgbClr val="1F6B7A"/>
                </a:solidFill>
                <a:latin typeface="Calibri"/>
                <a:hlinkClick r:id="rId8"/>
              </a:rPr>
              <a:t>[3]</a:t>
            </a:r>
          </a:p>
          <a:p>
            <a:pPr marL="155448" indent="-155448">
              <a:lnSpc>
                <a:spcPct val="95000"/>
              </a:lnSpc>
              <a:spcAft>
                <a:spcPts val="350"/>
              </a:spcAft>
              <a:buChar char="•"/>
            </a:pPr>
            <a:r>
              <a:rPr sz="1050" b="1" i="0">
                <a:solidFill>
                  <a:srgbClr val="262626"/>
                </a:solidFill>
                <a:latin typeface="Calibri"/>
              </a:rPr>
              <a:t>VSV sistemi en güçlü saha kanıtına sahip:</a:t>
            </a:r>
            <a:r>
              <a:rPr sz="1050" b="0" i="0">
                <a:solidFill>
                  <a:srgbClr val="262626"/>
                </a:solidFill>
                <a:latin typeface="Calibri"/>
              </a:rPr>
              <a:t> F110-100 Class A olayı, CFM56-3 çift motor LOTC, PW bushing aşınması → rotor teması </a:t>
            </a:r>
            <a:r>
              <a:rPr sz="800" b="0" i="0">
                <a:solidFill>
                  <a:srgbClr val="1F6B7A"/>
                </a:solidFill>
                <a:latin typeface="Calibri"/>
                <a:hlinkClick r:id="rId9"/>
              </a:rPr>
              <a:t>[7]</a:t>
            </a:r>
            <a:r>
              <a:rPr sz="800" b="0" i="0">
                <a:solidFill>
                  <a:srgbClr val="1F6B7A"/>
                </a:solidFill>
                <a:latin typeface="Calibri"/>
                <a:hlinkClick r:id="rId10"/>
              </a:rPr>
              <a:t>[9]</a:t>
            </a:r>
            <a:r>
              <a:rPr sz="800" b="0" i="0">
                <a:solidFill>
                  <a:srgbClr val="1F6B7A"/>
                </a:solidFill>
                <a:latin typeface="Calibri"/>
                <a:hlinkClick r:id="rId2"/>
              </a:rPr>
              <a:t>[10]</a:t>
            </a:r>
          </a:p>
          <a:p>
            <a:pPr marL="155448" indent="-155448">
              <a:lnSpc>
                <a:spcPct val="95000"/>
              </a:lnSpc>
              <a:spcAft>
                <a:spcPts val="350"/>
              </a:spcAft>
              <a:buChar char="•"/>
            </a:pPr>
            <a:r>
              <a:rPr sz="1050" b="1" i="0">
                <a:solidFill>
                  <a:srgbClr val="262626"/>
                </a:solidFill>
                <a:latin typeface="Calibri"/>
              </a:rPr>
              <a:t>Tier 2 – FSV'ler ve frame'ler:</a:t>
            </a:r>
            <a:r>
              <a:rPr sz="1050" b="0" i="0">
                <a:solidFill>
                  <a:srgbClr val="262626"/>
                </a:solidFill>
                <a:latin typeface="Calibri"/>
              </a:rPr>
              <a:t> BPF kaynaklı HCF ve stator rezonansı; damping, konfigürasyon kontrollü bir tasarım özelliği </a:t>
            </a:r>
            <a:r>
              <a:rPr sz="800" b="0" i="0">
                <a:solidFill>
                  <a:srgbClr val="1F6B7A"/>
                </a:solidFill>
                <a:latin typeface="Calibri"/>
                <a:hlinkClick r:id="rId5"/>
              </a:rPr>
              <a:t>[2]</a:t>
            </a:r>
          </a:p>
          <a:p>
            <a:pPr marL="155448" indent="-155448">
              <a:lnSpc>
                <a:spcPct val="95000"/>
              </a:lnSpc>
              <a:spcAft>
                <a:spcPts val="350"/>
              </a:spcAft>
              <a:buChar char="•"/>
            </a:pPr>
            <a:r>
              <a:rPr sz="1050" b="1" i="0">
                <a:solidFill>
                  <a:srgbClr val="262626"/>
                </a:solidFill>
                <a:latin typeface="Calibri"/>
              </a:rPr>
              <a:t>Tier 3 – shroud / seal / honeycomb / pin ve bleed:</a:t>
            </a:r>
            <a:r>
              <a:rPr sz="1050" b="0" i="0">
                <a:solidFill>
                  <a:srgbClr val="262626"/>
                </a:solidFill>
                <a:latin typeface="Calibri"/>
              </a:rPr>
              <a:t> rotora yakınlık nedeniyle küçük hasar orantısız ikincil hasar doğuruyor </a:t>
            </a:r>
            <a:r>
              <a:rPr sz="800" b="0" i="0">
                <a:solidFill>
                  <a:srgbClr val="1F6B7A"/>
                </a:solidFill>
                <a:latin typeface="Calibri"/>
                <a:hlinkClick r:id="rId6"/>
              </a:rPr>
              <a:t>[14]</a:t>
            </a:r>
          </a:p>
        </p:txBody>
      </p:sp>
      <p:cxnSp>
        <p:nvCxnSpPr>
          <p:cNvPr id="45" name="Connector 44"/>
          <p:cNvCxnSpPr/>
          <p:nvPr/>
        </p:nvCxnSpPr>
        <p:spPr>
          <a:xfrm>
            <a:off x="6812280" y="3502152"/>
            <a:ext cx="4937760" cy="0"/>
          </a:xfrm>
          <a:prstGeom prst="line">
            <a:avLst/>
          </a:prstGeom>
          <a:ln w="28575">
            <a:solidFill>
              <a:srgbClr val="1F6B7A"/>
            </a:solidFill>
            <a:prstDash val="dash"/>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812280" y="3630168"/>
            <a:ext cx="4937760" cy="274320"/>
          </a:xfrm>
          <a:prstGeom prst="rect">
            <a:avLst/>
          </a:prstGeom>
          <a:noFill/>
        </p:spPr>
        <p:txBody>
          <a:bodyPr wrap="square" anchor="t" lIns="0" rIns="0" tIns="0" bIns="0">
            <a:spAutoFit/>
          </a:bodyPr>
          <a:lstStyle/>
          <a:p>
            <a:r>
              <a:rPr sz="1400" b="0" i="0">
                <a:solidFill>
                  <a:srgbClr val="262626"/>
                </a:solidFill>
                <a:latin typeface="Calibri"/>
              </a:rPr>
              <a:t>RİSKLER:</a:t>
            </a:r>
          </a:p>
        </p:txBody>
      </p:sp>
      <p:sp>
        <p:nvSpPr>
          <p:cNvPr id="47" name="TextBox 46"/>
          <p:cNvSpPr txBox="1"/>
          <p:nvPr/>
        </p:nvSpPr>
        <p:spPr>
          <a:xfrm>
            <a:off x="6949440" y="3959352"/>
            <a:ext cx="4800600" cy="2322576"/>
          </a:xfrm>
          <a:prstGeom prst="rect">
            <a:avLst/>
          </a:prstGeom>
          <a:noFill/>
        </p:spPr>
        <p:txBody>
          <a:bodyPr wrap="square" anchor="t" lIns="0" rIns="0" tIns="0" bIns="0">
            <a:spAutoFit/>
          </a:bodyPr>
          <a:lstStyle/>
          <a:p>
            <a:pPr marL="155448" indent="-155448">
              <a:lnSpc>
                <a:spcPct val="95000"/>
              </a:lnSpc>
              <a:spcAft>
                <a:spcPts val="300"/>
              </a:spcAft>
              <a:buChar char="•"/>
            </a:pPr>
            <a:r>
              <a:rPr sz="1050" b="1" i="0">
                <a:solidFill>
                  <a:srgbClr val="262626"/>
                </a:solidFill>
                <a:latin typeface="Calibri"/>
              </a:rPr>
              <a:t>Yalnızca statik FEA ile doğrulama yetersiz:</a:t>
            </a:r>
            <a:r>
              <a:rPr sz="1050" b="0" i="0">
                <a:solidFill>
                  <a:srgbClr val="262626"/>
                </a:solidFill>
                <a:latin typeface="Calibri"/>
              </a:rPr>
              <a:t> vane ve case için vibrasyon / HCF korelasyonu statik mukavemetle eşit ağırlıkta (§33.83) </a:t>
            </a:r>
            <a:r>
              <a:rPr sz="800" b="0" i="0">
                <a:solidFill>
                  <a:srgbClr val="1F6B7A"/>
                </a:solidFill>
                <a:latin typeface="Calibri"/>
                <a:hlinkClick r:id="rId7"/>
              </a:rPr>
              <a:t>[1]</a:t>
            </a:r>
            <a:r>
              <a:rPr sz="800" b="0" i="0">
                <a:solidFill>
                  <a:srgbClr val="1F6B7A"/>
                </a:solidFill>
                <a:latin typeface="Calibri"/>
                <a:hlinkClick r:id="rId11"/>
              </a:rPr>
              <a:t>[4]</a:t>
            </a:r>
          </a:p>
          <a:p>
            <a:pPr marL="155448" indent="-155448">
              <a:lnSpc>
                <a:spcPct val="95000"/>
              </a:lnSpc>
              <a:spcAft>
                <a:spcPts val="300"/>
              </a:spcAft>
              <a:buChar char="•"/>
            </a:pPr>
            <a:r>
              <a:rPr sz="1050" b="1" i="0">
                <a:solidFill>
                  <a:srgbClr val="262626"/>
                </a:solidFill>
                <a:latin typeface="Calibri"/>
              </a:rPr>
              <a:t>Montaj / bakım hatası yapısal risktir:</a:t>
            </a:r>
            <a:r>
              <a:rPr sz="1050" b="0" i="0">
                <a:solidFill>
                  <a:srgbClr val="262626"/>
                </a:solidFill>
                <a:latin typeface="Calibri"/>
              </a:rPr>
              <a:t> hatalı takılan stage 5 stator sektörü → F-16CM kaybı; eksik VSV somunu → B737 titanium fire </a:t>
            </a:r>
            <a:r>
              <a:rPr sz="800" b="0" i="0">
                <a:solidFill>
                  <a:srgbClr val="1F6B7A"/>
                </a:solidFill>
                <a:latin typeface="Calibri"/>
                <a:hlinkClick r:id="rId3"/>
              </a:rPr>
              <a:t>[11]</a:t>
            </a:r>
            <a:r>
              <a:rPr sz="800" b="0" i="0">
                <a:solidFill>
                  <a:srgbClr val="1F6B7A"/>
                </a:solidFill>
                <a:latin typeface="Calibri"/>
                <a:hlinkClick r:id="rId4"/>
              </a:rPr>
              <a:t>[12]</a:t>
            </a:r>
          </a:p>
          <a:p>
            <a:pPr marL="155448" indent="-155448">
              <a:lnSpc>
                <a:spcPct val="95000"/>
              </a:lnSpc>
              <a:spcAft>
                <a:spcPts val="300"/>
              </a:spcAft>
              <a:buChar char="•"/>
            </a:pPr>
            <a:r>
              <a:rPr sz="1050" b="1" i="0">
                <a:solidFill>
                  <a:srgbClr val="262626"/>
                </a:solidFill>
                <a:latin typeface="Calibri"/>
              </a:rPr>
              <a:t>Kalifikasyon sonrası imalat / tedarikçi değişikliği</a:t>
            </a:r>
            <a:r>
              <a:rPr sz="1050" b="0" i="0">
                <a:solidFill>
                  <a:srgbClr val="262626"/>
                </a:solidFill>
                <a:latin typeface="Calibri"/>
              </a:rPr>
              <a:t> (döküme geçiş, braze, bushing malzemesi) damping'i ve dinamik eşdeğerliği bozabilir </a:t>
            </a:r>
            <a:r>
              <a:rPr sz="800" b="0" i="0">
                <a:solidFill>
                  <a:srgbClr val="1F6B7A"/>
                </a:solidFill>
                <a:latin typeface="Calibri"/>
                <a:hlinkClick r:id="rId5"/>
              </a:rPr>
              <a:t>[2]</a:t>
            </a:r>
          </a:p>
          <a:p>
            <a:pPr marL="155448" indent="-155448">
              <a:lnSpc>
                <a:spcPct val="95000"/>
              </a:lnSpc>
              <a:spcAft>
                <a:spcPts val="300"/>
              </a:spcAft>
              <a:buChar char="•"/>
            </a:pPr>
            <a:r>
              <a:rPr sz="1050" b="1" i="0">
                <a:solidFill>
                  <a:srgbClr val="262626"/>
                </a:solidFill>
                <a:latin typeface="Calibri"/>
              </a:rPr>
              <a:t>Ti casing'de titanium fire → burn-through:</a:t>
            </a:r>
            <a:r>
              <a:rPr sz="1050" b="0" i="0">
                <a:solidFill>
                  <a:srgbClr val="262626"/>
                </a:solidFill>
                <a:latin typeface="Calibri"/>
              </a:rPr>
              <a:t> F-15E kaybı (2012); casing aynı zamanda yangın bariyeri olmalı </a:t>
            </a:r>
            <a:r>
              <a:rPr sz="800" b="0" i="0">
                <a:solidFill>
                  <a:srgbClr val="1F6B7A"/>
                </a:solidFill>
                <a:latin typeface="Calibri"/>
                <a:hlinkClick r:id="rId12"/>
              </a:rPr>
              <a:t>[13]</a:t>
            </a:r>
          </a:p>
          <a:p>
            <a:pPr marL="155448" indent="-155448">
              <a:lnSpc>
                <a:spcPct val="95000"/>
              </a:lnSpc>
              <a:spcAft>
                <a:spcPts val="300"/>
              </a:spcAft>
              <a:buChar char="•"/>
            </a:pPr>
            <a:r>
              <a:rPr sz="1050" b="1" i="0">
                <a:solidFill>
                  <a:srgbClr val="262626"/>
                </a:solidFill>
                <a:latin typeface="Calibri"/>
              </a:rPr>
              <a:t>Gizli ilerleyen hasar:</a:t>
            </a:r>
            <a:r>
              <a:rPr sz="1050" b="0" i="0">
                <a:solidFill>
                  <a:srgbClr val="262626"/>
                </a:solidFill>
                <a:latin typeface="Calibri"/>
              </a:rPr>
              <a:t> VSV bore korozyonu, bushing aşınması; muayene erişimi ve NDI POD tasarımda çözülmezse ömür argümanı kurulamaz </a:t>
            </a:r>
            <a:r>
              <a:rPr sz="800" b="0" i="0">
                <a:solidFill>
                  <a:srgbClr val="1F6B7A"/>
                </a:solidFill>
                <a:latin typeface="Calibri"/>
                <a:hlinkClick r:id="rId8"/>
              </a:rPr>
              <a:t>[3]</a:t>
            </a:r>
            <a:r>
              <a:rPr sz="800" b="0" i="0">
                <a:solidFill>
                  <a:srgbClr val="1F6B7A"/>
                </a:solidFill>
                <a:latin typeface="Calibri"/>
                <a:hlinkClick r:id="rId10"/>
              </a:rPr>
              <a:t>[9]</a:t>
            </a:r>
          </a:p>
          <a:p>
            <a:pPr marL="155448" indent="-155448">
              <a:lnSpc>
                <a:spcPct val="95000"/>
              </a:lnSpc>
              <a:spcAft>
                <a:spcPts val="300"/>
              </a:spcAft>
              <a:buChar char="•"/>
            </a:pPr>
            <a:r>
              <a:rPr sz="1050" b="1" i="0">
                <a:solidFill>
                  <a:srgbClr val="262626"/>
                </a:solidFill>
                <a:latin typeface="Calibri"/>
              </a:rPr>
              <a:t>Veri kısıtı:</a:t>
            </a:r>
            <a:r>
              <a:rPr sz="1050" b="0" i="0">
                <a:solidFill>
                  <a:srgbClr val="262626"/>
                </a:solidFill>
                <a:latin typeface="Calibri"/>
              </a:rPr>
              <a:t> F110'a özgü gerilme, ömür, frekans ve tamir limitleri kamuya açık değil – sayısal değerler kendi programımızdan gelmeli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566928"/>
          </a:xfrm>
          <a:prstGeom prst="rect">
            <a:avLst/>
          </a:prstGeom>
          <a:noFill/>
        </p:spPr>
        <p:txBody>
          <a:bodyPr wrap="square" anchor="t" lIns="0" rIns="0" tIns="0" bIns="0">
            <a:spAutoFit/>
          </a:bodyPr>
          <a:lstStyle/>
          <a:p>
            <a:r>
              <a:rPr sz="3000" b="0" i="0">
                <a:solidFill>
                  <a:srgbClr val="262626"/>
                </a:solidFill>
                <a:latin typeface="Calibri"/>
              </a:rPr>
              <a:t>Doğrulama Yaklaşımı ve Öneriler</a:t>
            </a:r>
          </a:p>
        </p:txBody>
      </p:sp>
      <p:sp>
        <p:nvSpPr>
          <p:cNvPr id="3" name="TextBox 2"/>
          <p:cNvSpPr txBox="1"/>
          <p:nvPr/>
        </p:nvSpPr>
        <p:spPr>
          <a:xfrm>
            <a:off x="521207" y="804672"/>
            <a:ext cx="11155680" cy="310896"/>
          </a:xfrm>
          <a:prstGeom prst="rect">
            <a:avLst/>
          </a:prstGeom>
          <a:noFill/>
        </p:spPr>
        <p:txBody>
          <a:bodyPr wrap="square" anchor="t" lIns="0" rIns="0" tIns="0" bIns="0">
            <a:spAutoFit/>
          </a:bodyPr>
          <a:lstStyle/>
          <a:p>
            <a:r>
              <a:rPr sz="1400" b="0" i="1">
                <a:solidFill>
                  <a:srgbClr val="2A8C9C"/>
                </a:solidFill>
                <a:latin typeface="Calibri"/>
              </a:rPr>
              <a:t>Statik FEA tek başına yeterli değil: analiz → rig → motor testi → teardown korelasyonu</a:t>
            </a:r>
          </a:p>
        </p:txBody>
      </p:sp>
      <p:sp>
        <p:nvSpPr>
          <p:cNvPr id="4" name="TextBox 3"/>
          <p:cNvSpPr txBox="1"/>
          <p:nvPr/>
        </p:nvSpPr>
        <p:spPr>
          <a:xfrm>
            <a:off x="822960" y="6473952"/>
            <a:ext cx="4572000" cy="228600"/>
          </a:xfrm>
          <a:prstGeom prst="rect">
            <a:avLst/>
          </a:prstGeom>
          <a:noFill/>
        </p:spPr>
        <p:txBody>
          <a:bodyPr wrap="square" anchor="t" lIns="0" rIns="0" tIns="0" bIns="0">
            <a:spAutoFit/>
          </a:bodyPr>
          <a:lstStyle/>
          <a:p>
            <a:r>
              <a:rPr sz="900" b="0" i="0">
                <a:solidFill>
                  <a:srgbClr val="262626"/>
                </a:solidFill>
                <a:latin typeface="Calibri"/>
              </a:rPr>
              <a:t>Sınıflandırma: </a:t>
            </a:r>
            <a:r>
              <a:rPr sz="900" b="0" i="0">
                <a:solidFill>
                  <a:srgbClr val="2A8C9C"/>
                </a:solidFill>
                <a:latin typeface="Calibri"/>
              </a:rPr>
              <a:t>Tasnif Dışı</a:t>
            </a:r>
          </a:p>
        </p:txBody>
      </p:sp>
      <p:sp>
        <p:nvSpPr>
          <p:cNvPr id="5" name="TextBox 4"/>
          <p:cNvSpPr txBox="1"/>
          <p:nvPr/>
        </p:nvSpPr>
        <p:spPr>
          <a:xfrm>
            <a:off x="11155680" y="6446520"/>
            <a:ext cx="548640" cy="228600"/>
          </a:xfrm>
          <a:prstGeom prst="rect">
            <a:avLst/>
          </a:prstGeom>
          <a:noFill/>
        </p:spPr>
        <p:txBody>
          <a:bodyPr wrap="square" anchor="t" lIns="0" rIns="0" tIns="0" bIns="0">
            <a:spAutoFit/>
          </a:bodyPr>
          <a:lstStyle/>
          <a:p>
            <a:pPr algn="r"/>
            <a:fld id="{B6F15528-21DE-4FAA-801E-634DDDAF4B2B}" type="slidenum">
              <a:rPr lang="tr-TR" sz="1000">
                <a:solidFill>
                  <a:srgbClr val="2A8C9C"/>
                </a:solidFill>
                <a:latin typeface="Calibri"/>
              </a:rPr>
              <a:t>‹#›</a:t>
            </a:fld>
          </a:p>
        </p:txBody>
      </p:sp>
      <p:sp>
        <p:nvSpPr>
          <p:cNvPr id="6" name="Rectangle 5"/>
          <p:cNvSpPr/>
          <p:nvPr/>
        </p:nvSpPr>
        <p:spPr>
          <a:xfrm>
            <a:off x="502920" y="1261872"/>
            <a:ext cx="5760720" cy="1481328"/>
          </a:xfrm>
          <a:prstGeom prst="rect">
            <a:avLst/>
          </a:prstGeom>
          <a:solidFill>
            <a:srgbClr val="3343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25880"/>
            <a:ext cx="5486400" cy="237744"/>
          </a:xfrm>
          <a:prstGeom prst="rect">
            <a:avLst/>
          </a:prstGeom>
          <a:noFill/>
        </p:spPr>
        <p:txBody>
          <a:bodyPr wrap="square" anchor="t" lIns="0" rIns="0" tIns="0" bIns="0">
            <a:spAutoFit/>
          </a:bodyPr>
          <a:lstStyle/>
          <a:p>
            <a:r>
              <a:rPr sz="1050" b="1" i="0">
                <a:solidFill>
                  <a:srgbClr val="FFFFFF"/>
                </a:solidFill>
                <a:latin typeface="Calibri"/>
              </a:rPr>
              <a:t>KANIT ZİNCİRİ</a:t>
            </a:r>
            <a:r>
              <a:rPr sz="900" b="0" i="1">
                <a:solidFill>
                  <a:srgbClr val="C9D6DB"/>
                </a:solidFill>
                <a:latin typeface="Calibri"/>
              </a:rPr>
              <a:t>   model belirsizliği motor testine kadar bekletilmeden, kademeli azaltılır</a:t>
            </a:r>
          </a:p>
        </p:txBody>
      </p:sp>
      <p:sp>
        <p:nvSpPr>
          <p:cNvPr id="8" name="Rounded Rectangle 7"/>
          <p:cNvSpPr/>
          <p:nvPr/>
        </p:nvSpPr>
        <p:spPr>
          <a:xfrm>
            <a:off x="621792" y="1627631"/>
            <a:ext cx="960120" cy="475488"/>
          </a:xfrm>
          <a:prstGeom prst="roundRect">
            <a:avLst>
              <a:gd name="adj" fmla="val 18000"/>
            </a:avLst>
          </a:prstGeom>
          <a:solidFill>
            <a:srgbClr val="4E62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3716" bIns="13716"/>
          <a:lstStyle/>
          <a:p>
            <a:pPr algn="ctr">
              <a:lnSpc>
                <a:spcPct val="90000"/>
              </a:lnSpc>
            </a:pPr>
            <a:r>
              <a:rPr sz="800" b="0" i="0">
                <a:solidFill>
                  <a:srgbClr val="FFFFFF"/>
                </a:solidFill>
                <a:latin typeface="Calibri"/>
              </a:rPr>
              <a:t>Görev ve yük tanımı</a:t>
            </a:r>
          </a:p>
        </p:txBody>
      </p:sp>
      <p:sp>
        <p:nvSpPr>
          <p:cNvPr id="9" name="Right Arrow 8"/>
          <p:cNvSpPr/>
          <p:nvPr/>
        </p:nvSpPr>
        <p:spPr>
          <a:xfrm>
            <a:off x="1609344" y="1805940"/>
            <a:ext cx="137160" cy="118872"/>
          </a:xfrm>
          <a:prstGeom prst="rightArrow">
            <a:avLst/>
          </a:prstGeom>
          <a:solidFill>
            <a:srgbClr val="B8C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773936" y="1627631"/>
            <a:ext cx="960120" cy="475488"/>
          </a:xfrm>
          <a:prstGeom prst="roundRect">
            <a:avLst>
              <a:gd name="adj" fmla="val 18000"/>
            </a:avLst>
          </a:prstGeom>
          <a:solidFill>
            <a:srgbClr val="4E62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3716" bIns="13716"/>
          <a:lstStyle/>
          <a:p>
            <a:pPr algn="ctr">
              <a:lnSpc>
                <a:spcPct val="90000"/>
              </a:lnSpc>
            </a:pPr>
            <a:r>
              <a:rPr sz="800" b="0" i="0">
                <a:solidFill>
                  <a:srgbClr val="FFFFFF"/>
                </a:solidFill>
                <a:latin typeface="Calibri"/>
              </a:rPr>
              <a:t>Kritik parça sınıflandırma (FMEA / FTA)</a:t>
            </a:r>
          </a:p>
        </p:txBody>
      </p:sp>
      <p:sp>
        <p:nvSpPr>
          <p:cNvPr id="11" name="Right Arrow 10"/>
          <p:cNvSpPr/>
          <p:nvPr/>
        </p:nvSpPr>
        <p:spPr>
          <a:xfrm>
            <a:off x="2761488" y="1805940"/>
            <a:ext cx="137160" cy="118872"/>
          </a:xfrm>
          <a:prstGeom prst="rightArrow">
            <a:avLst/>
          </a:prstGeom>
          <a:solidFill>
            <a:srgbClr val="B8C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926080" y="1627631"/>
            <a:ext cx="960120" cy="475488"/>
          </a:xfrm>
          <a:prstGeom prst="roundRect">
            <a:avLst>
              <a:gd name="adj" fmla="val 18000"/>
            </a:avLst>
          </a:prstGeom>
          <a:solidFill>
            <a:srgbClr val="2A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3716" bIns="13716"/>
          <a:lstStyle/>
          <a:p>
            <a:pPr algn="ctr">
              <a:lnSpc>
                <a:spcPct val="90000"/>
              </a:lnSpc>
            </a:pPr>
            <a:r>
              <a:rPr sz="800" b="1" i="0">
                <a:solidFill>
                  <a:srgbClr val="FFFFFF"/>
                </a:solidFill>
                <a:latin typeface="Calibri"/>
              </a:rPr>
              <a:t>Termal-yapısal-aeroelastik FEA</a:t>
            </a:r>
          </a:p>
        </p:txBody>
      </p:sp>
      <p:sp>
        <p:nvSpPr>
          <p:cNvPr id="13" name="Right Arrow 12"/>
          <p:cNvSpPr/>
          <p:nvPr/>
        </p:nvSpPr>
        <p:spPr>
          <a:xfrm>
            <a:off x="3913632" y="1805940"/>
            <a:ext cx="137160" cy="118872"/>
          </a:xfrm>
          <a:prstGeom prst="rightArrow">
            <a:avLst/>
          </a:prstGeom>
          <a:solidFill>
            <a:srgbClr val="B8C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078224" y="1627631"/>
            <a:ext cx="960120" cy="475488"/>
          </a:xfrm>
          <a:prstGeom prst="roundRect">
            <a:avLst>
              <a:gd name="adj" fmla="val 18000"/>
            </a:avLst>
          </a:prstGeom>
          <a:solidFill>
            <a:srgbClr val="4E62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3716" bIns="13716"/>
          <a:lstStyle/>
          <a:p>
            <a:pPr algn="ctr">
              <a:lnSpc>
                <a:spcPct val="90000"/>
              </a:lnSpc>
            </a:pPr>
            <a:r>
              <a:rPr sz="800" b="0" i="0">
                <a:solidFill>
                  <a:srgbClr val="FFFFFF"/>
                </a:solidFill>
                <a:latin typeface="Calibri"/>
              </a:rPr>
              <a:t>Malzeme / proses ve NDI kabiliyeti</a:t>
            </a:r>
          </a:p>
        </p:txBody>
      </p:sp>
      <p:sp>
        <p:nvSpPr>
          <p:cNvPr id="15" name="Right Arrow 14"/>
          <p:cNvSpPr/>
          <p:nvPr/>
        </p:nvSpPr>
        <p:spPr>
          <a:xfrm>
            <a:off x="5065776" y="1805940"/>
            <a:ext cx="137160" cy="118872"/>
          </a:xfrm>
          <a:prstGeom prst="rightArrow">
            <a:avLst/>
          </a:prstGeom>
          <a:solidFill>
            <a:srgbClr val="B8C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230368" y="1627631"/>
            <a:ext cx="960120" cy="475488"/>
          </a:xfrm>
          <a:prstGeom prst="roundRect">
            <a:avLst>
              <a:gd name="adj" fmla="val 18000"/>
            </a:avLst>
          </a:prstGeom>
          <a:solidFill>
            <a:srgbClr val="4E62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3716" bIns="13716"/>
          <a:lstStyle/>
          <a:p>
            <a:pPr algn="ctr">
              <a:lnSpc>
                <a:spcPct val="90000"/>
              </a:lnSpc>
            </a:pPr>
            <a:r>
              <a:rPr sz="800" b="0" i="0">
                <a:solidFill>
                  <a:srgbClr val="FFFFFF"/>
                </a:solidFill>
                <a:latin typeface="Calibri"/>
              </a:rPr>
              <a:t>Coupon ve alt-eleman testleri</a:t>
            </a:r>
          </a:p>
        </p:txBody>
      </p:sp>
      <p:sp>
        <p:nvSpPr>
          <p:cNvPr id="17" name="Rounded Rectangle 16"/>
          <p:cNvSpPr/>
          <p:nvPr/>
        </p:nvSpPr>
        <p:spPr>
          <a:xfrm>
            <a:off x="621792" y="2185415"/>
            <a:ext cx="960120" cy="475488"/>
          </a:xfrm>
          <a:prstGeom prst="roundRect">
            <a:avLst>
              <a:gd name="adj" fmla="val 18000"/>
            </a:avLst>
          </a:prstGeom>
          <a:solidFill>
            <a:srgbClr val="4E62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3716" bIns="13716"/>
          <a:lstStyle/>
          <a:p>
            <a:pPr algn="ctr">
              <a:lnSpc>
                <a:spcPct val="90000"/>
              </a:lnSpc>
            </a:pPr>
            <a:r>
              <a:rPr sz="800" b="0" i="0">
                <a:solidFill>
                  <a:srgbClr val="FFFFFF"/>
                </a:solidFill>
                <a:latin typeface="Calibri"/>
              </a:rPr>
              <a:t>Komponent / alt-sistem rig</a:t>
            </a:r>
          </a:p>
        </p:txBody>
      </p:sp>
      <p:sp>
        <p:nvSpPr>
          <p:cNvPr id="18" name="Right Arrow 17"/>
          <p:cNvSpPr/>
          <p:nvPr/>
        </p:nvSpPr>
        <p:spPr>
          <a:xfrm>
            <a:off x="1609344" y="2363723"/>
            <a:ext cx="137160" cy="118872"/>
          </a:xfrm>
          <a:prstGeom prst="rightArrow">
            <a:avLst/>
          </a:prstGeom>
          <a:solidFill>
            <a:srgbClr val="B8C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773936" y="2185415"/>
            <a:ext cx="960120" cy="475488"/>
          </a:xfrm>
          <a:prstGeom prst="roundRect">
            <a:avLst>
              <a:gd name="adj" fmla="val 18000"/>
            </a:avLst>
          </a:prstGeom>
          <a:solidFill>
            <a:srgbClr val="4E62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3716" bIns="13716"/>
          <a:lstStyle/>
          <a:p>
            <a:pPr algn="ctr">
              <a:lnSpc>
                <a:spcPct val="90000"/>
              </a:lnSpc>
            </a:pPr>
            <a:r>
              <a:rPr sz="800" b="0" i="0">
                <a:solidFill>
                  <a:srgbClr val="FFFFFF"/>
                </a:solidFill>
                <a:latin typeface="Calibri"/>
              </a:rPr>
              <a:t>Modül ve motor: vibrasyon, surge-stall, endurance</a:t>
            </a:r>
          </a:p>
        </p:txBody>
      </p:sp>
      <p:sp>
        <p:nvSpPr>
          <p:cNvPr id="20" name="Right Arrow 19"/>
          <p:cNvSpPr/>
          <p:nvPr/>
        </p:nvSpPr>
        <p:spPr>
          <a:xfrm>
            <a:off x="2761488" y="2363723"/>
            <a:ext cx="137160" cy="118872"/>
          </a:xfrm>
          <a:prstGeom prst="rightArrow">
            <a:avLst/>
          </a:prstGeom>
          <a:solidFill>
            <a:srgbClr val="B8C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26080" y="2185415"/>
            <a:ext cx="960120" cy="475488"/>
          </a:xfrm>
          <a:prstGeom prst="roundRect">
            <a:avLst>
              <a:gd name="adj" fmla="val 18000"/>
            </a:avLst>
          </a:prstGeom>
          <a:solidFill>
            <a:srgbClr val="4E626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3716" bIns="13716"/>
          <a:lstStyle/>
          <a:p>
            <a:pPr algn="ctr">
              <a:lnSpc>
                <a:spcPct val="90000"/>
              </a:lnSpc>
            </a:pPr>
            <a:r>
              <a:rPr sz="800" b="0" i="0">
                <a:solidFill>
                  <a:srgbClr val="FFFFFF"/>
                </a:solidFill>
                <a:latin typeface="Calibri"/>
              </a:rPr>
              <a:t>Teardown, boyutsal ölçüm ve NDT</a:t>
            </a:r>
          </a:p>
        </p:txBody>
      </p:sp>
      <p:sp>
        <p:nvSpPr>
          <p:cNvPr id="22" name="Right Arrow 21"/>
          <p:cNvSpPr/>
          <p:nvPr/>
        </p:nvSpPr>
        <p:spPr>
          <a:xfrm>
            <a:off x="3913632" y="2363723"/>
            <a:ext cx="137160" cy="118872"/>
          </a:xfrm>
          <a:prstGeom prst="rightArrow">
            <a:avLst/>
          </a:prstGeom>
          <a:solidFill>
            <a:srgbClr val="B8C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078224" y="2185415"/>
            <a:ext cx="960120" cy="475488"/>
          </a:xfrm>
          <a:prstGeom prst="roundRect">
            <a:avLst>
              <a:gd name="adj" fmla="val 18000"/>
            </a:avLst>
          </a:prstGeom>
          <a:solidFill>
            <a:srgbClr val="2A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3716" bIns="13716"/>
          <a:lstStyle/>
          <a:p>
            <a:pPr algn="ctr">
              <a:lnSpc>
                <a:spcPct val="90000"/>
              </a:lnSpc>
            </a:pPr>
            <a:r>
              <a:rPr sz="800" b="1" i="0">
                <a:solidFill>
                  <a:srgbClr val="FFFFFF"/>
                </a:solidFill>
                <a:latin typeface="Calibri"/>
              </a:rPr>
              <a:t>Analiz–test korelasyonu</a:t>
            </a:r>
          </a:p>
        </p:txBody>
      </p:sp>
      <p:sp>
        <p:nvSpPr>
          <p:cNvPr id="24" name="Right Arrow 23"/>
          <p:cNvSpPr/>
          <p:nvPr/>
        </p:nvSpPr>
        <p:spPr>
          <a:xfrm>
            <a:off x="5065776" y="2363723"/>
            <a:ext cx="137160" cy="118872"/>
          </a:xfrm>
          <a:prstGeom prst="rightArrow">
            <a:avLst/>
          </a:prstGeom>
          <a:solidFill>
            <a:srgbClr val="B8C4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230368" y="2185415"/>
            <a:ext cx="960120" cy="475488"/>
          </a:xfrm>
          <a:prstGeom prst="roundRect">
            <a:avLst>
              <a:gd name="adj" fmla="val 18000"/>
            </a:avLst>
          </a:prstGeom>
          <a:solidFill>
            <a:srgbClr val="B548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3716" bIns="13716"/>
          <a:lstStyle/>
          <a:p>
            <a:pPr algn="ctr">
              <a:lnSpc>
                <a:spcPct val="90000"/>
              </a:lnSpc>
            </a:pPr>
            <a:r>
              <a:rPr sz="800" b="0" i="0">
                <a:solidFill>
                  <a:srgbClr val="FFFFFF"/>
                </a:solidFill>
                <a:latin typeface="Calibri"/>
              </a:rPr>
              <a:t>Ömür / muayene / tamir limitleri</a:t>
            </a:r>
          </a:p>
        </p:txBody>
      </p:sp>
      <p:graphicFrame>
        <p:nvGraphicFramePr>
          <p:cNvPr id="26" name="Table 25"/>
          <p:cNvGraphicFramePr>
            <a:graphicFrameLocks noGrp="1"/>
          </p:cNvGraphicFramePr>
          <p:nvPr/>
        </p:nvGraphicFramePr>
        <p:xfrm>
          <a:off x="502920" y="2862072"/>
          <a:ext cx="5760720" cy="3410712"/>
        </p:xfrm>
        <a:graphic>
          <a:graphicData uri="http://schemas.openxmlformats.org/drawingml/2006/table">
            <a:tbl>
              <a:tblPr firstRow="0" bandRow="0">
                <a:tableStyleId>{5C22544A-7EE6-4342-B048-85BDC9FD1C3A}</a:tableStyleId>
              </a:tblPr>
              <a:tblGrid>
                <a:gridCol w="1143000"/>
                <a:gridCol w="2377440"/>
                <a:gridCol w="2240280"/>
              </a:tblGrid>
              <a:tr h="246888">
                <a:tc>
                  <a:txBody>
                    <a:bodyPr wrap="square"/>
                    <a:lstStyle/>
                    <a:p>
                      <a:pPr>
                        <a:lnSpc>
                          <a:spcPct val="92000"/>
                        </a:lnSpc>
                      </a:pPr>
                      <a:r>
                        <a:rPr sz="900" b="1" i="0">
                          <a:solidFill>
                            <a:srgbClr val="FFFFFF"/>
                          </a:solidFill>
                          <a:latin typeface="Calibri"/>
                        </a:rPr>
                        <a:t>PARÇA GRUBU</a:t>
                      </a:r>
                    </a:p>
                  </a:txBody>
                  <a:tcPr marL="54864" marR="54864" marT="22860" marB="22860" anchor="ctr">
                    <a:solidFill>
                      <a:srgbClr val="2A8C9C"/>
                    </a:solidFill>
                  </a:tcPr>
                </a:tc>
                <a:tc>
                  <a:txBody>
                    <a:bodyPr wrap="square"/>
                    <a:lstStyle/>
                    <a:p>
                      <a:pPr>
                        <a:lnSpc>
                          <a:spcPct val="92000"/>
                        </a:lnSpc>
                      </a:pPr>
                      <a:r>
                        <a:rPr sz="900" b="1" i="0">
                          <a:solidFill>
                            <a:srgbClr val="FFFFFF"/>
                          </a:solidFill>
                          <a:latin typeface="Calibri"/>
                        </a:rPr>
                        <a:t>ANALİZ (FEA)</a:t>
                      </a:r>
                    </a:p>
                  </a:txBody>
                  <a:tcPr marL="54864" marR="54864" marT="22860" marB="22860" anchor="ctr">
                    <a:solidFill>
                      <a:srgbClr val="2A8C9C"/>
                    </a:solidFill>
                  </a:tcPr>
                </a:tc>
                <a:tc>
                  <a:txBody>
                    <a:bodyPr wrap="square"/>
                    <a:lstStyle/>
                    <a:p>
                      <a:pPr>
                        <a:lnSpc>
                          <a:spcPct val="92000"/>
                        </a:lnSpc>
                      </a:pPr>
                      <a:r>
                        <a:rPr sz="900" b="1" i="0">
                          <a:solidFill>
                            <a:srgbClr val="FFFFFF"/>
                          </a:solidFill>
                          <a:latin typeface="Calibri"/>
                        </a:rPr>
                        <a:t>TEST VE KORELASYON</a:t>
                      </a:r>
                    </a:p>
                  </a:txBody>
                  <a:tcPr marL="54864" marR="54864" marT="22860" marB="22860" anchor="ctr">
                    <a:solidFill>
                      <a:srgbClr val="2A8C9C"/>
                    </a:solidFill>
                  </a:tcPr>
                </a:tc>
              </a:tr>
              <a:tr h="790956">
                <a:tc>
                  <a:txBody>
                    <a:bodyPr wrap="square"/>
                    <a:lstStyle/>
                    <a:p>
                      <a:pPr>
                        <a:lnSpc>
                          <a:spcPct val="92000"/>
                        </a:lnSpc>
                      </a:pPr>
                      <a:r>
                        <a:rPr sz="850" b="0" i="0">
                          <a:solidFill>
                            <a:srgbClr val="262626"/>
                          </a:solidFill>
                          <a:latin typeface="Calibri"/>
                        </a:rPr>
                        <a:t>HPC casing ve kritik joint'ler</a:t>
                      </a:r>
                    </a:p>
                  </a:txBody>
                  <a:tcPr marL="54864" marR="54864" marT="22860" marB="22860" anchor="ctr">
                    <a:solidFill>
                      <a:srgbClr val="DCE6E9"/>
                    </a:solidFill>
                  </a:tcPr>
                </a:tc>
                <a:tc>
                  <a:txBody>
                    <a:bodyPr wrap="square"/>
                    <a:lstStyle/>
                    <a:p>
                      <a:pPr>
                        <a:lnSpc>
                          <a:spcPct val="92000"/>
                        </a:lnSpc>
                      </a:pPr>
                      <a:r>
                        <a:rPr sz="850" b="0" i="0">
                          <a:solidFill>
                            <a:srgbClr val="262626"/>
                          </a:solidFill>
                          <a:latin typeface="Calibri"/>
                        </a:rPr>
                        <a:t>Coupled transient termal-yapısal FEA; nonlinear flange / joint contact; delik, flange ve boss'ta LCF/TMF + crack growth; distorsiyon / klerans; blade-out etkileşimi</a:t>
                      </a:r>
                    </a:p>
                  </a:txBody>
                  <a:tcPr marL="54864" marR="54864" marT="22860" marB="22860" anchor="ctr">
                    <a:solidFill>
                      <a:srgbClr val="DCE6E9"/>
                    </a:solidFill>
                  </a:tcPr>
                </a:tc>
                <a:tc>
                  <a:txBody>
                    <a:bodyPr wrap="square"/>
                    <a:lstStyle/>
                    <a:p>
                      <a:pPr>
                        <a:lnSpc>
                          <a:spcPct val="92000"/>
                        </a:lnSpc>
                      </a:pPr>
                      <a:r>
                        <a:rPr sz="850" b="0" i="0">
                          <a:solidFill>
                            <a:srgbClr val="262626"/>
                          </a:solidFill>
                          <a:latin typeface="Calibri"/>
                        </a:rPr>
                        <a:t>Strain-gage'li proof / ultimate basınç testi; basınç + termal + dış yük kombine test; görev spektrumlu termal çevrim; flange rig; containment kanıtı </a:t>
                      </a:r>
                      <a:r>
                        <a:rPr sz="700" b="0" i="0">
                          <a:solidFill>
                            <a:srgbClr val="1F6B7A"/>
                          </a:solidFill>
                          <a:latin typeface="Calibri"/>
                          <a:hlinkClick r:id="rId2"/>
                        </a:rPr>
                        <a:t>[1]</a:t>
                      </a:r>
                      <a:r>
                        <a:rPr sz="700" b="0" i="0">
                          <a:solidFill>
                            <a:srgbClr val="1F6B7A"/>
                          </a:solidFill>
                          <a:latin typeface="Calibri"/>
                          <a:hlinkClick r:id="rId3"/>
                        </a:rPr>
                        <a:t>[2]</a:t>
                      </a:r>
                    </a:p>
                  </a:txBody>
                  <a:tcPr marL="54864" marR="54864" marT="22860" marB="22860" anchor="ctr">
                    <a:solidFill>
                      <a:srgbClr val="DCE6E9"/>
                    </a:solidFill>
                  </a:tcPr>
                </a:tc>
              </a:tr>
              <a:tr h="790956">
                <a:tc>
                  <a:txBody>
                    <a:bodyPr wrap="square"/>
                    <a:lstStyle/>
                    <a:p>
                      <a:pPr>
                        <a:lnSpc>
                          <a:spcPct val="92000"/>
                        </a:lnSpc>
                      </a:pPr>
                      <a:r>
                        <a:rPr sz="850" b="0" i="0">
                          <a:solidFill>
                            <a:srgbClr val="262626"/>
                          </a:solidFill>
                          <a:latin typeface="Calibri"/>
                        </a:rPr>
                        <a:t>VSV sistemi</a:t>
                      </a:r>
                    </a:p>
                  </a:txBody>
                  <a:tcPr marL="54864" marR="54864" marT="22860" marB="22860" anchor="ctr">
                    <a:solidFill>
                      <a:srgbClr val="EEF3F5"/>
                    </a:solidFill>
                  </a:tcPr>
                </a:tc>
                <a:tc>
                  <a:txBody>
                    <a:bodyPr wrap="square"/>
                    <a:lstStyle/>
                    <a:p>
                      <a:pPr>
                        <a:lnSpc>
                          <a:spcPct val="92000"/>
                        </a:lnSpc>
                      </a:pPr>
                      <a:r>
                        <a:rPr sz="850" b="0" i="0">
                          <a:solidFill>
                            <a:srgbClr val="262626"/>
                          </a:solidFill>
                          <a:latin typeface="Calibri"/>
                        </a:rPr>
                        <a:t>Kinematik / tolerans zinciri; jam, misrig ve kısmi strok FMEA/FTA; vane, lever ve ring için modal + forced response / HCF; aşınma – klerans büyüme modeli; bore distorsiyonu</a:t>
                      </a:r>
                    </a:p>
                  </a:txBody>
                  <a:tcPr marL="54864" marR="54864" marT="22860" marB="22860" anchor="ctr">
                    <a:solidFill>
                      <a:srgbClr val="EEF3F5"/>
                    </a:solidFill>
                  </a:tcPr>
                </a:tc>
                <a:tc>
                  <a:txBody>
                    <a:bodyPr wrap="square"/>
                    <a:lstStyle/>
                    <a:p>
                      <a:pPr>
                        <a:lnSpc>
                          <a:spcPct val="92000"/>
                        </a:lnSpc>
                      </a:pPr>
                      <a:r>
                        <a:rPr sz="850" b="0" i="0">
                          <a:solidFill>
                            <a:srgbClr val="262626"/>
                          </a:solidFill>
                          <a:latin typeface="Calibri"/>
                        </a:rPr>
                        <a:t>Sıcaklık ve basınç altında yüksek çevrim tahrik endurance; bushing triboloji rig; korozyon sonrası tahrik; off-schedule / jam kompresör rig; montaj hatası doğrulaması </a:t>
                      </a:r>
                      <a:r>
                        <a:rPr sz="700" b="0" i="0">
                          <a:solidFill>
                            <a:srgbClr val="1F6B7A"/>
                          </a:solidFill>
                          <a:latin typeface="Calibri"/>
                          <a:hlinkClick r:id="rId4"/>
                        </a:rPr>
                        <a:t>[9]</a:t>
                      </a:r>
                      <a:r>
                        <a:rPr sz="700" b="0" i="0">
                          <a:solidFill>
                            <a:srgbClr val="1F6B7A"/>
                          </a:solidFill>
                          <a:latin typeface="Calibri"/>
                          <a:hlinkClick r:id="rId5"/>
                        </a:rPr>
                        <a:t>[15]</a:t>
                      </a:r>
                      <a:r>
                        <a:rPr sz="700" b="0" i="0">
                          <a:solidFill>
                            <a:srgbClr val="1F6B7A"/>
                          </a:solidFill>
                          <a:latin typeface="Calibri"/>
                          <a:hlinkClick r:id="rId6"/>
                        </a:rPr>
                        <a:t>[16]</a:t>
                      </a:r>
                    </a:p>
                  </a:txBody>
                  <a:tcPr marL="54864" marR="54864" marT="22860" marB="22860" anchor="ctr">
                    <a:solidFill>
                      <a:srgbClr val="EEF3F5"/>
                    </a:solidFill>
                  </a:tcPr>
                </a:tc>
              </a:tr>
              <a:tr h="790956">
                <a:tc>
                  <a:txBody>
                    <a:bodyPr wrap="square"/>
                    <a:lstStyle/>
                    <a:p>
                      <a:pPr>
                        <a:lnSpc>
                          <a:spcPct val="92000"/>
                        </a:lnSpc>
                      </a:pPr>
                      <a:r>
                        <a:rPr sz="850" b="0" i="0">
                          <a:solidFill>
                            <a:srgbClr val="262626"/>
                          </a:solidFill>
                          <a:latin typeface="Calibri"/>
                        </a:rPr>
                        <a:t>Fixed stator vane sektörleri</a:t>
                      </a:r>
                    </a:p>
                  </a:txBody>
                  <a:tcPr marL="54864" marR="54864" marT="22860" marB="22860" anchor="ctr">
                    <a:solidFill>
                      <a:srgbClr val="DCE6E9"/>
                    </a:solidFill>
                  </a:tcPr>
                </a:tc>
                <a:tc>
                  <a:txBody>
                    <a:bodyPr wrap="square"/>
                    <a:lstStyle/>
                    <a:p>
                      <a:pPr>
                        <a:lnSpc>
                          <a:spcPct val="92000"/>
                        </a:lnSpc>
                      </a:pPr>
                      <a:r>
                        <a:rPr sz="850" b="0" i="0">
                          <a:solidFill>
                            <a:srgbClr val="262626"/>
                          </a:solidFill>
                          <a:latin typeface="Calibri"/>
                        </a:rPr>
                        <a:t>Sıcaklığa bağlı sınır şartlı modal model; Campbell / engine order; aerodinamik forced response; root / band / joint lokal gerilme; damping ve imalat scatter duyarlılığı</a:t>
                      </a:r>
                    </a:p>
                  </a:txBody>
                  <a:tcPr marL="54864" marR="54864" marT="22860" marB="22860" anchor="ctr">
                    <a:solidFill>
                      <a:srgbClr val="DCE6E9"/>
                    </a:solidFill>
                  </a:tcPr>
                </a:tc>
                <a:tc>
                  <a:txBody>
                    <a:bodyPr wrap="square"/>
                    <a:lstStyle/>
                    <a:p>
                      <a:pPr>
                        <a:lnSpc>
                          <a:spcPct val="92000"/>
                        </a:lnSpc>
                      </a:pPr>
                      <a:r>
                        <a:rPr sz="850" b="0" i="0">
                          <a:solidFill>
                            <a:srgbClr val="262626"/>
                          </a:solidFill>
                          <a:latin typeface="Calibri"/>
                        </a:rPr>
                        <a:t>Deneysel modal analiz; strain-gage'li rig / motor vibrasyon survey; braze / kaynak / döküm joint yorulma; üretimden modal örnekleme </a:t>
                      </a:r>
                      <a:r>
                        <a:rPr sz="700" b="0" i="0">
                          <a:solidFill>
                            <a:srgbClr val="1F6B7A"/>
                          </a:solidFill>
                          <a:latin typeface="Calibri"/>
                          <a:hlinkClick r:id="rId3"/>
                        </a:rPr>
                        <a:t>[2]</a:t>
                      </a:r>
                      <a:r>
                        <a:rPr sz="700" b="0" i="0">
                          <a:solidFill>
                            <a:srgbClr val="1F6B7A"/>
                          </a:solidFill>
                          <a:latin typeface="Calibri"/>
                          <a:hlinkClick r:id="rId7"/>
                        </a:rPr>
                        <a:t>[4]</a:t>
                      </a:r>
                    </a:p>
                  </a:txBody>
                  <a:tcPr marL="54864" marR="54864" marT="22860" marB="22860" anchor="ctr">
                    <a:solidFill>
                      <a:srgbClr val="DCE6E9"/>
                    </a:solidFill>
                  </a:tcPr>
                </a:tc>
              </a:tr>
              <a:tr h="790956">
                <a:tc>
                  <a:txBody>
                    <a:bodyPr wrap="square"/>
                    <a:lstStyle/>
                    <a:p>
                      <a:pPr>
                        <a:lnSpc>
                          <a:spcPct val="92000"/>
                        </a:lnSpc>
                      </a:pPr>
                      <a:r>
                        <a:rPr sz="850" b="0" i="0">
                          <a:solidFill>
                            <a:srgbClr val="262626"/>
                          </a:solidFill>
                          <a:latin typeface="Calibri"/>
                        </a:rPr>
                        <a:t>Shroud, seal carrier, honeycomb, pin</a:t>
                      </a:r>
                    </a:p>
                  </a:txBody>
                  <a:tcPr marL="54864" marR="54864" marT="22860" marB="22860" anchor="ctr">
                    <a:solidFill>
                      <a:srgbClr val="EEF3F5"/>
                    </a:solidFill>
                  </a:tcPr>
                </a:tc>
                <a:tc>
                  <a:txBody>
                    <a:bodyPr wrap="square"/>
                    <a:lstStyle/>
                    <a:p>
                      <a:pPr>
                        <a:lnSpc>
                          <a:spcPct val="92000"/>
                        </a:lnSpc>
                      </a:pPr>
                      <a:r>
                        <a:rPr sz="850" b="0" i="0">
                          <a:solidFill>
                            <a:srgbClr val="262626"/>
                          </a:solidFill>
                          <a:latin typeface="Calibri"/>
                        </a:rPr>
                        <a:t>Termal distorsiyon ve klerans modeli; segment retention yükleri; rub enerjisi duyarlılığı; bond / braze gerilmesi; serbest kalan parçanın sonuçları</a:t>
                      </a:r>
                    </a:p>
                  </a:txBody>
                  <a:tcPr marL="54864" marR="54864" marT="22860" marB="22860" anchor="ctr">
                    <a:solidFill>
                      <a:srgbClr val="EEF3F5"/>
                    </a:solidFill>
                  </a:tcPr>
                </a:tc>
                <a:tc>
                  <a:txBody>
                    <a:bodyPr wrap="square"/>
                    <a:lstStyle/>
                    <a:p>
                      <a:pPr>
                        <a:lnSpc>
                          <a:spcPct val="92000"/>
                        </a:lnSpc>
                      </a:pPr>
                      <a:r>
                        <a:rPr sz="850" b="0" i="0">
                          <a:solidFill>
                            <a:srgbClr val="262626"/>
                          </a:solidFill>
                          <a:latin typeface="Calibri"/>
                        </a:rPr>
                        <a:t>Termal çevrim; rotor-rub rig; bond / braze dayanım ve dayanıklılık; retention testi; endurance sonrası boroskop ve teardown </a:t>
                      </a:r>
                      <a:r>
                        <a:rPr sz="700" b="0" i="0">
                          <a:solidFill>
                            <a:srgbClr val="1F6B7A"/>
                          </a:solidFill>
                          <a:latin typeface="Calibri"/>
                          <a:hlinkClick r:id="rId2"/>
                        </a:rPr>
                        <a:t>[1]</a:t>
                      </a:r>
                      <a:r>
                        <a:rPr sz="700" b="0" i="0">
                          <a:solidFill>
                            <a:srgbClr val="1F6B7A"/>
                          </a:solidFill>
                          <a:latin typeface="Calibri"/>
                          <a:hlinkClick r:id="rId8"/>
                        </a:rPr>
                        <a:t>[14]</a:t>
                      </a:r>
                    </a:p>
                  </a:txBody>
                  <a:tcPr marL="54864" marR="54864" marT="22860" marB="22860" anchor="ctr">
                    <a:solidFill>
                      <a:srgbClr val="EEF3F5"/>
                    </a:solidFill>
                  </a:tcPr>
                </a:tc>
              </a:tr>
            </a:tbl>
          </a:graphicData>
        </a:graphic>
      </p:graphicFrame>
      <p:cxnSp>
        <p:nvCxnSpPr>
          <p:cNvPr id="27" name="Connector 26"/>
          <p:cNvCxnSpPr/>
          <p:nvPr/>
        </p:nvCxnSpPr>
        <p:spPr>
          <a:xfrm>
            <a:off x="6537960" y="1188720"/>
            <a:ext cx="0" cy="5166360"/>
          </a:xfrm>
          <a:prstGeom prst="line">
            <a:avLst/>
          </a:prstGeom>
          <a:ln w="38100">
            <a:solidFill>
              <a:srgbClr val="1F6B7A"/>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812280" y="1188720"/>
            <a:ext cx="4937760" cy="274320"/>
          </a:xfrm>
          <a:prstGeom prst="rect">
            <a:avLst/>
          </a:prstGeom>
          <a:noFill/>
        </p:spPr>
        <p:txBody>
          <a:bodyPr wrap="square" anchor="t" lIns="0" rIns="0" tIns="0" bIns="0">
            <a:spAutoFit/>
          </a:bodyPr>
          <a:lstStyle/>
          <a:p>
            <a:r>
              <a:rPr sz="1400" b="0" i="0">
                <a:solidFill>
                  <a:srgbClr val="262626"/>
                </a:solidFill>
                <a:latin typeface="Calibri"/>
              </a:rPr>
              <a:t>PDR İÇİN ÖNERİLER &amp; KARAR TALEPLERİ:</a:t>
            </a:r>
          </a:p>
        </p:txBody>
      </p:sp>
      <p:sp>
        <p:nvSpPr>
          <p:cNvPr id="29" name="TextBox 28"/>
          <p:cNvSpPr txBox="1"/>
          <p:nvPr/>
        </p:nvSpPr>
        <p:spPr>
          <a:xfrm>
            <a:off x="6949440" y="1517904"/>
            <a:ext cx="4800600" cy="2231136"/>
          </a:xfrm>
          <a:prstGeom prst="rect">
            <a:avLst/>
          </a:prstGeom>
          <a:noFill/>
        </p:spPr>
        <p:txBody>
          <a:bodyPr wrap="square" anchor="t" lIns="0" rIns="0" tIns="0" bIns="0">
            <a:spAutoFit/>
          </a:bodyPr>
          <a:lstStyle/>
          <a:p>
            <a:pPr marL="155448" indent="-155448">
              <a:lnSpc>
                <a:spcPct val="95000"/>
              </a:lnSpc>
              <a:spcAft>
                <a:spcPts val="350"/>
              </a:spcAft>
              <a:buChar char="•"/>
            </a:pPr>
            <a:r>
              <a:rPr sz="1050" b="1" i="0">
                <a:solidFill>
                  <a:srgbClr val="262626"/>
                </a:solidFill>
                <a:latin typeface="Calibri"/>
              </a:rPr>
              <a:t>Statik Kritik Parça Listesi PDR çıkışında baseline'lanmalı:</a:t>
            </a:r>
            <a:r>
              <a:rPr sz="1050" b="0" i="0">
                <a:solidFill>
                  <a:srgbClr val="262626"/>
                </a:solidFill>
                <a:latin typeface="Calibri"/>
              </a:rPr>
              <a:t> arıza etkisi, rotor etkileşimi, muayene edilebilirlik, bakıma bağımlılık </a:t>
            </a:r>
            <a:r>
              <a:rPr sz="800" b="0" i="0">
                <a:solidFill>
                  <a:srgbClr val="1F6B7A"/>
                </a:solidFill>
                <a:latin typeface="Calibri"/>
                <a:hlinkClick r:id="rId2"/>
              </a:rPr>
              <a:t>[1]</a:t>
            </a:r>
            <a:r>
              <a:rPr sz="800" b="0" i="0">
                <a:solidFill>
                  <a:srgbClr val="1F6B7A"/>
                </a:solidFill>
                <a:latin typeface="Calibri"/>
                <a:hlinkClick r:id="rId9"/>
              </a:rPr>
              <a:t>[5]</a:t>
            </a:r>
          </a:p>
          <a:p>
            <a:pPr marL="155448" indent="-155448">
              <a:lnSpc>
                <a:spcPct val="95000"/>
              </a:lnSpc>
              <a:spcAft>
                <a:spcPts val="350"/>
              </a:spcAft>
              <a:buChar char="•"/>
            </a:pPr>
            <a:r>
              <a:rPr sz="1050" b="1" i="0">
                <a:solidFill>
                  <a:srgbClr val="262626"/>
                </a:solidFill>
                <a:latin typeface="Calibri"/>
              </a:rPr>
              <a:t>HPC casing ve VSV sistemi ön tasarımdan itibaren Tier-1 iş paketi;</a:t>
            </a:r>
            <a:r>
              <a:rPr sz="1050" b="0" i="0">
                <a:solidFill>
                  <a:srgbClr val="262626"/>
                </a:solidFill>
                <a:latin typeface="Calibri"/>
              </a:rPr>
              <a:t> FSV ve frame'ler kalifikasyondan önce tam aeroelastik + damage tolerance kanıtını kapatmalı</a:t>
            </a:r>
          </a:p>
          <a:p>
            <a:pPr marL="155448" indent="-155448">
              <a:lnSpc>
                <a:spcPct val="95000"/>
              </a:lnSpc>
              <a:spcAft>
                <a:spcPts val="350"/>
              </a:spcAft>
              <a:buChar char="•"/>
            </a:pPr>
            <a:r>
              <a:rPr sz="1050" b="1" i="0">
                <a:solidFill>
                  <a:srgbClr val="262626"/>
                </a:solidFill>
                <a:latin typeface="Calibri"/>
              </a:rPr>
              <a:t>Poka-yoke montaj:</a:t>
            </a:r>
            <a:r>
              <a:rPr sz="1050" b="0" i="0">
                <a:solidFill>
                  <a:srgbClr val="262626"/>
                </a:solidFill>
                <a:latin typeface="Calibri"/>
              </a:rPr>
              <a:t> asimetrik cıvata dizilimi, farklı hook genişliği, polarize pim – ters / yanlış montaj geometrik olarak imkânsız olmalı </a:t>
            </a:r>
            <a:r>
              <a:rPr sz="800" b="0" i="0">
                <a:solidFill>
                  <a:srgbClr val="1F6B7A"/>
                </a:solidFill>
                <a:latin typeface="Calibri"/>
                <a:hlinkClick r:id="rId10"/>
              </a:rPr>
              <a:t>[11]</a:t>
            </a:r>
            <a:r>
              <a:rPr sz="800" b="0" i="0">
                <a:solidFill>
                  <a:srgbClr val="1F6B7A"/>
                </a:solidFill>
                <a:latin typeface="Calibri"/>
                <a:hlinkClick r:id="rId11"/>
              </a:rPr>
              <a:t>[12]</a:t>
            </a:r>
          </a:p>
          <a:p>
            <a:pPr marL="155448" indent="-155448">
              <a:lnSpc>
                <a:spcPct val="95000"/>
              </a:lnSpc>
              <a:spcAft>
                <a:spcPts val="350"/>
              </a:spcAft>
              <a:buChar char="•"/>
            </a:pPr>
            <a:r>
              <a:rPr sz="1050" b="1" i="0">
                <a:solidFill>
                  <a:srgbClr val="262626"/>
                </a:solidFill>
                <a:latin typeface="Calibri"/>
              </a:rPr>
              <a:t>Damage tolerance:</a:t>
            </a:r>
            <a:r>
              <a:rPr sz="1050" b="0" i="0">
                <a:solidFill>
                  <a:srgbClr val="262626"/>
                </a:solidFill>
                <a:latin typeface="Calibri"/>
              </a:rPr>
              <a:t> kritik radius, cıvata deliği ve VSV bore'da başlangıç kusuru varsayımı; NDI POD temsilî geometride doğrulanmalı </a:t>
            </a:r>
            <a:r>
              <a:rPr sz="800" b="0" i="0">
                <a:solidFill>
                  <a:srgbClr val="1F6B7A"/>
                </a:solidFill>
                <a:latin typeface="Calibri"/>
                <a:hlinkClick r:id="rId3"/>
              </a:rPr>
              <a:t>[2]</a:t>
            </a:r>
            <a:r>
              <a:rPr sz="800" b="0" i="0">
                <a:solidFill>
                  <a:srgbClr val="1F6B7A"/>
                </a:solidFill>
                <a:latin typeface="Calibri"/>
                <a:hlinkClick r:id="rId12"/>
              </a:rPr>
              <a:t>[3]</a:t>
            </a:r>
          </a:p>
          <a:p>
            <a:pPr marL="155448" indent="-155448">
              <a:lnSpc>
                <a:spcPct val="95000"/>
              </a:lnSpc>
              <a:spcAft>
                <a:spcPts val="350"/>
              </a:spcAft>
              <a:buChar char="•"/>
            </a:pPr>
            <a:r>
              <a:rPr sz="1050" b="1" i="0">
                <a:solidFill>
                  <a:srgbClr val="262626"/>
                </a:solidFill>
                <a:latin typeface="Calibri"/>
              </a:rPr>
              <a:t>Konfigürasyon değişikliği kapısı:</a:t>
            </a:r>
            <a:r>
              <a:rPr sz="1050" b="0" i="0">
                <a:solidFill>
                  <a:srgbClr val="262626"/>
                </a:solidFill>
                <a:latin typeface="Calibri"/>
              </a:rPr>
              <a:t> tedarikçi / proses değişikliği boyutsal FAI ile değil, mühendislik eşdeğerliği (modal + forced response) ile kapanmalı </a:t>
            </a:r>
            <a:r>
              <a:rPr sz="800" b="0" i="0">
                <a:solidFill>
                  <a:srgbClr val="1F6B7A"/>
                </a:solidFill>
                <a:latin typeface="Calibri"/>
                <a:hlinkClick r:id="rId3"/>
              </a:rPr>
              <a:t>[2]</a:t>
            </a:r>
          </a:p>
          <a:p>
            <a:pPr marL="155448" indent="-155448">
              <a:lnSpc>
                <a:spcPct val="95000"/>
              </a:lnSpc>
              <a:spcAft>
                <a:spcPts val="350"/>
              </a:spcAft>
              <a:buChar char="•"/>
            </a:pPr>
            <a:r>
              <a:rPr sz="1050" b="1" i="0">
                <a:solidFill>
                  <a:srgbClr val="262626"/>
                </a:solidFill>
                <a:latin typeface="Calibri"/>
              </a:rPr>
              <a:t>Ti → IN718 geçiş istasyonu ve abradable / bariyer seçimi</a:t>
            </a:r>
            <a:r>
              <a:rPr sz="1050" b="0" i="0">
                <a:solidFill>
                  <a:srgbClr val="262626"/>
                </a:solidFill>
                <a:latin typeface="Calibri"/>
              </a:rPr>
              <a:t> titanium fire riskine göre belirlenmeli </a:t>
            </a:r>
            <a:r>
              <a:rPr sz="800" b="0" i="0">
                <a:solidFill>
                  <a:srgbClr val="1F6B7A"/>
                </a:solidFill>
                <a:latin typeface="Calibri"/>
                <a:hlinkClick r:id="rId11"/>
              </a:rPr>
              <a:t>[12]</a:t>
            </a:r>
            <a:r>
              <a:rPr sz="800" b="0" i="0">
                <a:solidFill>
                  <a:srgbClr val="1F6B7A"/>
                </a:solidFill>
                <a:latin typeface="Calibri"/>
                <a:hlinkClick r:id="rId13"/>
              </a:rPr>
              <a:t>[13]</a:t>
            </a:r>
          </a:p>
        </p:txBody>
      </p:sp>
      <p:cxnSp>
        <p:nvCxnSpPr>
          <p:cNvPr id="30" name="Connector 29"/>
          <p:cNvCxnSpPr/>
          <p:nvPr/>
        </p:nvCxnSpPr>
        <p:spPr>
          <a:xfrm>
            <a:off x="6812280" y="3767328"/>
            <a:ext cx="4937760" cy="0"/>
          </a:xfrm>
          <a:prstGeom prst="line">
            <a:avLst/>
          </a:prstGeom>
          <a:ln w="28575">
            <a:solidFill>
              <a:srgbClr val="1F6B7A"/>
            </a:solidFill>
            <a:prstDash val="dash"/>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812280" y="3886200"/>
            <a:ext cx="4937760" cy="274320"/>
          </a:xfrm>
          <a:prstGeom prst="rect">
            <a:avLst/>
          </a:prstGeom>
          <a:noFill/>
        </p:spPr>
        <p:txBody>
          <a:bodyPr wrap="square" anchor="t" lIns="0" rIns="0" tIns="0" bIns="0">
            <a:spAutoFit/>
          </a:bodyPr>
          <a:lstStyle/>
          <a:p>
            <a:r>
              <a:rPr sz="1400" b="0" i="0">
                <a:solidFill>
                  <a:srgbClr val="262626"/>
                </a:solidFill>
                <a:latin typeface="Calibri"/>
              </a:rPr>
              <a:t>FEA / ANALİZ TARAFI – SONRAKİ ADIMLAR:</a:t>
            </a:r>
          </a:p>
        </p:txBody>
      </p:sp>
      <p:sp>
        <p:nvSpPr>
          <p:cNvPr id="32" name="TextBox 31"/>
          <p:cNvSpPr txBox="1"/>
          <p:nvPr/>
        </p:nvSpPr>
        <p:spPr>
          <a:xfrm>
            <a:off x="6949440" y="4215384"/>
            <a:ext cx="4800600" cy="2139696"/>
          </a:xfrm>
          <a:prstGeom prst="rect">
            <a:avLst/>
          </a:prstGeom>
          <a:noFill/>
        </p:spPr>
        <p:txBody>
          <a:bodyPr wrap="square" anchor="t" lIns="0" rIns="0" tIns="0" bIns="0">
            <a:spAutoFit/>
          </a:bodyPr>
          <a:lstStyle/>
          <a:p>
            <a:pPr marL="155448" indent="-155448">
              <a:lnSpc>
                <a:spcPct val="95000"/>
              </a:lnSpc>
              <a:spcAft>
                <a:spcPts val="300"/>
              </a:spcAft>
              <a:buChar char="•"/>
            </a:pPr>
            <a:r>
              <a:rPr sz="1050" b="1" i="0">
                <a:solidFill>
                  <a:srgbClr val="262626"/>
                </a:solidFill>
                <a:latin typeface="Calibri"/>
              </a:rPr>
              <a:t>Miras çalışmaların envanteri:</a:t>
            </a:r>
            <a:r>
              <a:rPr sz="1050" b="0" i="0">
                <a:solidFill>
                  <a:srgbClr val="262626"/>
                </a:solidFill>
                <a:latin typeface="Calibri"/>
              </a:rPr>
              <a:t> mevcut FEA modelleri, yük / sınır şartı varsayımları ve test verisi; bu tabloya karşı boşluk analizi</a:t>
            </a:r>
          </a:p>
          <a:p>
            <a:pPr marL="155448" indent="-155448">
              <a:lnSpc>
                <a:spcPct val="95000"/>
              </a:lnSpc>
              <a:spcAft>
                <a:spcPts val="300"/>
              </a:spcAft>
              <a:buChar char="•"/>
            </a:pPr>
            <a:r>
              <a:rPr sz="1050" b="1" i="0">
                <a:solidFill>
                  <a:srgbClr val="262626"/>
                </a:solidFill>
                <a:latin typeface="Calibri"/>
              </a:rPr>
              <a:t>Design Usage &amp; Loads girdisi:</a:t>
            </a:r>
            <a:r>
              <a:rPr sz="1050" b="0" i="0">
                <a:solidFill>
                  <a:srgbClr val="262626"/>
                </a:solidFill>
                <a:latin typeface="Calibri"/>
              </a:rPr>
              <a:t> basınç, termal transient, manevra, vibrasyon ve surge / stall spektrumları; FEA sınır şartlarının tek kaynağı</a:t>
            </a:r>
          </a:p>
          <a:p>
            <a:pPr marL="155448" indent="-155448">
              <a:lnSpc>
                <a:spcPct val="95000"/>
              </a:lnSpc>
              <a:spcAft>
                <a:spcPts val="300"/>
              </a:spcAft>
              <a:buChar char="•"/>
            </a:pPr>
            <a:r>
              <a:rPr sz="1050" b="1" i="0">
                <a:solidFill>
                  <a:srgbClr val="262626"/>
                </a:solidFill>
                <a:latin typeface="Calibri"/>
              </a:rPr>
              <a:t>Korelasyon planı analizle birlikte kurgulanmalı:</a:t>
            </a:r>
            <a:r>
              <a:rPr sz="1050" b="0" i="0">
                <a:solidFill>
                  <a:srgbClr val="262626"/>
                </a:solidFill>
                <a:latin typeface="Calibri"/>
              </a:rPr>
              <a:t> strain-gage ve modal test noktaları FEA hot-spot'larından seçilir; ENSIP strain-gage korelasyonunu öneriyor </a:t>
            </a:r>
            <a:r>
              <a:rPr sz="800" b="0" i="0">
                <a:solidFill>
                  <a:srgbClr val="1F6B7A"/>
                </a:solidFill>
                <a:latin typeface="Calibri"/>
                <a:hlinkClick r:id="rId3"/>
              </a:rPr>
              <a:t>[2]</a:t>
            </a:r>
          </a:p>
          <a:p>
            <a:pPr marL="155448" indent="-155448">
              <a:lnSpc>
                <a:spcPct val="95000"/>
              </a:lnSpc>
              <a:spcAft>
                <a:spcPts val="300"/>
              </a:spcAft>
              <a:buChar char="•"/>
            </a:pPr>
            <a:r>
              <a:rPr sz="1050" b="1" i="0">
                <a:solidFill>
                  <a:srgbClr val="262626"/>
                </a:solidFill>
                <a:latin typeface="Calibri"/>
              </a:rPr>
              <a:t>Lokal nonlinear modeller</a:t>
            </a:r>
            <a:r>
              <a:rPr sz="1050" b="0" i="0">
                <a:solidFill>
                  <a:srgbClr val="262626"/>
                </a:solidFill>
                <a:latin typeface="Calibri"/>
              </a:rPr>
              <a:t> (flange / joint, hook, VSV bore) için parça sahiplerinden tolerans, preload ve bushing klerans verisi</a:t>
            </a:r>
          </a:p>
          <a:p>
            <a:pPr marL="155448" indent="-155448">
              <a:lnSpc>
                <a:spcPct val="95000"/>
              </a:lnSpc>
              <a:spcAft>
                <a:spcPts val="300"/>
              </a:spcAft>
              <a:buChar char="•"/>
            </a:pPr>
            <a:r>
              <a:rPr sz="1050" b="1" i="0">
                <a:solidFill>
                  <a:srgbClr val="262626"/>
                </a:solidFill>
                <a:latin typeface="Calibri"/>
              </a:rPr>
              <a:t>Doğrulama yöntemi ataması ve rig önceliği:</a:t>
            </a:r>
            <a:r>
              <a:rPr sz="1050" b="0" i="0">
                <a:solidFill>
                  <a:srgbClr val="262626"/>
                </a:solidFill>
                <a:latin typeface="Calibri"/>
              </a:rPr>
              <a:t> her requirement için analiz / rig / motor testi / muayene; uzun tedarikli rig'ler (VSV triboloji + tahrik, FSV modal / shaker, casing basınç) erken başlatılmalı </a:t>
            </a:r>
            <a:r>
              <a:rPr sz="800" b="0" i="0">
                <a:solidFill>
                  <a:srgbClr val="1F6B7A"/>
                </a:solidFill>
                <a:latin typeface="Calibri"/>
                <a:hlinkClick r:id="rId5"/>
              </a:rPr>
              <a:t>[15]</a:t>
            </a:r>
            <a:r>
              <a:rPr sz="800" b="0" i="0">
                <a:solidFill>
                  <a:srgbClr val="1F6B7A"/>
                </a:solidFill>
                <a:latin typeface="Calibri"/>
                <a:hlinkClick r:id="rId6"/>
              </a:rPr>
              <a:t>[16]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566928"/>
          </a:xfrm>
          <a:prstGeom prst="rect">
            <a:avLst/>
          </a:prstGeom>
          <a:noFill/>
        </p:spPr>
        <p:txBody>
          <a:bodyPr wrap="square" anchor="t" lIns="0" rIns="0" tIns="0" bIns="0">
            <a:spAutoFit/>
          </a:bodyPr>
          <a:lstStyle/>
          <a:p>
            <a:r>
              <a:rPr sz="3000" b="0" i="0">
                <a:solidFill>
                  <a:srgbClr val="262626"/>
                </a:solidFill>
                <a:latin typeface="Calibri"/>
              </a:rPr>
              <a:t>Referanslar</a:t>
            </a:r>
          </a:p>
        </p:txBody>
      </p:sp>
      <p:sp>
        <p:nvSpPr>
          <p:cNvPr id="3" name="TextBox 2"/>
          <p:cNvSpPr txBox="1"/>
          <p:nvPr/>
        </p:nvSpPr>
        <p:spPr>
          <a:xfrm>
            <a:off x="521207" y="804672"/>
            <a:ext cx="11155680" cy="310896"/>
          </a:xfrm>
          <a:prstGeom prst="rect">
            <a:avLst/>
          </a:prstGeom>
          <a:noFill/>
        </p:spPr>
        <p:txBody>
          <a:bodyPr wrap="square" anchor="t" lIns="0" rIns="0" tIns="0" bIns="0">
            <a:spAutoFit/>
          </a:bodyPr>
          <a:lstStyle/>
          <a:p>
            <a:r>
              <a:rPr sz="1400" b="0" i="1">
                <a:solidFill>
                  <a:srgbClr val="2A8C9C"/>
                </a:solidFill>
                <a:latin typeface="Calibri"/>
              </a:rPr>
              <a:t>Yedek sayfa · bağlantılar tıklanabilir · slaytlardaki [n] atıfları bu listeye karşılık gelir</a:t>
            </a:r>
          </a:p>
        </p:txBody>
      </p:sp>
      <p:sp>
        <p:nvSpPr>
          <p:cNvPr id="4" name="TextBox 3"/>
          <p:cNvSpPr txBox="1"/>
          <p:nvPr/>
        </p:nvSpPr>
        <p:spPr>
          <a:xfrm>
            <a:off x="822960" y="6473952"/>
            <a:ext cx="4572000" cy="228600"/>
          </a:xfrm>
          <a:prstGeom prst="rect">
            <a:avLst/>
          </a:prstGeom>
          <a:noFill/>
        </p:spPr>
        <p:txBody>
          <a:bodyPr wrap="square" anchor="t" lIns="0" rIns="0" tIns="0" bIns="0">
            <a:spAutoFit/>
          </a:bodyPr>
          <a:lstStyle/>
          <a:p>
            <a:r>
              <a:rPr sz="900" b="0" i="0">
                <a:solidFill>
                  <a:srgbClr val="262626"/>
                </a:solidFill>
                <a:latin typeface="Calibri"/>
              </a:rPr>
              <a:t>Sınıflandırma: </a:t>
            </a:r>
            <a:r>
              <a:rPr sz="900" b="0" i="0">
                <a:solidFill>
                  <a:srgbClr val="2A8C9C"/>
                </a:solidFill>
                <a:latin typeface="Calibri"/>
              </a:rPr>
              <a:t>Tasnif Dışı</a:t>
            </a:r>
          </a:p>
        </p:txBody>
      </p:sp>
      <p:sp>
        <p:nvSpPr>
          <p:cNvPr id="5" name="TextBox 4"/>
          <p:cNvSpPr txBox="1"/>
          <p:nvPr/>
        </p:nvSpPr>
        <p:spPr>
          <a:xfrm>
            <a:off x="11155680" y="6446520"/>
            <a:ext cx="548640" cy="228600"/>
          </a:xfrm>
          <a:prstGeom prst="rect">
            <a:avLst/>
          </a:prstGeom>
          <a:noFill/>
        </p:spPr>
        <p:txBody>
          <a:bodyPr wrap="square" anchor="t" lIns="0" rIns="0" tIns="0" bIns="0">
            <a:spAutoFit/>
          </a:bodyPr>
          <a:lstStyle/>
          <a:p>
            <a:pPr algn="r"/>
            <a:fld id="{B6F15528-21DE-4FAA-801E-634DDDAF4B2B}" type="slidenum">
              <a:rPr lang="tr-TR" sz="1000">
                <a:solidFill>
                  <a:srgbClr val="2A8C9C"/>
                </a:solidFill>
                <a:latin typeface="Calibri"/>
              </a:rPr>
              <a:t>‹#›</a:t>
            </a:fld>
          </a:p>
        </p:txBody>
      </p:sp>
      <p:sp>
        <p:nvSpPr>
          <p:cNvPr id="6" name="TextBox 5"/>
          <p:cNvSpPr txBox="1"/>
          <p:nvPr/>
        </p:nvSpPr>
        <p:spPr>
          <a:xfrm>
            <a:off x="502920" y="1280160"/>
            <a:ext cx="5440680" cy="4846320"/>
          </a:xfrm>
          <a:prstGeom prst="rect">
            <a:avLst/>
          </a:prstGeom>
          <a:noFill/>
        </p:spPr>
        <p:txBody>
          <a:bodyPr wrap="square" anchor="t" lIns="0" rIns="0" tIns="0" bIns="0">
            <a:spAutoFit/>
          </a:bodyPr>
          <a:lstStyle/>
          <a:p>
            <a:pPr>
              <a:spcAft>
                <a:spcPts val="500"/>
              </a:spcAft>
            </a:pPr>
            <a:r>
              <a:rPr sz="1150" b="1" i="0">
                <a:solidFill>
                  <a:srgbClr val="1F6B7A"/>
                </a:solidFill>
                <a:latin typeface="Calibri"/>
              </a:rPr>
              <a:t>REGÜLASYON VE STANDARTLAR</a:t>
            </a:r>
          </a:p>
          <a:p>
            <a:pPr marL="329184" indent="-329184">
              <a:lnSpc>
                <a:spcPct val="95000"/>
              </a:lnSpc>
              <a:spcAft>
                <a:spcPts val="500"/>
              </a:spcAft>
              <a:tabLst>
                <a:tab pos="329184" algn="l"/>
              </a:tabLst>
            </a:pPr>
            <a:r>
              <a:rPr sz="1050" b="1" i="0">
                <a:solidFill>
                  <a:srgbClr val="262626"/>
                </a:solidFill>
                <a:latin typeface="Calibri"/>
              </a:rPr>
              <a:t>[1]	</a:t>
            </a:r>
            <a:r>
              <a:rPr sz="1050" b="0" i="0">
                <a:solidFill>
                  <a:srgbClr val="1F6B7A"/>
                </a:solidFill>
                <a:latin typeface="Calibri"/>
                <a:hlinkClick r:id="rId2"/>
              </a:rPr>
              <a:t>14 CFR Part 33 – Airworthiness Standards: Aircraft Engines (§33.19, §33.64, §33.70, §33.75, §33.83, §33.87, §33.93)</a:t>
            </a:r>
            <a:br/>
            <a:r>
              <a:rPr sz="900" b="0" i="0">
                <a:solidFill>
                  <a:srgbClr val="595959"/>
                </a:solidFill>
                <a:latin typeface="Calibri"/>
              </a:rPr>
              <a:t>Statik LLP tanımı (§33.70), basınçlı statik parçalar (§33.64), containment (§33.19), vibrasyon survey (§33.83), teardown (§33.93)</a:t>
            </a:r>
          </a:p>
          <a:p>
            <a:pPr marL="329184" indent="-329184">
              <a:lnSpc>
                <a:spcPct val="95000"/>
              </a:lnSpc>
              <a:spcAft>
                <a:spcPts val="500"/>
              </a:spcAft>
              <a:tabLst>
                <a:tab pos="329184" algn="l"/>
              </a:tabLst>
            </a:pPr>
            <a:r>
              <a:rPr sz="1050" b="1" i="0">
                <a:solidFill>
                  <a:srgbClr val="262626"/>
                </a:solidFill>
                <a:latin typeface="Calibri"/>
              </a:rPr>
              <a:t>[2]	</a:t>
            </a:r>
            <a:r>
              <a:rPr sz="1050" b="0" i="0">
                <a:solidFill>
                  <a:srgbClr val="1F6B7A"/>
                </a:solidFill>
                <a:latin typeface="Calibri"/>
                <a:hlinkClick r:id="rId3"/>
              </a:rPr>
              <a:t>MIL-HDBK-1783B – Engine Structural Integrity Program (ENSIP)</a:t>
            </a:r>
            <a:br/>
            <a:r>
              <a:rPr sz="900" b="0" i="0">
                <a:solidFill>
                  <a:srgbClr val="595959"/>
                </a:solidFill>
                <a:latin typeface="Calibri"/>
              </a:rPr>
              <a:t>Ultimate yük ve basınç faktörleri, damage tolerance, strain-gage korelasyonu, stator rezonans saha dersleri</a:t>
            </a:r>
          </a:p>
          <a:p>
            <a:pPr marL="329184" indent="-329184">
              <a:lnSpc>
                <a:spcPct val="95000"/>
              </a:lnSpc>
              <a:spcAft>
                <a:spcPts val="500"/>
              </a:spcAft>
              <a:tabLst>
                <a:tab pos="329184" algn="l"/>
              </a:tabLst>
            </a:pPr>
            <a:r>
              <a:rPr sz="1050" b="1" i="0">
                <a:solidFill>
                  <a:srgbClr val="262626"/>
                </a:solidFill>
                <a:latin typeface="Calibri"/>
              </a:rPr>
              <a:t>[3]	</a:t>
            </a:r>
            <a:r>
              <a:rPr sz="1050" b="0" i="0">
                <a:solidFill>
                  <a:srgbClr val="1F6B7A"/>
                </a:solidFill>
                <a:latin typeface="Calibri"/>
                <a:hlinkClick r:id="rId4"/>
              </a:rPr>
              <a:t>FAA AC 33.70-1 – Guidance Material for Aircraft Engine Life-Limited Parts</a:t>
            </a:r>
            <a:br/>
            <a:r>
              <a:rPr sz="900" b="0" i="0">
                <a:solidFill>
                  <a:srgbClr val="595959"/>
                </a:solidFill>
                <a:latin typeface="Calibri"/>
              </a:rPr>
              <a:t>Statik LLP'ler; çatlak başlama + artık çatlak ilerleme ömrü, muayeneye dayalı ömür yöntemi</a:t>
            </a:r>
          </a:p>
          <a:p>
            <a:pPr marL="329184" indent="-329184">
              <a:lnSpc>
                <a:spcPct val="95000"/>
              </a:lnSpc>
              <a:spcAft>
                <a:spcPts val="500"/>
              </a:spcAft>
              <a:tabLst>
                <a:tab pos="329184" algn="l"/>
              </a:tabLst>
            </a:pPr>
            <a:r>
              <a:rPr sz="1050" b="1" i="0">
                <a:solidFill>
                  <a:srgbClr val="262626"/>
                </a:solidFill>
                <a:latin typeface="Calibri"/>
              </a:rPr>
              <a:t>[4]	</a:t>
            </a:r>
            <a:r>
              <a:rPr sz="1050" b="0" i="0">
                <a:solidFill>
                  <a:srgbClr val="1F6B7A"/>
                </a:solidFill>
                <a:latin typeface="Calibri"/>
                <a:hlinkClick r:id="rId5"/>
              </a:rPr>
              <a:t>FAA AC 33.83-2B – Turbine Engine Vibration Test</a:t>
            </a:r>
            <a:br/>
            <a:r>
              <a:rPr sz="900" b="0" i="0">
                <a:solidFill>
                  <a:srgbClr val="595959"/>
                </a:solidFill>
                <a:latin typeface="Calibri"/>
              </a:rPr>
              <a:t>Vane'ler dahil vibrasyon survey; VSV schedule, bleed ve inlet distortion etkisi</a:t>
            </a:r>
          </a:p>
          <a:p>
            <a:pPr marL="329184" indent="-329184">
              <a:lnSpc>
                <a:spcPct val="95000"/>
              </a:lnSpc>
              <a:spcAft>
                <a:spcPts val="500"/>
              </a:spcAft>
              <a:tabLst>
                <a:tab pos="329184" algn="l"/>
              </a:tabLst>
            </a:pPr>
            <a:r>
              <a:rPr sz="1050" b="1" i="0">
                <a:solidFill>
                  <a:srgbClr val="262626"/>
                </a:solidFill>
                <a:latin typeface="Calibri"/>
              </a:rPr>
              <a:t>[5]	</a:t>
            </a:r>
            <a:r>
              <a:rPr sz="1050" b="0" i="0">
                <a:solidFill>
                  <a:srgbClr val="1F6B7A"/>
                </a:solidFill>
                <a:latin typeface="Calibri"/>
                <a:hlinkClick r:id="rId6"/>
              </a:rPr>
              <a:t>FAA AC 33.75-1A – Safety Analysis</a:t>
            </a:r>
            <a:br/>
            <a:r>
              <a:rPr sz="900" b="0" i="0">
                <a:solidFill>
                  <a:srgbClr val="595959"/>
                </a:solidFill>
                <a:latin typeface="Calibri"/>
              </a:rPr>
              <a:t>Arıza ciddiyeti, hazardous parça tanımı, bakım aksiyonlarına bağımlılık</a:t>
            </a:r>
          </a:p>
          <a:p>
            <a:pPr marL="329184" indent="-329184">
              <a:lnSpc>
                <a:spcPct val="95000"/>
              </a:lnSpc>
              <a:spcAft>
                <a:spcPts val="500"/>
              </a:spcAft>
              <a:tabLst>
                <a:tab pos="329184" algn="l"/>
              </a:tabLst>
            </a:pPr>
            <a:r>
              <a:rPr sz="1050" b="1" i="0">
                <a:solidFill>
                  <a:srgbClr val="262626"/>
                </a:solidFill>
                <a:latin typeface="Calibri"/>
              </a:rPr>
              <a:t>[6]	</a:t>
            </a:r>
            <a:r>
              <a:rPr sz="1050" b="0" i="0">
                <a:solidFill>
                  <a:srgbClr val="1F6B7A"/>
                </a:solidFill>
                <a:latin typeface="Calibri"/>
                <a:hlinkClick r:id="rId7"/>
              </a:rPr>
              <a:t>EASA CS-E – Engines (güncel: Amendment 8)</a:t>
            </a:r>
            <a:br/>
            <a:r>
              <a:rPr sz="900" b="0" i="0">
                <a:solidFill>
                  <a:srgbClr val="595959"/>
                </a:solidFill>
                <a:latin typeface="Calibri"/>
              </a:rPr>
              <a:t>Avrupa sivil kıyas noktası; kritik statik basınçlı parçalar</a:t>
            </a:r>
          </a:p>
          <a:p>
            <a:pPr>
              <a:spcBef>
                <a:spcPts val="1000"/>
              </a:spcBef>
              <a:spcAft>
                <a:spcPts val="500"/>
              </a:spcAft>
            </a:pPr>
            <a:r>
              <a:rPr sz="1150" b="1" i="0">
                <a:solidFill>
                  <a:srgbClr val="1F6B7A"/>
                </a:solidFill>
                <a:latin typeface="Calibri"/>
              </a:rPr>
              <a:t>AKADEMİK VE PROGRAM ÇALIŞMALARI</a:t>
            </a:r>
          </a:p>
          <a:p>
            <a:pPr marL="329184" indent="-329184">
              <a:lnSpc>
                <a:spcPct val="95000"/>
              </a:lnSpc>
              <a:spcAft>
                <a:spcPts val="500"/>
              </a:spcAft>
              <a:tabLst>
                <a:tab pos="329184" algn="l"/>
              </a:tabLst>
            </a:pPr>
            <a:r>
              <a:rPr sz="1050" b="1" i="0">
                <a:solidFill>
                  <a:srgbClr val="262626"/>
                </a:solidFill>
                <a:latin typeface="Calibri"/>
              </a:rPr>
              <a:t>[15]	</a:t>
            </a:r>
            <a:r>
              <a:rPr sz="1050" b="0" i="0">
                <a:solidFill>
                  <a:srgbClr val="1F6B7A"/>
                </a:solidFill>
                <a:latin typeface="Calibri"/>
                <a:hlinkClick r:id="rId8"/>
              </a:rPr>
              <a:t>Liu vd., 2025 – VSV bushing sürtünme ve aşınmasının deneysel değerlendirmesi (Applied Sciences)</a:t>
            </a:r>
            <a:br/>
            <a:r>
              <a:rPr sz="900" b="0" i="0">
                <a:solidFill>
                  <a:srgbClr val="595959"/>
                </a:solidFill>
                <a:latin typeface="Calibri"/>
              </a:rPr>
              <a:t>Motor-temsilî sıcaklık ve yük altında bushing triboloji rig'i</a:t>
            </a:r>
          </a:p>
          <a:p>
            <a:pPr marL="329184" indent="-329184">
              <a:lnSpc>
                <a:spcPct val="95000"/>
              </a:lnSpc>
              <a:spcAft>
                <a:spcPts val="500"/>
              </a:spcAft>
              <a:tabLst>
                <a:tab pos="329184" algn="l"/>
              </a:tabLst>
            </a:pPr>
            <a:r>
              <a:rPr sz="1050" b="1" i="0">
                <a:solidFill>
                  <a:srgbClr val="262626"/>
                </a:solidFill>
                <a:latin typeface="Calibri"/>
              </a:rPr>
              <a:t>[16]	</a:t>
            </a:r>
            <a:r>
              <a:rPr sz="1050" b="0" i="0">
                <a:solidFill>
                  <a:srgbClr val="1F6B7A"/>
                </a:solidFill>
                <a:latin typeface="Calibri"/>
                <a:hlinkClick r:id="rId9"/>
              </a:rPr>
              <a:t>Wollmann vd. – VSV plain-bearing bush: friction, wear &amp; damage (Tribology International)</a:t>
            </a:r>
            <a:br/>
            <a:r>
              <a:rPr sz="900" b="0" i="0">
                <a:solidFill>
                  <a:srgbClr val="595959"/>
                </a:solidFill>
                <a:latin typeface="Calibri"/>
              </a:rPr>
              <a:t>VSV bushing sürtünme / aşınma hasar mekanizmaları; rig tabanlı kalifikasyon</a:t>
            </a:r>
          </a:p>
          <a:p>
            <a:pPr marL="329184" indent="-329184">
              <a:lnSpc>
                <a:spcPct val="95000"/>
              </a:lnSpc>
              <a:spcAft>
                <a:spcPts val="500"/>
              </a:spcAft>
              <a:tabLst>
                <a:tab pos="329184" algn="l"/>
              </a:tabLst>
            </a:pPr>
            <a:r>
              <a:rPr sz="1050" b="1" i="0">
                <a:solidFill>
                  <a:srgbClr val="262626"/>
                </a:solidFill>
                <a:latin typeface="Calibri"/>
              </a:rPr>
              <a:t>[17]	</a:t>
            </a:r>
            <a:r>
              <a:rPr sz="1050" b="0" i="0">
                <a:solidFill>
                  <a:srgbClr val="1F6B7A"/>
                </a:solidFill>
                <a:latin typeface="Calibri"/>
                <a:hlinkClick r:id="rId10"/>
              </a:rPr>
              <a:t>RAND N-3618 – The Development of the F100-PW-220 and F110-GE-100 Engines</a:t>
            </a:r>
            <a:br/>
            <a:r>
              <a:rPr sz="900" b="0" i="0">
                <a:solidFill>
                  <a:srgbClr val="595959"/>
                </a:solidFill>
                <a:latin typeface="Calibri"/>
              </a:rPr>
              <a:t>F100 / F110 geliştirme programlarında risk yönetimi dersleri</a:t>
            </a:r>
          </a:p>
        </p:txBody>
      </p:sp>
      <p:cxnSp>
        <p:nvCxnSpPr>
          <p:cNvPr id="7" name="Connector 6"/>
          <p:cNvCxnSpPr/>
          <p:nvPr/>
        </p:nvCxnSpPr>
        <p:spPr>
          <a:xfrm>
            <a:off x="6263640" y="1188720"/>
            <a:ext cx="0" cy="4663440"/>
          </a:xfrm>
          <a:prstGeom prst="line">
            <a:avLst/>
          </a:prstGeom>
          <a:ln w="38100">
            <a:solidFill>
              <a:srgbClr val="1F6B7A"/>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37960" y="1280160"/>
            <a:ext cx="5212080" cy="4846320"/>
          </a:xfrm>
          <a:prstGeom prst="rect">
            <a:avLst/>
          </a:prstGeom>
          <a:noFill/>
        </p:spPr>
        <p:txBody>
          <a:bodyPr wrap="square" anchor="t" lIns="0" rIns="0" tIns="0" bIns="0">
            <a:spAutoFit/>
          </a:bodyPr>
          <a:lstStyle/>
          <a:p>
            <a:pPr>
              <a:spcAft>
                <a:spcPts val="500"/>
              </a:spcAft>
            </a:pPr>
            <a:r>
              <a:rPr sz="1150" b="1" i="0">
                <a:solidFill>
                  <a:srgbClr val="1F6B7A"/>
                </a:solidFill>
                <a:latin typeface="Calibri"/>
              </a:rPr>
              <a:t>SAHA VAKALARI, AD / NPRM VE KAZA RAPORLARI</a:t>
            </a:r>
          </a:p>
          <a:p>
            <a:pPr marL="329184" indent="-329184">
              <a:lnSpc>
                <a:spcPct val="95000"/>
              </a:lnSpc>
              <a:spcAft>
                <a:spcPts val="500"/>
              </a:spcAft>
              <a:tabLst>
                <a:tab pos="329184" algn="l"/>
              </a:tabLst>
            </a:pPr>
            <a:r>
              <a:rPr sz="1050" b="1" i="0">
                <a:solidFill>
                  <a:srgbClr val="262626"/>
                </a:solidFill>
                <a:latin typeface="Calibri"/>
              </a:rPr>
              <a:t>[7]	</a:t>
            </a:r>
            <a:r>
              <a:rPr sz="1050" b="0" i="0">
                <a:solidFill>
                  <a:srgbClr val="1F6B7A"/>
                </a:solidFill>
                <a:latin typeface="Calibri"/>
                <a:hlinkClick r:id="rId11"/>
              </a:rPr>
              <a:t>USAF Flying Safety Magazine, Şub–Mar 1996 – F110-100 Class A olayı (VSV sistemi)</a:t>
            </a:r>
            <a:br/>
            <a:r>
              <a:rPr sz="900" b="0" i="0">
                <a:solidFill>
                  <a:srgbClr val="595959"/>
                </a:solidFill>
                <a:latin typeface="Calibri"/>
              </a:rPr>
              <a:t>İkincil görünen statik / aktüasyon sisteminin Class-A seviyesinde sürücü olabildiğinin kanıtı</a:t>
            </a:r>
          </a:p>
          <a:p>
            <a:pPr marL="329184" indent="-329184">
              <a:lnSpc>
                <a:spcPct val="95000"/>
              </a:lnSpc>
              <a:spcAft>
                <a:spcPts val="500"/>
              </a:spcAft>
              <a:tabLst>
                <a:tab pos="329184" algn="l"/>
              </a:tabLst>
            </a:pPr>
            <a:r>
              <a:rPr sz="1050" b="1" i="0">
                <a:solidFill>
                  <a:srgbClr val="262626"/>
                </a:solidFill>
                <a:latin typeface="Calibri"/>
              </a:rPr>
              <a:t>[8]	</a:t>
            </a:r>
            <a:r>
              <a:rPr sz="1050" b="0" i="0">
                <a:solidFill>
                  <a:srgbClr val="1F6B7A"/>
                </a:solidFill>
                <a:latin typeface="Calibri"/>
                <a:hlinkClick r:id="rId12"/>
              </a:rPr>
              <a:t>USAF Flying Safety Magazine, Mar 2003 – VSV misassembly → compressor blade HCF</a:t>
            </a:r>
            <a:br/>
            <a:r>
              <a:rPr sz="900" b="0" i="0">
                <a:solidFill>
                  <a:srgbClr val="595959"/>
                </a:solidFill>
                <a:latin typeface="Calibri"/>
              </a:rPr>
              <a:t>Bakım / montaj hatasının yapısal substantiation kapsamına girmesi gerektiğini gösterir</a:t>
            </a:r>
          </a:p>
          <a:p>
            <a:pPr marL="329184" indent="-329184">
              <a:lnSpc>
                <a:spcPct val="95000"/>
              </a:lnSpc>
              <a:spcAft>
                <a:spcPts val="500"/>
              </a:spcAft>
              <a:tabLst>
                <a:tab pos="329184" algn="l"/>
              </a:tabLst>
            </a:pPr>
            <a:r>
              <a:rPr sz="1050" b="1" i="0">
                <a:solidFill>
                  <a:srgbClr val="262626"/>
                </a:solidFill>
                <a:latin typeface="Calibri"/>
              </a:rPr>
              <a:t>[9]	</a:t>
            </a:r>
            <a:r>
              <a:rPr sz="1050" b="0" i="0">
                <a:solidFill>
                  <a:srgbClr val="1F6B7A"/>
                </a:solidFill>
                <a:latin typeface="Calibri"/>
                <a:hlinkClick r:id="rId13"/>
              </a:rPr>
              <a:t>FAA AD 2017-14-08 – CFM56-3 HPC VSV actuation (çift motor LOTC)</a:t>
            </a:r>
            <a:br/>
            <a:r>
              <a:rPr sz="900" b="0" i="0">
                <a:solidFill>
                  <a:srgbClr val="595959"/>
                </a:solidFill>
                <a:latin typeface="Calibri"/>
              </a:rPr>
              <a:t>VSV bore korozyonu → kısıtlı hareket → çift motor LOTC; düzeltme: bore reaming + korozyon koruması</a:t>
            </a:r>
          </a:p>
          <a:p>
            <a:pPr marL="329184" indent="-329184">
              <a:lnSpc>
                <a:spcPct val="95000"/>
              </a:lnSpc>
              <a:spcAft>
                <a:spcPts val="500"/>
              </a:spcAft>
              <a:tabLst>
                <a:tab pos="329184" algn="l"/>
              </a:tabLst>
            </a:pPr>
            <a:r>
              <a:rPr sz="1050" b="1" i="0">
                <a:solidFill>
                  <a:srgbClr val="262626"/>
                </a:solidFill>
                <a:latin typeface="Calibri"/>
              </a:rPr>
              <a:t>[10]	</a:t>
            </a:r>
            <a:r>
              <a:rPr sz="1050" b="0" i="0">
                <a:solidFill>
                  <a:srgbClr val="1F6B7A"/>
                </a:solidFill>
                <a:latin typeface="Calibri"/>
                <a:hlinkClick r:id="rId14"/>
              </a:rPr>
              <a:t>FAA NPRM 2026-19094 (17.09.2026) – PW1500G/PW1900G HPC VSV bushing aşınması (öneri aşamasında)</a:t>
            </a:r>
            <a:br/>
            <a:r>
              <a:rPr sz="900" b="0" i="0">
                <a:solidFill>
                  <a:srgbClr val="595959"/>
                </a:solidFill>
                <a:latin typeface="Calibri"/>
              </a:rPr>
              <a:t>Bushing aşınması → locating ring – rotor rim teması; tekrarlı boroskop; henüz nihai AD değil</a:t>
            </a:r>
          </a:p>
          <a:p>
            <a:pPr marL="329184" indent="-329184">
              <a:lnSpc>
                <a:spcPct val="95000"/>
              </a:lnSpc>
              <a:spcAft>
                <a:spcPts val="500"/>
              </a:spcAft>
              <a:tabLst>
                <a:tab pos="329184" algn="l"/>
              </a:tabLst>
            </a:pPr>
            <a:r>
              <a:rPr sz="1050" b="1" i="0">
                <a:solidFill>
                  <a:srgbClr val="262626"/>
                </a:solidFill>
                <a:latin typeface="Calibri"/>
              </a:rPr>
              <a:t>[11]	</a:t>
            </a:r>
            <a:r>
              <a:rPr sz="1050" b="0" i="0">
                <a:solidFill>
                  <a:srgbClr val="1F6B7A"/>
                </a:solidFill>
                <a:latin typeface="Calibri"/>
                <a:hlinkClick r:id="rId15"/>
              </a:rPr>
              <a:t>USAF AIB Raporu – F-16CM T/N 90-0771, 21.03.2012 (F110-GE-100, stage 5 stator sektörü)</a:t>
            </a:r>
            <a:br/>
            <a:r>
              <a:rPr sz="900" b="0" i="0">
                <a:solidFill>
                  <a:srgbClr val="595959"/>
                </a:solidFill>
                <a:latin typeface="Calibri"/>
              </a:rPr>
              <a:t>Hatalı takılan stage 5 stator sektörü → blade HCF → motor ve uçak kaybı</a:t>
            </a:r>
          </a:p>
          <a:p>
            <a:pPr marL="329184" indent="-329184">
              <a:lnSpc>
                <a:spcPct val="95000"/>
              </a:lnSpc>
              <a:spcAft>
                <a:spcPts val="500"/>
              </a:spcAft>
              <a:tabLst>
                <a:tab pos="329184" algn="l"/>
              </a:tabLst>
            </a:pPr>
            <a:r>
              <a:rPr sz="1050" b="1" i="0">
                <a:solidFill>
                  <a:srgbClr val="262626"/>
                </a:solidFill>
                <a:latin typeface="Calibri"/>
              </a:rPr>
              <a:t>[12]	</a:t>
            </a:r>
            <a:r>
              <a:rPr sz="1050" b="0" i="0">
                <a:solidFill>
                  <a:srgbClr val="1F6B7A"/>
                </a:solidFill>
                <a:latin typeface="Calibri"/>
                <a:hlinkClick r:id="rId16"/>
              </a:rPr>
              <a:t>Aerossurance / NTSB – B737-900 N30401, CFM56-7B HPC titanium fire, VSV montaj hatası (21.02.2019)</a:t>
            </a:r>
            <a:br/>
            <a:r>
              <a:rPr sz="900" b="0" i="0">
                <a:solidFill>
                  <a:srgbClr val="595959"/>
                </a:solidFill>
                <a:latin typeface="Calibri"/>
              </a:rPr>
              <a:t>Eksik VSV somun / pul → ~31° off-schedule vane → titanium fire, case ~%60 burn-through</a:t>
            </a:r>
          </a:p>
          <a:p>
            <a:pPr marL="329184" indent="-329184">
              <a:lnSpc>
                <a:spcPct val="95000"/>
              </a:lnSpc>
              <a:spcAft>
                <a:spcPts val="500"/>
              </a:spcAft>
              <a:tabLst>
                <a:tab pos="329184" algn="l"/>
              </a:tabLst>
            </a:pPr>
            <a:r>
              <a:rPr sz="1050" b="1" i="0">
                <a:solidFill>
                  <a:srgbClr val="262626"/>
                </a:solidFill>
                <a:latin typeface="Calibri"/>
              </a:rPr>
              <a:t>[13]	</a:t>
            </a:r>
            <a:r>
              <a:rPr sz="1050" b="0" i="0">
                <a:solidFill>
                  <a:srgbClr val="1F6B7A"/>
                </a:solidFill>
                <a:latin typeface="Calibri"/>
                <a:hlinkClick r:id="rId17"/>
              </a:rPr>
              <a:t>USAF AIB Raporu – F-15E T/N 90-0254, 03.05.2012 (motor içi titanium fire)</a:t>
            </a:r>
            <a:br/>
            <a:r>
              <a:rPr sz="900" b="0" i="0">
                <a:solidFill>
                  <a:srgbClr val="595959"/>
                </a:solidFill>
                <a:latin typeface="Calibri"/>
              </a:rPr>
              <a:t>Motor içi titanium fire → kritik hidrolik kaybı → uçak kaybı</a:t>
            </a:r>
          </a:p>
          <a:p>
            <a:pPr marL="329184" indent="-329184">
              <a:lnSpc>
                <a:spcPct val="95000"/>
              </a:lnSpc>
              <a:spcAft>
                <a:spcPts val="500"/>
              </a:spcAft>
              <a:tabLst>
                <a:tab pos="329184" algn="l"/>
              </a:tabLst>
            </a:pPr>
            <a:r>
              <a:rPr sz="1050" b="1" i="0">
                <a:solidFill>
                  <a:srgbClr val="262626"/>
                </a:solidFill>
                <a:latin typeface="Calibri"/>
              </a:rPr>
              <a:t>[14]	</a:t>
            </a:r>
            <a:r>
              <a:rPr sz="1050" b="0" i="0">
                <a:solidFill>
                  <a:srgbClr val="1F6B7A"/>
                </a:solidFill>
                <a:latin typeface="Calibri"/>
                <a:hlinkClick r:id="rId18"/>
              </a:rPr>
              <a:t>CFM56-5B SB 72-0921 – Stage 2/3 VSV shroud, honeycomb seal ve anti-rotation pin boroskop muayenesi</a:t>
            </a:r>
            <a:br/>
            <a:r>
              <a:rPr sz="900" b="0" i="0">
                <a:solidFill>
                  <a:srgbClr val="595959"/>
                </a:solidFill>
                <a:latin typeface="Calibri"/>
              </a:rPr>
              <a:t>Pin aşınması → honeycomb seal dönmesi → bushing liberation (bağlantı üçüncü taraf kopyadır)</a:t>
            </a:r>
          </a:p>
        </p:txBody>
      </p:sp>
      <p:sp>
        <p:nvSpPr>
          <p:cNvPr id="9" name="TextBox 8"/>
          <p:cNvSpPr txBox="1"/>
          <p:nvPr/>
        </p:nvSpPr>
        <p:spPr>
          <a:xfrm>
            <a:off x="6537960" y="4992624"/>
            <a:ext cx="5212080" cy="822960"/>
          </a:xfrm>
          <a:prstGeom prst="rect">
            <a:avLst/>
          </a:prstGeom>
          <a:noFill/>
        </p:spPr>
        <p:txBody>
          <a:bodyPr wrap="square" anchor="t" lIns="0" rIns="0" tIns="0" bIns="0">
            <a:spAutoFit/>
          </a:bodyPr>
          <a:lstStyle/>
          <a:p>
            <a:pPr>
              <a:spcAft>
                <a:spcPts val="400"/>
              </a:spcAft>
            </a:pPr>
            <a:r>
              <a:rPr sz="1150" b="1" i="0">
                <a:solidFill>
                  <a:srgbClr val="1F6B7A"/>
                </a:solidFill>
                <a:latin typeface="Calibri"/>
              </a:rPr>
              <a:t>KISALTMALAR</a:t>
            </a:r>
          </a:p>
          <a:p>
            <a:pPr>
              <a:lnSpc>
                <a:spcPct val="95000"/>
              </a:lnSpc>
            </a:pPr>
            <a:r>
              <a:rPr sz="900" b="1" i="0">
                <a:solidFill>
                  <a:srgbClr val="595959"/>
                </a:solidFill>
                <a:latin typeface="Calibri"/>
              </a:rPr>
              <a:t>LLP</a:t>
            </a:r>
            <a:r>
              <a:rPr sz="900" b="0" i="0">
                <a:solidFill>
                  <a:srgbClr val="595959"/>
                </a:solidFill>
                <a:latin typeface="Calibri"/>
              </a:rPr>
              <a:t> life-limited part · </a:t>
            </a:r>
            <a:r>
              <a:rPr sz="900" b="1" i="0">
                <a:solidFill>
                  <a:srgbClr val="595959"/>
                </a:solidFill>
                <a:latin typeface="Calibri"/>
              </a:rPr>
              <a:t>ENSIP</a:t>
            </a:r>
            <a:r>
              <a:rPr sz="900" b="0" i="0">
                <a:solidFill>
                  <a:srgbClr val="595959"/>
                </a:solidFill>
                <a:latin typeface="Calibri"/>
              </a:rPr>
              <a:t> Engine Structural Integrity Program · </a:t>
            </a:r>
            <a:r>
              <a:rPr sz="900" b="1" i="0">
                <a:solidFill>
                  <a:srgbClr val="595959"/>
                </a:solidFill>
                <a:latin typeface="Calibri"/>
              </a:rPr>
              <a:t>LCF / HCF / TMF</a:t>
            </a:r>
            <a:r>
              <a:rPr sz="900" b="0" i="0">
                <a:solidFill>
                  <a:srgbClr val="595959"/>
                </a:solidFill>
                <a:latin typeface="Calibri"/>
              </a:rPr>
              <a:t> low-cycle / high-cycle / thermo-mechanical fatigue · </a:t>
            </a:r>
            <a:r>
              <a:rPr sz="900" b="1" i="0">
                <a:solidFill>
                  <a:srgbClr val="595959"/>
                </a:solidFill>
                <a:latin typeface="Calibri"/>
              </a:rPr>
              <a:t>BPF</a:t>
            </a:r>
            <a:r>
              <a:rPr sz="900" b="0" i="0">
                <a:solidFill>
                  <a:srgbClr val="595959"/>
                </a:solidFill>
                <a:latin typeface="Calibri"/>
              </a:rPr>
              <a:t> blade passing frequency · </a:t>
            </a:r>
            <a:r>
              <a:rPr sz="900" b="1" i="0">
                <a:solidFill>
                  <a:srgbClr val="595959"/>
                </a:solidFill>
                <a:latin typeface="Calibri"/>
              </a:rPr>
              <a:t>LOTC</a:t>
            </a:r>
            <a:r>
              <a:rPr sz="900" b="0" i="0">
                <a:solidFill>
                  <a:srgbClr val="595959"/>
                </a:solidFill>
                <a:latin typeface="Calibri"/>
              </a:rPr>
              <a:t> loss of thrust control · </a:t>
            </a:r>
            <a:r>
              <a:rPr sz="900" b="1" i="0">
                <a:solidFill>
                  <a:srgbClr val="595959"/>
                </a:solidFill>
                <a:latin typeface="Calibri"/>
              </a:rPr>
              <a:t>DOD</a:t>
            </a:r>
            <a:r>
              <a:rPr sz="900" b="0" i="0">
                <a:solidFill>
                  <a:srgbClr val="595959"/>
                </a:solidFill>
                <a:latin typeface="Calibri"/>
              </a:rPr>
              <a:t> domestic object damage · </a:t>
            </a:r>
            <a:r>
              <a:rPr sz="900" b="1" i="0">
                <a:solidFill>
                  <a:srgbClr val="595959"/>
                </a:solidFill>
                <a:latin typeface="Calibri"/>
              </a:rPr>
              <a:t>NDI / POD</a:t>
            </a:r>
            <a:r>
              <a:rPr sz="900" b="0" i="0">
                <a:solidFill>
                  <a:srgbClr val="595959"/>
                </a:solidFill>
                <a:latin typeface="Calibri"/>
              </a:rPr>
              <a:t> non-destructive inspection / probability of detection · </a:t>
            </a:r>
            <a:r>
              <a:rPr sz="900" b="1" i="0">
                <a:solidFill>
                  <a:srgbClr val="595959"/>
                </a:solidFill>
                <a:latin typeface="Calibri"/>
              </a:rPr>
              <a:t>FAI</a:t>
            </a:r>
            <a:r>
              <a:rPr sz="900" b="0" i="0">
                <a:solidFill>
                  <a:srgbClr val="595959"/>
                </a:solidFill>
                <a:latin typeface="Calibri"/>
              </a:rPr>
              <a:t> first article inspection · </a:t>
            </a:r>
            <a:r>
              <a:rPr sz="900" b="1" i="0">
                <a:solidFill>
                  <a:srgbClr val="595959"/>
                </a:solidFill>
                <a:latin typeface="Calibri"/>
              </a:rPr>
              <a:t>CDC</a:t>
            </a:r>
            <a:r>
              <a:rPr sz="900" b="0" i="0">
                <a:solidFill>
                  <a:srgbClr val="595959"/>
                </a:solidFill>
                <a:latin typeface="Calibri"/>
              </a:rPr>
              <a:t> compressor discharge casing · </a:t>
            </a:r>
            <a:r>
              <a:rPr sz="900" b="1" i="0">
                <a:solidFill>
                  <a:srgbClr val="595959"/>
                </a:solidFill>
                <a:latin typeface="Calibri"/>
              </a:rPr>
              <a:t>VSV / FSV</a:t>
            </a:r>
            <a:r>
              <a:rPr sz="900" b="0" i="0">
                <a:solidFill>
                  <a:srgbClr val="595959"/>
                </a:solidFill>
                <a:latin typeface="Calibri"/>
              </a:rPr>
              <a:t> variable / fixed stator vane · </a:t>
            </a:r>
            <a:r>
              <a:rPr sz="900" b="1" i="0">
                <a:solidFill>
                  <a:srgbClr val="595959"/>
                </a:solidFill>
                <a:latin typeface="Calibri"/>
              </a:rPr>
              <a:t>AD / NPRM</a:t>
            </a:r>
            <a:r>
              <a:rPr sz="900" b="0" i="0">
                <a:solidFill>
                  <a:srgbClr val="595959"/>
                </a:solidFill>
                <a:latin typeface="Calibri"/>
              </a:rPr>
              <a:t> airworthiness directive / proposed rule · </a:t>
            </a:r>
            <a:r>
              <a:rPr sz="900" b="1" i="0">
                <a:solidFill>
                  <a:srgbClr val="595959"/>
                </a:solidFill>
                <a:latin typeface="Calibri"/>
              </a:rPr>
              <a:t>SB</a:t>
            </a:r>
            <a:r>
              <a:rPr sz="900" b="0" i="0">
                <a:solidFill>
                  <a:srgbClr val="595959"/>
                </a:solidFill>
                <a:latin typeface="Calibri"/>
              </a:rPr>
              <a:t> service bulletin</a:t>
            </a:r>
          </a:p>
        </p:txBody>
      </p:sp>
      <p:sp>
        <p:nvSpPr>
          <p:cNvPr id="10" name="TextBox 9"/>
          <p:cNvSpPr txBox="1"/>
          <p:nvPr/>
        </p:nvSpPr>
        <p:spPr>
          <a:xfrm>
            <a:off x="502920" y="6053328"/>
            <a:ext cx="11201400" cy="365760"/>
          </a:xfrm>
          <a:prstGeom prst="rect">
            <a:avLst/>
          </a:prstGeom>
          <a:noFill/>
        </p:spPr>
        <p:txBody>
          <a:bodyPr wrap="square" anchor="t" lIns="0" rIns="0" tIns="0" bIns="0">
            <a:spAutoFit/>
          </a:bodyPr>
          <a:lstStyle/>
          <a:p>
            <a:pPr>
              <a:lnSpc>
                <a:spcPct val="92000"/>
              </a:lnSpc>
            </a:pPr>
            <a:r>
              <a:rPr sz="900" b="1" i="1">
                <a:solidFill>
                  <a:srgbClr val="595959"/>
                </a:solidFill>
                <a:latin typeface="Calibri"/>
              </a:rPr>
              <a:t>Kaynak raporlar:</a:t>
            </a:r>
            <a:r>
              <a:rPr sz="900" b="0" i="1">
                <a:solidFill>
                  <a:srgbClr val="595959"/>
                </a:solidFill>
                <a:latin typeface="Calibri"/>
              </a:rPr>
              <a:t> (A) Static Compressor Parts Requiring Enhanced Substantiation in a High-Performance Military-Style Turbofan · (B) Kompresör Statik Bileşenlerinin Kritiklik Analizi ve ENSIP Doğrulama Programı. Bulgular F110 / F100 sınıfı motorlar ve sivil analoglar üzerinden derlenmiştir; programa özgü değerler içermez.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1F6B7A"/>
      </a:hlink>
      <a:folHlink>
        <a:srgbClr val="1F6B7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1F6B7A"/>
      </a:hlink>
      <a:folHlink>
        <a:srgbClr val="1F6B7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
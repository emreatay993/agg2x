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Tahmini Etki Skoru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Eğitim &amp; Workshop</c:v>
                  </c:pt>
                  <c:pt idx="1">
                    <c:v>Hızlı Pilot İşler</c:v>
                  </c:pt>
                  <c:pt idx="2">
                    <c:v>RAG Sistemi</c:v>
                  </c:pt>
                  <c:pt idx="3">
                    <c:v>Outlook Asistanı</c:v>
                  </c:pt>
                  <c:pt idx="4">
                    <c:v>FEA/CFD Akışları</c:v>
                  </c:pt>
                  <c:pt idx="5">
                    <c:v>Doküman Sınıf.</c:v>
                  </c:pt>
                  <c:pt idx="6">
                    <c:v>TC Copilot</c:v>
                  </c:pt>
                  <c:pt idx="7">
                    <c:v>Ajanlar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8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 | DAHILI ÖNERI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Zeka Stratejisi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LLM altyapısı üzerinden kısa, orta ve uzun vadeli yol haritası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760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5742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| Cloud bağımlılığı yok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5742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Emre  |  AR-GE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Sunumda neler var?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Durum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Altyapı, modeller, kullanım kültürü değerlendirmesi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2560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Vade (0–3 ay)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genişletme, eğitim, hızlı kazanım pilotları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Vade (3–9 ay)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Outlook entegrasyonu, FEA/CFD asistanları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 (9+ ay)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 Copilot, ajanlar, fine-tuning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0876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Riskler &amp; İlk Adım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Hallucination, IP, beklenti yönetimi + öneri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Mevcut Altyapı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25780" y="1554480"/>
            <a:ext cx="2606040" cy="21031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525780" y="155448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288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+ GPU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100" y="27614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Mevcut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0010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içi altyapı, dış bağımlılık yok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0420" y="1554480"/>
            <a:ext cx="2606040" cy="21031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3360420" y="155448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8288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474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Modeller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34740" y="27614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adet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63474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Coder 80B + gpt-oss-120b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95060" y="1554480"/>
            <a:ext cx="2606040" cy="21031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7" name="Shape 13"/>
          <p:cNvSpPr/>
          <p:nvPr/>
        </p:nvSpPr>
        <p:spPr>
          <a:xfrm>
            <a:off x="6195060" y="155448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8288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938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69380" y="27614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~120 t/s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46938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kullanıcı, 1000 kelime ≈ 10-12 sn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29700" y="1554480"/>
            <a:ext cx="2606040" cy="21031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3" name="Shape 18"/>
          <p:cNvSpPr/>
          <p:nvPr/>
        </p:nvSpPr>
        <p:spPr>
          <a:xfrm>
            <a:off x="9029700" y="155448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182880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0402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04020" y="27614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Yüzlerce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30402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 + üretim + test ekipleri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9768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Asıl Darboğaz: Eş Zamanlı Kullanıcı</a:t>
            </a:r>
            <a:endParaRPr lang="en-US" sz="2200" dirty="0"/>
          </a:p>
        </p:txBody>
      </p:sp>
      <p:sp>
        <p:nvSpPr>
          <p:cNvPr id="31" name="Text 24"/>
          <p:cNvSpPr/>
          <p:nvPr/>
        </p:nvSpPr>
        <p:spPr>
          <a:xfrm>
            <a:off x="1463040" y="4800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kullanıcı için ~10 sn iyi rakam, ancak 20-30 eş zamanlı kullanıcıda bu süre 5-10 sn/cevap seviyesine düşer ve sonrası kuyruğa girer. Yüzlerce kullanıcı senaryosunda dedike GPU dilimi ve kapasite planlaması zorunlu.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Şu an potansiyelin %10'u bile değil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5212080" cy="47548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21208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Web chat üzerinden basit kod üretimi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Doküman çevirisi (TR ↔ EN)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Kısa metin özetleme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Tek kullanıcılı, ad-hoc sorular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5212080" cy="47548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554480"/>
            <a:ext cx="52120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YARIN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5146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32320" y="2423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dokümanlarımız üzerinde RAG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154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+ ortak alan entegrasyonu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7947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FEA/CFD log ve rapor analizi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 trace link otomasyonu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Kısa Vade: Düşük asılı meyveler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altyapıyla, ek yatırım yapmadan başlayabileceğimiz adımlar.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914400" cy="9144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86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ile kapasite planlaması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783080" y="26974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YZ inference için dedike GPU dilimi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+ kullanıcı bazlı kullanım istatistiği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Concurrent kullanıcı testleri (10/50/100)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749040"/>
            <a:ext cx="914400" cy="9144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77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703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içi farkındalık ve eğitim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783080" y="41148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1-2 saatlik somut workshop'lar (ekip bazlı)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İç wiki: prompt örnekleri, do/don't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ekipten 1 gönüllü 'champion'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5166360"/>
            <a:ext cx="914400" cy="914400"/>
          </a:xfrm>
          <a:prstGeom prst="ellipse">
            <a:avLst/>
          </a:prstGeom>
          <a:solidFill>
            <a:srgbClr val="F4F8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949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5120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kazanım pilotları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783080" y="5532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Toplantı notu özetleme + aksiyon maddesi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Mail taslağı, doküman çevirisi (TR/EN)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Kod review yardımcısı (APDL, Python, MATLAB)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 Vade: Asıl iş burada başlıyor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23317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73152" cy="2331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PİLOT İÇİN ÖNCELİK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0" y="2331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Alan RAG Sistemi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DB + chat arayüzü. Kaynaklı yanıt. En yüksek ROI'li yatırım — Teamcenter trace link sorununu da kısmen çözer.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532120" cy="23317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783080"/>
            <a:ext cx="73152" cy="2331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57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075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EFFORT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78040" y="23317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Mail Asistanı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537960" y="29260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LLM, Exchange üzerinden mail kuyruğunu okur. Önemli mailler, taslak cevap, geçmiş bağlam.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532120" cy="23317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4297680"/>
            <a:ext cx="73152" cy="2331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590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AR-GE'YE ÖZEL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463040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FEA/CFD Domain Akışları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22960" y="5440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log özetleme, APDL/Workbench script üretimi, standart sorgulama (RAG bağlı), rapor otomasyonu.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63640" y="4297680"/>
            <a:ext cx="5532120" cy="23317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4" name="Shape 19"/>
          <p:cNvSpPr/>
          <p:nvPr/>
        </p:nvSpPr>
        <p:spPr>
          <a:xfrm>
            <a:off x="6263640" y="4297680"/>
            <a:ext cx="73152" cy="23317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7200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4590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178040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 Sınıflandırma</a:t>
            </a:r>
            <a:endParaRPr lang="en-US" sz="1900" dirty="0"/>
          </a:p>
        </p:txBody>
      </p:sp>
      <p:sp>
        <p:nvSpPr>
          <p:cNvPr id="28" name="Text 22"/>
          <p:cNvSpPr/>
          <p:nvPr/>
        </p:nvSpPr>
        <p:spPr>
          <a:xfrm>
            <a:off x="6537960" y="5440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kategorizasyon, duplicate tespiti, metadata önerisi. Teamcenter göçünü hızlandırır.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Spotlight: Ortak Alan RAG Sistemi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geri dönüşlü yatırım — küçük pilotla başla, 6 ayda olgun versiyon.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1828800"/>
            <a:ext cx="2606040" cy="2286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866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Indeksleme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866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çizimler embedding modeliyle vektör DB'ye yazılır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824" y="2889504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60420" y="1828800"/>
            <a:ext cx="2606040" cy="2286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54330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Saklama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54330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Weaviate / Milvus — hepsi self-hosted, on-premise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2889504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95060" y="1828800"/>
            <a:ext cx="2606040" cy="2286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71323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637794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37794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doğal dilde sorar; alakalı parçalar çekilir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889504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29700" y="1828800"/>
            <a:ext cx="2606040" cy="22860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696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19"/>
          <p:cNvSpPr/>
          <p:nvPr/>
        </p:nvSpPr>
        <p:spPr>
          <a:xfrm>
            <a:off x="99669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921258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21258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kaynak referansıyla beraber cevap üretir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4754880"/>
            <a:ext cx="11064240" cy="1554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öncelik?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532120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43000" y="546811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Kaynaklı yanıt → güven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553212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09060" y="546811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link sorununa kısmi çözüm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5532120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546811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 göçünü kolaylaştırır</a:t>
            </a:r>
            <a:endParaRPr lang="en-US" sz="12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1140" y="553212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441180" y="546811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hafta'da çalışır prototip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Uzun Vade: Stratejik dönüşüm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solidFill>
            <a:srgbClr val="F4F8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214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93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 Copilot &amp; PLM Entegrasyonu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Industrial Copilot (on-prem opsiyonu), kendi RAG'imizin TC API ile entegrasyonu. Trace link önerisi (human-in-the-loop).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6440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36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Tabanlı (Agentic) Yardımcılar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520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işleri otomatik yapan ajanlar. Örnek: 'Geçen ayki tüm CFD koşularını topla, sorunluları işaretle, mail at.'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solidFill>
            <a:srgbClr val="F4F8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0740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279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Üretim, Test &amp; Enstrumantasyon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4663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verisi anomali tespiti, test raporu yapılandırma, kalibrasyon/sertifika takip otomasyonu.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50408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5422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Fine-tuning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691640" y="58064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yıllık kullanım verisi sonrası LoRA tabanlı fine-tune — FEA/CFD jargonu, parça kodları, iç standartlar için doğruluk artışı.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 haritası: Etki vs Süre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 etki (subjektif, ROI temelli) ve uygulama süresi.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3596640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650992"/>
            <a:ext cx="332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VADE (0-3 AY)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Eğitim, pilot işler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36720" y="5532120"/>
            <a:ext cx="35966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4419600" y="5650992"/>
            <a:ext cx="332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VADE (3-9 AY)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19600" y="59893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Outlook, FEA, sınıflandırma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24800" y="5532120"/>
            <a:ext cx="3596640" cy="8686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8107680" y="5650992"/>
            <a:ext cx="332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VADE (9+ AY)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07680" y="59893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Teamcenter, ajanlar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Önerileri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iki modele ek olarak değerlendirilebilecekler: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8686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75688"/>
            <a:ext cx="128016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75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993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Coder 80B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9933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üretimi, APDL/Python 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8686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90088"/>
            <a:ext cx="128016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90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907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9077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amaçlı (özet, çeviri, reasoning)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8686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04488"/>
            <a:ext cx="12801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044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822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3822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kullanıcı, hızlı yanıt, multimodal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8686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818888"/>
            <a:ext cx="12801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18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7365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736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çizim, FEA görseli, ekran görüntüsü okuma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5733288"/>
            <a:ext cx="12801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33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56509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/ nomic-embed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5650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modeli — RAG için olmazsa olmaz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"Gemma 4" diye bir model henüz yok — Gemma 3 ailesi en güncel sürüm.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Riskler &amp; Dikkat Edilecekler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17320" y="2057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kararlarda human-in-the-loop şart. Özellikle FEA, malzeme özellikleri, standart yorumlama gibi konularda doğrulama olmadan kullanılmamalı.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 (iç)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417320" y="3200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olsa bile, hassas IP'nin promptlara yapıştırılması konusunda iç politika ve kullanım kuralları belirlenmeli.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931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bağımlılık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417320" y="4343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başlayan mühendislerin temel beceriyi öğrenmeden YZ'ye yaslanması uzun vadeli risk. Eğitimde vurgulanmalı.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120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5074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 yönetimi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417320" y="5486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yönetime 'YZ her şeyi çözer' diye sunmamalı. Somut metrikler, küçük pilotlar, ölçülebilir sonuçlarla ilerlemeli.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Önerim: İlk 30 günde ne yapalım?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paralel iş kolu — düşük risk, hızlı geri bildirim, somut çıktı.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3657600" cy="4114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Toplantısı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" y="3749040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3931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Kapasite, GPU dilimi, SSO ve kullanım istatistikleri konusunda netlik. Mevcut altyapının çoklu kullanıcı limiti ölçülsün.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5349240"/>
            <a:ext cx="14630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5349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hafta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828800"/>
            <a:ext cx="3657600" cy="4114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194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Pilotu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526280" y="3749040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4526280" y="3931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ekibin dokümanlarıyla küçük ölçekli prototip. 4-6 haftada çalışır versiyon. Geri bildirimle iterate edilir.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26280" y="5349240"/>
            <a:ext cx="14630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4526280" y="5349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hafta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83880" y="1828800"/>
            <a:ext cx="3657600" cy="41148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7"/>
          <p:cNvSpPr/>
          <p:nvPr/>
        </p:nvSpPr>
        <p:spPr>
          <a:xfrm>
            <a:off x="845820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21945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Workshop'u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8458200" y="3749040"/>
            <a:ext cx="4572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0"/>
          <p:cNvSpPr/>
          <p:nvPr/>
        </p:nvSpPr>
        <p:spPr>
          <a:xfrm>
            <a:off x="8458200" y="3931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saatlik somut örneklerle eğitim. Her ekipten 1 champion belirlenir. İç wiki için içerik toplanır.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458200" y="5349240"/>
            <a:ext cx="14630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8458200" y="5349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hafta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2-3 ay sonra üst yönetime somut sonuç ve gerçekçi yol haritası.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Tartışmaya açığım.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konuları detaylandırmak veya tek tek üzerinden geçmek için müsait olduğunda 15-20 dakika ayıralım.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 |  AR-GE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Yapay Zeka Stratejisi - AR-GE</dc:title>
  <dc:subject>PptxGenJS Presentation</dc:subject>
  <dc:creator>Emre</dc:creator>
  <cp:lastModifiedBy>Emre</cp:lastModifiedBy>
  <cp:revision>1</cp:revision>
  <dcterms:created xsi:type="dcterms:W3CDTF">2026-05-07T11:41:54Z</dcterms:created>
  <dcterms:modified xsi:type="dcterms:W3CDTF">2026-05-07T11:41:54Z</dcterms:modified>
</cp:coreProperties>
</file>